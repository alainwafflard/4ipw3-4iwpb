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7" r:id="rId1"/>
  </p:sldMasterIdLst>
  <p:notesMasterIdLst>
    <p:notesMasterId r:id="rId62"/>
  </p:notesMasterIdLst>
  <p:sldIdLst>
    <p:sldId id="416" r:id="rId2"/>
    <p:sldId id="408" r:id="rId3"/>
    <p:sldId id="542" r:id="rId4"/>
    <p:sldId id="625" r:id="rId5"/>
    <p:sldId id="632" r:id="rId6"/>
    <p:sldId id="668" r:id="rId7"/>
    <p:sldId id="543" r:id="rId8"/>
    <p:sldId id="544" r:id="rId9"/>
    <p:sldId id="545" r:id="rId10"/>
    <p:sldId id="633" r:id="rId11"/>
    <p:sldId id="635" r:id="rId12"/>
    <p:sldId id="619" r:id="rId13"/>
    <p:sldId id="617" r:id="rId14"/>
    <p:sldId id="653" r:id="rId15"/>
    <p:sldId id="652" r:id="rId16"/>
    <p:sldId id="654" r:id="rId17"/>
    <p:sldId id="624" r:id="rId18"/>
    <p:sldId id="634" r:id="rId19"/>
    <p:sldId id="553" r:id="rId20"/>
    <p:sldId id="547" r:id="rId21"/>
    <p:sldId id="642" r:id="rId22"/>
    <p:sldId id="658" r:id="rId23"/>
    <p:sldId id="621" r:id="rId24"/>
    <p:sldId id="548" r:id="rId25"/>
    <p:sldId id="554" r:id="rId26"/>
    <p:sldId id="564" r:id="rId27"/>
    <p:sldId id="628" r:id="rId28"/>
    <p:sldId id="655" r:id="rId29"/>
    <p:sldId id="629" r:id="rId30"/>
    <p:sldId id="630" r:id="rId31"/>
    <p:sldId id="656" r:id="rId32"/>
    <p:sldId id="552" r:id="rId33"/>
    <p:sldId id="555" r:id="rId34"/>
    <p:sldId id="622" r:id="rId35"/>
    <p:sldId id="551" r:id="rId36"/>
    <p:sldId id="631" r:id="rId37"/>
    <p:sldId id="657" r:id="rId38"/>
    <p:sldId id="556" r:id="rId39"/>
    <p:sldId id="660" r:id="rId40"/>
    <p:sldId id="549" r:id="rId41"/>
    <p:sldId id="659" r:id="rId42"/>
    <p:sldId id="623" r:id="rId43"/>
    <p:sldId id="550" r:id="rId44"/>
    <p:sldId id="641" r:id="rId45"/>
    <p:sldId id="557" r:id="rId46"/>
    <p:sldId id="559" r:id="rId47"/>
    <p:sldId id="558" r:id="rId48"/>
    <p:sldId id="561" r:id="rId49"/>
    <p:sldId id="562" r:id="rId50"/>
    <p:sldId id="567" r:id="rId51"/>
    <p:sldId id="662" r:id="rId52"/>
    <p:sldId id="663" r:id="rId53"/>
    <p:sldId id="664" r:id="rId54"/>
    <p:sldId id="665" r:id="rId55"/>
    <p:sldId id="666" r:id="rId56"/>
    <p:sldId id="667" r:id="rId57"/>
    <p:sldId id="566" r:id="rId58"/>
    <p:sldId id="565" r:id="rId59"/>
    <p:sldId id="639" r:id="rId60"/>
    <p:sldId id="640" r:id="rId61"/>
  </p:sldIdLst>
  <p:sldSz cx="12192000" cy="6858000"/>
  <p:notesSz cx="6858000" cy="9144000"/>
  <p:custShowLst>
    <p:custShow name="cefora powerpoint base" id="0">
      <p:sldLst/>
    </p:custShow>
  </p:custShowLst>
  <p:defaultTextStyle>
    <a:defPPr>
      <a:defRPr lang="fr-FR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1. SQL database" id="{0CC3B223-8800-4AEE-84C7-95C5856A7169}">
          <p14:sldIdLst>
            <p14:sldId id="416"/>
            <p14:sldId id="408"/>
            <p14:sldId id="542"/>
            <p14:sldId id="625"/>
            <p14:sldId id="632"/>
            <p14:sldId id="668"/>
            <p14:sldId id="543"/>
            <p14:sldId id="544"/>
            <p14:sldId id="545"/>
            <p14:sldId id="633"/>
            <p14:sldId id="635"/>
            <p14:sldId id="619"/>
            <p14:sldId id="617"/>
            <p14:sldId id="653"/>
            <p14:sldId id="652"/>
            <p14:sldId id="654"/>
            <p14:sldId id="624"/>
            <p14:sldId id="634"/>
            <p14:sldId id="553"/>
            <p14:sldId id="547"/>
            <p14:sldId id="642"/>
            <p14:sldId id="658"/>
            <p14:sldId id="621"/>
            <p14:sldId id="548"/>
            <p14:sldId id="554"/>
            <p14:sldId id="564"/>
            <p14:sldId id="628"/>
            <p14:sldId id="655"/>
            <p14:sldId id="629"/>
            <p14:sldId id="630"/>
            <p14:sldId id="656"/>
            <p14:sldId id="552"/>
            <p14:sldId id="555"/>
            <p14:sldId id="622"/>
            <p14:sldId id="551"/>
            <p14:sldId id="631"/>
            <p14:sldId id="657"/>
            <p14:sldId id="556"/>
            <p14:sldId id="660"/>
            <p14:sldId id="549"/>
            <p14:sldId id="659"/>
            <p14:sldId id="623"/>
            <p14:sldId id="550"/>
            <p14:sldId id="641"/>
            <p14:sldId id="557"/>
            <p14:sldId id="559"/>
            <p14:sldId id="558"/>
            <p14:sldId id="561"/>
            <p14:sldId id="562"/>
            <p14:sldId id="567"/>
            <p14:sldId id="662"/>
            <p14:sldId id="663"/>
            <p14:sldId id="664"/>
            <p14:sldId id="665"/>
            <p14:sldId id="666"/>
            <p14:sldId id="667"/>
            <p14:sldId id="566"/>
            <p14:sldId id="565"/>
            <p14:sldId id="639"/>
            <p14:sldId id="64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ain Wafflard" initials="AW" lastIdx="1" clrIdx="0">
    <p:extLst>
      <p:ext uri="{19B8F6BF-5375-455C-9EA6-DF929625EA0E}">
        <p15:presenceInfo xmlns:p15="http://schemas.microsoft.com/office/powerpoint/2012/main" userId="76bb5ce92a207b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FF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C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94" autoAdjust="0"/>
    <p:restoredTop sz="94474" autoAdjust="0"/>
  </p:normalViewPr>
  <p:slideViewPr>
    <p:cSldViewPr snapToGrid="0">
      <p:cViewPr varScale="1">
        <p:scale>
          <a:sx n="58" d="100"/>
          <a:sy n="58" d="100"/>
        </p:scale>
        <p:origin x="102" y="12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-17142"/>
    </p:cViewPr>
  </p:sorterViewPr>
  <p:notesViewPr>
    <p:cSldViewPr snapToGrid="0">
      <p:cViewPr varScale="1">
        <p:scale>
          <a:sx n="100" d="100"/>
          <a:sy n="100" d="100"/>
        </p:scale>
        <p:origin x="355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9742F-4DAE-47F5-9244-6ACC3985DD6B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3842A0-1A3F-4998-8237-CE5EEE5DFDF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5606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BE"/>
              <a:t>1</a:t>
            </a:fld>
            <a:endParaRPr/>
          </a:p>
        </p:txBody>
      </p:sp>
      <p:sp>
        <p:nvSpPr>
          <p:cNvPr id="53" name="Google Shape;53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GESTIONNAIRE DE BASE DE DONNEES – NIVEAU ELEMENTAIRE - MS ACCESS</a:t>
            </a: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Professeur : Alain Wafflard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5010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82417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26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88274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 algn="ctr"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8EFA58-10A1-BAA7-B65E-A754A43B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4B8606-B65F-6EB2-899E-91B5C83E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2FA919-3ED3-80D3-E61B-53F97BE6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45510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8EF8D-0946-4672-F93D-1040FBC9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8A40D7-7FAD-432F-7B9F-71125A56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A3E5DF-3F32-A840-9AC0-4B04DF13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46929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D67B63-F450-35EF-442C-62311487D2F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C20ED6-7274-FD2F-773B-9069D53732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282271-26EC-908B-2E9D-6EE95CFBEB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19058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BD7575-5E4D-B6F7-D511-002E7EBB1A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7AA542-0BD3-6896-CFBC-925661457E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1D4A95-E4A4-1574-4F11-DE8F196135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84692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3EE368-836F-D6B7-3720-94E515B8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0FC0D1-460C-5274-B67A-CADD3011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5E82B2-87DB-8B8E-12FD-843E8135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3769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05DBAD-E815-DA9F-C843-1DE122AA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344211E-58E3-3B61-D18C-DCC7772A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F2F6A2-3605-D138-CBD4-299C105E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00267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23E5C8-1D92-E25A-D482-9866759B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ACAADE-10AC-A5C6-B021-C668BC20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BD460E-C94D-0F17-7C77-D32F9CC1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8272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2164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0"/>
            <a:ext cx="617220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3BACDB-1022-3581-CB46-1F85D702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8F4609-0312-F825-CC91-FAC10F3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F0E555-3A77-670E-9C69-DE1D8DE2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95520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userDrawn="1">
  <p:cSld name="1_Compara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6"/>
          <p:cNvSpPr txBox="1">
            <a:spLocks noGrp="1"/>
          </p:cNvSpPr>
          <p:nvPr>
            <p:ph type="body" idx="3"/>
          </p:nvPr>
        </p:nvSpPr>
        <p:spPr>
          <a:xfrm>
            <a:off x="4394864" y="1677195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6"/>
          <p:cNvSpPr txBox="1">
            <a:spLocks noGrp="1"/>
          </p:cNvSpPr>
          <p:nvPr>
            <p:ph type="body" idx="4"/>
          </p:nvPr>
        </p:nvSpPr>
        <p:spPr>
          <a:xfrm>
            <a:off x="4394863" y="2501107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44;p146">
            <a:extLst>
              <a:ext uri="{FF2B5EF4-FFF2-40B4-BE49-F238E27FC236}">
                <a16:creationId xmlns:a16="http://schemas.microsoft.com/office/drawing/2014/main" id="{2E687717-1647-0388-990E-8851C964199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7949940" y="1690688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" name="Google Shape;45;p146">
            <a:extLst>
              <a:ext uri="{FF2B5EF4-FFF2-40B4-BE49-F238E27FC236}">
                <a16:creationId xmlns:a16="http://schemas.microsoft.com/office/drawing/2014/main" id="{D8C59DA1-11B0-4EEA-43AC-8402AF228130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7949937" y="2529543"/>
            <a:ext cx="3433923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5585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7641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85747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73148E-CCCA-4F1F-A836-655D884BB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952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29B381-A1A5-FC30-27CA-947A26903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FB2116-0A00-B6AB-43FF-F23B8EB09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94006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53" r:id="rId11"/>
    <p:sldLayoutId id="2147483852" r:id="rId12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5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heserverside.com/video/How-MySQL-InnoDB-vs-MyISAM-data-engines-compar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phpdelusions.net/sql_injection" TargetMode="External"/><Relationship Id="rId2" Type="http://schemas.openxmlformats.org/officeDocument/2006/relationships/hyperlink" Target="https://websitebeaver.com/prepared-statements-in-php-mysqli-to-prevent-sql-injection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fr-BE" dirty="0"/>
              <a:t>Bachelier en Informatique de Gestion</a:t>
            </a:r>
            <a:br>
              <a:rPr lang="fr-BE" dirty="0"/>
            </a:br>
            <a:br>
              <a:rPr lang="fr-BE"/>
            </a:br>
            <a:r>
              <a:rPr lang="fr-BE"/>
              <a:t>Web </a:t>
            </a:r>
            <a:r>
              <a:rPr lang="fr-BE" dirty="0"/>
              <a:t>: principes </a:t>
            </a:r>
            <a:r>
              <a:rPr lang="fr-BE"/>
              <a:t>de base</a:t>
            </a:r>
            <a:br>
              <a:rPr lang="fr-BE"/>
            </a:br>
            <a:r>
              <a:rPr lang="fr-BE"/>
              <a:t>Projet de Développement Web</a:t>
            </a:r>
            <a:endParaRPr lang="fr-BE" dirty="0"/>
          </a:p>
        </p:txBody>
      </p:sp>
      <p:sp>
        <p:nvSpPr>
          <p:cNvPr id="57" name="Google Shape;57;p1"/>
          <p:cNvSpPr txBox="1">
            <a:spLocks noGrp="1"/>
          </p:cNvSpPr>
          <p:nvPr>
            <p:ph type="subTitle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fr-BE" dirty="0"/>
              <a:t>Enseignement supérieur économique de type court</a:t>
            </a:r>
          </a:p>
          <a:p>
            <a:pPr lvl="0"/>
            <a:r>
              <a:rPr lang="fr-BE" dirty="0"/>
              <a:t>Code </a:t>
            </a:r>
            <a:r>
              <a:rPr lang="fr-BE" dirty="0" err="1"/>
              <a:t>FWB</a:t>
            </a:r>
            <a:r>
              <a:rPr lang="fr-BE"/>
              <a:t> : 7534 29 U32 D1, 7534 30 U32 D3</a:t>
            </a:r>
          </a:p>
          <a:p>
            <a:pPr lvl="0"/>
            <a:r>
              <a:rPr lang="fr-BE"/>
              <a:t>Code ISFCE : 4IWPB, 4IPW3</a:t>
            </a:r>
          </a:p>
          <a:p>
            <a:pPr lvl="0"/>
            <a:endParaRPr lang="fr-BE"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6447" y="5094815"/>
            <a:ext cx="1674557" cy="1674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Table des matières</a:t>
            </a:r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676143"/>
          </a:xfr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rmAutofit/>
          </a:bodyPr>
          <a:lstStyle/>
          <a:p>
            <a:pPr lvl="0"/>
            <a:r>
              <a:rPr lang="fr-FR"/>
              <a:t>Généralités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1162652-D4A8-152D-F88F-9B8516AF877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353338"/>
            <a:ext cx="3419999" cy="383632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fr-BE" sz="2400"/>
              <a:t>01. Introduction au web</a:t>
            </a:r>
          </a:p>
          <a:p>
            <a:pPr marL="114300" indent="0">
              <a:buNone/>
            </a:pPr>
            <a:r>
              <a:rPr lang="fr-BE" sz="2400"/>
              <a:t>03. Outils</a:t>
            </a:r>
          </a:p>
          <a:p>
            <a:pPr marL="114300" indent="0">
              <a:buNone/>
            </a:pPr>
            <a:r>
              <a:rPr lang="fr-BE" sz="2400"/>
              <a:t>05. Format XML</a:t>
            </a:r>
          </a:p>
          <a:p>
            <a:pPr marL="114300" indent="0">
              <a:buNone/>
            </a:pPr>
            <a:r>
              <a:rPr lang="fr-BE" sz="2400"/>
              <a:t>06. Format JSON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6D5135-B8A1-9E24-38EE-4C72679CDE7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394864" y="1677195"/>
            <a:ext cx="3420000" cy="676143"/>
          </a:xfrm>
        </p:spPr>
        <p:txBody>
          <a:bodyPr anchor="t"/>
          <a:lstStyle/>
          <a:p>
            <a:pPr lvl="0"/>
            <a:r>
              <a:rPr lang="fr-FR"/>
              <a:t>Front-End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D87172-3FAF-5725-E789-9405D66598A7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394863" y="2357306"/>
            <a:ext cx="3419999" cy="3828389"/>
          </a:xfrm>
        </p:spPr>
        <p:txBody>
          <a:bodyPr>
            <a:normAutofit/>
          </a:bodyPr>
          <a:lstStyle/>
          <a:p>
            <a:pPr marL="114300" lvl="0" indent="0">
              <a:buNone/>
            </a:pPr>
            <a:r>
              <a:rPr lang="fr-BE" sz="2400"/>
              <a:t>12. Structure HTML </a:t>
            </a:r>
          </a:p>
          <a:p>
            <a:pPr marL="114300" indent="0">
              <a:buNone/>
            </a:pPr>
            <a:r>
              <a:rPr lang="fr-BE" sz="2400"/>
              <a:t>13. Formulaire HTML</a:t>
            </a:r>
          </a:p>
          <a:p>
            <a:pPr marL="114300" lvl="0" indent="0">
              <a:buNone/>
            </a:pPr>
            <a:r>
              <a:rPr lang="fr-BE" sz="2400"/>
              <a:t>14. Mise en forme CSS</a:t>
            </a:r>
          </a:p>
          <a:p>
            <a:pPr marL="114300" lvl="0" indent="0">
              <a:buNone/>
            </a:pPr>
            <a:r>
              <a:rPr lang="fr-BE" sz="2400"/>
              <a:t>15. Adaptabilité</a:t>
            </a:r>
          </a:p>
          <a:p>
            <a:pPr marL="114300" lvl="0" indent="0">
              <a:buNone/>
            </a:pPr>
            <a:r>
              <a:rPr lang="fr-BE" sz="2400"/>
              <a:t>17. Javascript</a:t>
            </a:r>
          </a:p>
          <a:p>
            <a:pPr marL="114300" lvl="0" indent="0">
              <a:buNone/>
            </a:pPr>
            <a:r>
              <a:rPr lang="fr-BE" sz="2400"/>
              <a:t>18. Bibliothèque jQuery</a:t>
            </a:r>
          </a:p>
          <a:p>
            <a:pPr marL="114300" lvl="0" indent="0">
              <a:buNone/>
            </a:pPr>
            <a:r>
              <a:rPr lang="fr-BE" sz="2400"/>
              <a:t>19. Composant Vue.js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5FC1231-1E2C-7231-4486-8114EAEE6AA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949940" y="1690688"/>
            <a:ext cx="3420000" cy="662650"/>
          </a:xfrm>
        </p:spPr>
        <p:txBody>
          <a:bodyPr anchor="t"/>
          <a:lstStyle/>
          <a:p>
            <a:r>
              <a:rPr lang="fr-BE"/>
              <a:t>Back-End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EDB2CC52-B967-555D-C3A7-C4B10EB02D18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7949937" y="2377806"/>
            <a:ext cx="3433923" cy="3836325"/>
          </a:xfrm>
        </p:spPr>
        <p:txBody>
          <a:bodyPr>
            <a:normAutofit lnSpcReduction="10000"/>
          </a:bodyPr>
          <a:lstStyle/>
          <a:p>
            <a:pPr marL="114300" lvl="0" indent="0">
              <a:buNone/>
            </a:pPr>
            <a:r>
              <a:rPr lang="fr-BE" sz="2400"/>
              <a:t>21. Middleware PHP</a:t>
            </a:r>
          </a:p>
          <a:p>
            <a:pPr marL="114300" indent="0">
              <a:buNone/>
            </a:pPr>
            <a:r>
              <a:rPr lang="fr-BE" sz="2400"/>
              <a:t>22. Traitement du formulaire</a:t>
            </a:r>
          </a:p>
          <a:p>
            <a:pPr marL="114300" lvl="0" indent="0">
              <a:buNone/>
            </a:pPr>
            <a:r>
              <a:rPr lang="fr-BE" sz="2400"/>
              <a:t>23. Architecture MVC</a:t>
            </a:r>
          </a:p>
          <a:p>
            <a:pPr marL="114300" lvl="0" indent="0">
              <a:buNone/>
            </a:pPr>
            <a:r>
              <a:rPr lang="fr-BE" sz="2400">
                <a:solidFill>
                  <a:schemeClr val="accent2"/>
                </a:solidFill>
              </a:rPr>
              <a:t>24. Données SQL</a:t>
            </a:r>
          </a:p>
          <a:p>
            <a:pPr marL="114300" lvl="0" indent="0">
              <a:buNone/>
            </a:pPr>
            <a:r>
              <a:rPr lang="fr-BE" sz="2400"/>
              <a:t>25. Données NoSQL</a:t>
            </a:r>
          </a:p>
          <a:p>
            <a:pPr marL="114300" lvl="0" indent="0">
              <a:buNone/>
            </a:pPr>
            <a:endParaRPr lang="fr-BE" sz="2400"/>
          </a:p>
          <a:p>
            <a:pPr marL="114300" lvl="0" indent="0">
              <a:buNone/>
            </a:pPr>
            <a:endParaRPr lang="fr-BE" sz="2400"/>
          </a:p>
          <a:p>
            <a:pPr marL="114300" indent="0">
              <a:buNone/>
            </a:pPr>
            <a:r>
              <a:rPr lang="fr-BE" sz="2400"/>
              <a:t>31. Requête asynchrone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F7F80AB2-1A54-F3C7-63AD-635689291298}"/>
              </a:ext>
            </a:extLst>
          </p:cNvPr>
          <p:cNvSpPr txBox="1">
            <a:spLocks/>
          </p:cNvSpPr>
          <p:nvPr/>
        </p:nvSpPr>
        <p:spPr>
          <a:xfrm>
            <a:off x="7932738" y="5026572"/>
            <a:ext cx="3751261" cy="8239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457200" lvl="0" indent="-22860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/>
              <a:t>Single Page Application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24. Base de données SQL</a:t>
            </a:r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/>
        <p:txBody>
          <a:bodyPr numCol="3">
            <a:normAutofit/>
          </a:bodyPr>
          <a:lstStyle/>
          <a:p>
            <a:r>
              <a:rPr lang="fr-BE" err="1">
                <a:sym typeface="Calibri"/>
              </a:rPr>
              <a:t>MySql</a:t>
            </a:r>
            <a:endParaRPr lang="fr-BE">
              <a:sym typeface="Calibri"/>
            </a:endParaRPr>
          </a:p>
          <a:p>
            <a:r>
              <a:rPr lang="fr-BE">
                <a:sym typeface="Calibri"/>
              </a:rPr>
              <a:t>PhpMyAdmin</a:t>
            </a:r>
          </a:p>
          <a:p>
            <a:r>
              <a:rPr lang="fr-BE">
                <a:sym typeface="Calibri"/>
              </a:rPr>
              <a:t>Importer une DB</a:t>
            </a:r>
          </a:p>
          <a:p>
            <a:r>
              <a:rPr lang="fr-BE">
                <a:sym typeface="Calibri"/>
              </a:rPr>
              <a:t>Créer une DB</a:t>
            </a:r>
          </a:p>
          <a:p>
            <a:r>
              <a:rPr lang="fr-BE">
                <a:sym typeface="Calibri"/>
              </a:rPr>
              <a:t>Fonctions PHP/MySQL</a:t>
            </a:r>
          </a:p>
          <a:p>
            <a:r>
              <a:rPr lang="fr-BE">
                <a:sym typeface="Calibri"/>
              </a:rPr>
              <a:t>Procédure INSERT</a:t>
            </a:r>
          </a:p>
          <a:p>
            <a:r>
              <a:rPr lang="fr-BE">
                <a:sym typeface="Calibri"/>
              </a:rPr>
              <a:t>Procédure SELECT </a:t>
            </a:r>
          </a:p>
        </p:txBody>
      </p:sp>
      <p:pic>
        <p:nvPicPr>
          <p:cNvPr id="4" name="Espace réservé pour une image  3" descr="Une image contenant dessin, lumière&#10;&#10;Description générée automatiquement">
            <a:extLst>
              <a:ext uri="{FF2B5EF4-FFF2-40B4-BE49-F238E27FC236}">
                <a16:creationId xmlns:a16="http://schemas.microsoft.com/office/drawing/2014/main" id="{005F4BBB-2F0C-40C5-BB0C-085BD3CE672F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8050" y="282575"/>
            <a:ext cx="2393950" cy="1587500"/>
          </a:xfrm>
        </p:spPr>
      </p:pic>
    </p:spTree>
    <p:extLst>
      <p:ext uri="{BB962C8B-B14F-4D97-AF65-F5344CB8AC3E}">
        <p14:creationId xmlns:p14="http://schemas.microsoft.com/office/powerpoint/2010/main" val="2664194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37E226-069B-4BD8-A57C-6325E5E5F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Configuration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8192CF7-99C8-6E5F-E820-C7CBBA4C9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7" name="Espace réservé pour une image  3" descr="Une image contenant dessin, lumière&#10;&#10;Description générée automatiquement">
            <a:extLst>
              <a:ext uri="{FF2B5EF4-FFF2-40B4-BE49-F238E27FC236}">
                <a16:creationId xmlns:a16="http://schemas.microsoft.com/office/drawing/2014/main" id="{56ECD0AA-6700-8E0B-2599-EBD48395C15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6" r="1681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7409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B3C994-0D1A-460A-BFCA-26399B795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Configuration  MySQL Engine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EAD773-5CBD-4B86-96F9-54D097E7D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Hypothèse</a:t>
            </a:r>
          </a:p>
          <a:p>
            <a:pPr lvl="1"/>
            <a:r>
              <a:rPr lang="fr-BE"/>
              <a:t>Le serveur MySQL est installé avec WAMP</a:t>
            </a:r>
          </a:p>
          <a:p>
            <a:r>
              <a:rPr lang="fr-BE"/>
              <a:t>Configuration à modifier </a:t>
            </a:r>
          </a:p>
          <a:p>
            <a:pPr lvl="1"/>
            <a:r>
              <a:rPr lang="fr-BE" i="1"/>
              <a:t>default storage engine : </a:t>
            </a:r>
            <a:r>
              <a:rPr lang="fr-BE">
                <a:solidFill>
                  <a:schemeClr val="accent2"/>
                </a:solidFill>
              </a:rPr>
              <a:t>InnoDB</a:t>
            </a:r>
            <a:r>
              <a:rPr lang="fr-BE"/>
              <a:t> (et non MyISAM)</a:t>
            </a:r>
          </a:p>
          <a:p>
            <a:pPr lvl="2"/>
            <a:r>
              <a:rPr lang="sv-S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C:\wamp64\bin\mysql\mysql5.7.26\my.ini</a:t>
            </a:r>
          </a:p>
          <a:p>
            <a:pPr lvl="2"/>
            <a:r>
              <a:rPr lang="sv-SE"/>
              <a:t>Vers line 58 : </a:t>
            </a:r>
            <a:r>
              <a:rPr lang="sv-S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default-storage-engine=</a:t>
            </a:r>
            <a:r>
              <a:rPr lang="sv-S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INNODB</a:t>
            </a:r>
          </a:p>
          <a:p>
            <a:r>
              <a:rPr lang="sv-SE"/>
              <a:t>Redémarrer le service MySQL</a:t>
            </a:r>
          </a:p>
        </p:txBody>
      </p:sp>
    </p:spTree>
    <p:extLst>
      <p:ext uri="{BB962C8B-B14F-4D97-AF65-F5344CB8AC3E}">
        <p14:creationId xmlns:p14="http://schemas.microsoft.com/office/powerpoint/2010/main" val="398998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E2D762-6C92-F20F-5547-E5863E5D5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Pourquoi InnoDB Engine ?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B304D9-F5CC-1ABD-25D9-6B6DDBB8A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BE"/>
              <a:t>Support des transactions</a:t>
            </a:r>
          </a:p>
          <a:p>
            <a:pPr lvl="1"/>
            <a:r>
              <a:rPr lang="fr-BE"/>
              <a:t>commit/rollback</a:t>
            </a:r>
          </a:p>
          <a:p>
            <a:r>
              <a:rPr lang="fr-BE"/>
              <a:t>Respect des propriétés ACID</a:t>
            </a:r>
          </a:p>
          <a:p>
            <a:pPr lvl="1"/>
            <a:r>
              <a:rPr lang="fr-BE"/>
              <a:t>Atomicité, Cohérence, Isolation, Durabilité</a:t>
            </a:r>
          </a:p>
          <a:p>
            <a:r>
              <a:rPr lang="fr-BE"/>
              <a:t>Gestion des clés étrangères (</a:t>
            </a:r>
            <a:r>
              <a:rPr lang="fr-BE" i="1"/>
              <a:t>foreign key</a:t>
            </a:r>
            <a:r>
              <a:rPr lang="fr-BE"/>
              <a:t>)</a:t>
            </a:r>
          </a:p>
          <a:p>
            <a:r>
              <a:rPr lang="fr-BE"/>
              <a:t>Row-level locking</a:t>
            </a:r>
          </a:p>
          <a:p>
            <a:pPr lvl="1"/>
            <a:r>
              <a:rPr lang="fr-BE"/>
              <a:t>amélioration des performances en environnement multi-utilisateur </a:t>
            </a:r>
          </a:p>
          <a:p>
            <a:r>
              <a:rPr lang="fr-BE"/>
              <a:t>Récupération après crash</a:t>
            </a:r>
          </a:p>
          <a:p>
            <a:pPr lvl="1"/>
            <a:r>
              <a:rPr lang="fr-BE"/>
              <a:t>mécanisme de journalisation (redo log)</a:t>
            </a:r>
          </a:p>
          <a:p>
            <a:r>
              <a:rPr lang="fr-BE"/>
              <a:t>Performances :</a:t>
            </a:r>
          </a:p>
          <a:p>
            <a:pPr lvl="1"/>
            <a:r>
              <a:rPr lang="fr-BE"/>
              <a:t>Optimisé pour les lectures/écritures fréquentes</a:t>
            </a:r>
          </a:p>
          <a:p>
            <a:r>
              <a:rPr lang="fr-BE"/>
              <a:t>Plus de détails : </a:t>
            </a:r>
            <a:r>
              <a:rPr lang="sv-SE">
                <a:hlinkClick r:id="rId2"/>
              </a:rPr>
              <a:t>Explication technique (en Anglais)</a:t>
            </a:r>
            <a:endParaRPr lang="sv-S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E4CC90-12F3-4393-B98A-1F6F70235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E7CC7-66BF-4B04-8372-9E986CBE7657}" type="datetime1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F9057ED-5ECB-24AC-6FDA-97A699310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46239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A20903-EDC6-4B45-B825-9BB3F0D8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Accéder à l'interface d'administration MySQL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8A0A58F-DFF2-4A1B-98BC-4861D000A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Se </a:t>
            </a:r>
            <a:r>
              <a:rPr lang="fr-BE" err="1"/>
              <a:t>logguer</a:t>
            </a:r>
            <a:r>
              <a:rPr lang="fr-BE"/>
              <a:t> dans PhpMyAdmin</a:t>
            </a:r>
          </a:p>
          <a:p>
            <a:pPr lvl="1"/>
            <a:r>
              <a:rPr lang="fr-BE"/>
              <a:t>http://localhost/phpmyadmin/</a:t>
            </a:r>
          </a:p>
          <a:p>
            <a:pPr lvl="1"/>
            <a:r>
              <a:rPr lang="fr-BE" err="1"/>
              <a:t>Username</a:t>
            </a:r>
            <a:r>
              <a:rPr lang="fr-BE"/>
              <a:t> : </a:t>
            </a:r>
            <a:r>
              <a:rPr lang="fr-BE" i="1"/>
              <a:t>root</a:t>
            </a:r>
          </a:p>
          <a:p>
            <a:pPr lvl="1"/>
            <a:r>
              <a:rPr lang="fr-BE" err="1"/>
              <a:t>Password</a:t>
            </a:r>
            <a:r>
              <a:rPr lang="fr-BE"/>
              <a:t> : </a:t>
            </a:r>
            <a:r>
              <a:rPr lang="fr-BE" i="1"/>
              <a:t>(</a:t>
            </a:r>
            <a:r>
              <a:rPr lang="fr-BE" i="1" err="1"/>
              <a:t>empty</a:t>
            </a:r>
            <a:r>
              <a:rPr lang="fr-BE" i="1"/>
              <a:t>)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254605EB-9A9D-44C6-96A2-5DE630C1CC29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5710238" y="3206750"/>
            <a:ext cx="6481762" cy="350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814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A20903-EDC6-4B45-B825-9BB3F0D8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01 : importation de base de données</a:t>
            </a:r>
            <a:endParaRPr lang="fr-BE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C2C73AE-F864-4595-8ABA-8423AAB66EC6}"/>
              </a:ext>
            </a:extLst>
          </p:cNvPr>
          <p:cNvGrpSpPr/>
          <p:nvPr/>
        </p:nvGrpSpPr>
        <p:grpSpPr>
          <a:xfrm>
            <a:off x="838200" y="2578787"/>
            <a:ext cx="2221283" cy="1531967"/>
            <a:chOff x="3356975" y="1313147"/>
            <a:chExt cx="1665962" cy="20939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0F5231A-58F9-4C8E-87E5-8248B0896D21}"/>
                </a:ext>
              </a:extLst>
            </p:cNvPr>
            <p:cNvSpPr/>
            <p:nvPr/>
          </p:nvSpPr>
          <p:spPr>
            <a:xfrm>
              <a:off x="3356975" y="1741118"/>
              <a:ext cx="1665962" cy="16659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BE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A9441D8-4BEC-45AB-A27E-826654093DC4}"/>
                </a:ext>
              </a:extLst>
            </p:cNvPr>
            <p:cNvSpPr/>
            <p:nvPr/>
          </p:nvSpPr>
          <p:spPr>
            <a:xfrm>
              <a:off x="3356975" y="1313147"/>
              <a:ext cx="1665962" cy="62617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BE" err="1">
                  <a:solidFill>
                    <a:schemeClr val="tx1"/>
                  </a:solidFill>
                </a:rPr>
                <a:t>t_deal</a:t>
              </a:r>
              <a:br>
                <a:rPr lang="fr-BE">
                  <a:solidFill>
                    <a:schemeClr val="tx1"/>
                  </a:solidFill>
                </a:rPr>
              </a:br>
              <a:r>
                <a:rPr lang="fr-BE" err="1">
                  <a:solidFill>
                    <a:schemeClr val="tx1"/>
                  </a:solidFill>
                </a:rPr>
                <a:t>id_dea</a:t>
              </a:r>
              <a:br>
                <a:rPr lang="fr-BE">
                  <a:solidFill>
                    <a:schemeClr val="tx1"/>
                  </a:solidFill>
                </a:rPr>
              </a:br>
              <a:r>
                <a:rPr lang="fr-BE" err="1">
                  <a:solidFill>
                    <a:schemeClr val="tx1"/>
                  </a:solidFill>
                </a:rPr>
                <a:t>name_dea</a:t>
              </a:r>
              <a:br>
                <a:rPr lang="fr-BE">
                  <a:solidFill>
                    <a:schemeClr val="tx1"/>
                  </a:solidFill>
                </a:rPr>
              </a:br>
              <a:r>
                <a:rPr lang="fr-BE" err="1">
                  <a:solidFill>
                    <a:schemeClr val="tx1"/>
                  </a:solidFill>
                </a:rPr>
                <a:t>is_active_dea</a:t>
              </a:r>
              <a:endParaRPr lang="fr-BE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7">
            <a:extLst>
              <a:ext uri="{FF2B5EF4-FFF2-40B4-BE49-F238E27FC236}">
                <a16:creationId xmlns:a16="http://schemas.microsoft.com/office/drawing/2014/main" id="{AF6DDEEA-82E8-4D57-9FEF-B2F5695AE833}"/>
              </a:ext>
            </a:extLst>
          </p:cNvPr>
          <p:cNvGrpSpPr/>
          <p:nvPr/>
        </p:nvGrpSpPr>
        <p:grpSpPr>
          <a:xfrm>
            <a:off x="7502048" y="4795049"/>
            <a:ext cx="2221283" cy="1642167"/>
            <a:chOff x="3356975" y="1313146"/>
            <a:chExt cx="1665962" cy="209393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4FED8F7-753C-4F2D-A139-8FD39CF51175}"/>
                </a:ext>
              </a:extLst>
            </p:cNvPr>
            <p:cNvSpPr/>
            <p:nvPr/>
          </p:nvSpPr>
          <p:spPr>
            <a:xfrm>
              <a:off x="3356975" y="1741118"/>
              <a:ext cx="1665962" cy="16659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BE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436541F-1157-46F7-BC6C-4A059A199E7A}"/>
                </a:ext>
              </a:extLst>
            </p:cNvPr>
            <p:cNvSpPr/>
            <p:nvPr/>
          </p:nvSpPr>
          <p:spPr>
            <a:xfrm>
              <a:off x="3356975" y="1313146"/>
              <a:ext cx="1665962" cy="58415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BE" err="1">
                  <a:solidFill>
                    <a:schemeClr val="tx1"/>
                  </a:solidFill>
                </a:rPr>
                <a:t>t_player</a:t>
              </a:r>
              <a:br>
                <a:rPr lang="fr-BE">
                  <a:solidFill>
                    <a:schemeClr val="tx1"/>
                  </a:solidFill>
                </a:rPr>
              </a:br>
              <a:r>
                <a:rPr lang="fr-BE" err="1">
                  <a:solidFill>
                    <a:schemeClr val="tx1"/>
                  </a:solidFill>
                </a:rPr>
                <a:t>id_pla</a:t>
              </a:r>
              <a:br>
                <a:rPr lang="fr-BE">
                  <a:solidFill>
                    <a:schemeClr val="tx1"/>
                  </a:solidFill>
                </a:rPr>
              </a:br>
              <a:r>
                <a:rPr lang="fr-BE" err="1">
                  <a:solidFill>
                    <a:schemeClr val="tx1"/>
                  </a:solidFill>
                </a:rPr>
                <a:t>name_pla</a:t>
              </a:r>
              <a:br>
                <a:rPr lang="fr-BE">
                  <a:solidFill>
                    <a:schemeClr val="tx1"/>
                  </a:solidFill>
                </a:rPr>
              </a:br>
              <a:r>
                <a:rPr lang="fr-BE">
                  <a:solidFill>
                    <a:schemeClr val="tx1"/>
                  </a:solidFill>
                </a:rPr>
                <a:t>fk_team</a:t>
              </a:r>
              <a:r>
                <a:rPr lang="fr-BE" err="1">
                  <a:solidFill>
                    <a:schemeClr val="tx1"/>
                  </a:solidFill>
                </a:rPr>
                <a:t>_id_pla</a:t>
              </a:r>
              <a:endParaRPr lang="fr-BE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Group 10">
            <a:extLst>
              <a:ext uri="{FF2B5EF4-FFF2-40B4-BE49-F238E27FC236}">
                <a16:creationId xmlns:a16="http://schemas.microsoft.com/office/drawing/2014/main" id="{A7C01AC1-6785-458F-9421-28A03BDCAAB2}"/>
              </a:ext>
            </a:extLst>
          </p:cNvPr>
          <p:cNvGrpSpPr/>
          <p:nvPr/>
        </p:nvGrpSpPr>
        <p:grpSpPr>
          <a:xfrm>
            <a:off x="7504761" y="2532566"/>
            <a:ext cx="2221283" cy="1289574"/>
            <a:chOff x="3356975" y="1313146"/>
            <a:chExt cx="1665962" cy="209393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6DD2183-39CD-44D6-9A94-7842F05AF5F5}"/>
                </a:ext>
              </a:extLst>
            </p:cNvPr>
            <p:cNvSpPr/>
            <p:nvPr/>
          </p:nvSpPr>
          <p:spPr>
            <a:xfrm>
              <a:off x="3356975" y="2058037"/>
              <a:ext cx="1665962" cy="1349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BE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CD8FF13-6CC7-4026-A9E1-0121682F6F44}"/>
                </a:ext>
              </a:extLst>
            </p:cNvPr>
            <p:cNvSpPr/>
            <p:nvPr/>
          </p:nvSpPr>
          <p:spPr>
            <a:xfrm>
              <a:off x="3356975" y="1313146"/>
              <a:ext cx="1665962" cy="74387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BE" err="1">
                  <a:solidFill>
                    <a:schemeClr val="tx1"/>
                  </a:solidFill>
                </a:rPr>
                <a:t>t_team</a:t>
              </a:r>
              <a:br>
                <a:rPr lang="fr-BE">
                  <a:solidFill>
                    <a:schemeClr val="tx1"/>
                  </a:solidFill>
                </a:rPr>
              </a:br>
              <a:r>
                <a:rPr lang="fr-BE" err="1">
                  <a:solidFill>
                    <a:schemeClr val="tx1"/>
                  </a:solidFill>
                </a:rPr>
                <a:t>id_tea</a:t>
              </a:r>
              <a:br>
                <a:rPr lang="fr-BE">
                  <a:solidFill>
                    <a:schemeClr val="tx1"/>
                  </a:solidFill>
                </a:rPr>
              </a:br>
              <a:r>
                <a:rPr lang="fr-BE" err="1">
                  <a:solidFill>
                    <a:schemeClr val="tx1"/>
                  </a:solidFill>
                </a:rPr>
                <a:t>name_tea</a:t>
              </a:r>
              <a:endParaRPr lang="fr-BE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oup 13">
            <a:extLst>
              <a:ext uri="{FF2B5EF4-FFF2-40B4-BE49-F238E27FC236}">
                <a16:creationId xmlns:a16="http://schemas.microsoft.com/office/drawing/2014/main" id="{FBE9F2CD-C37B-4616-BE86-BDFBFF12F67D}"/>
              </a:ext>
            </a:extLst>
          </p:cNvPr>
          <p:cNvGrpSpPr/>
          <p:nvPr/>
        </p:nvGrpSpPr>
        <p:grpSpPr>
          <a:xfrm>
            <a:off x="3059483" y="4385612"/>
            <a:ext cx="2435009" cy="2322685"/>
            <a:chOff x="3356975" y="1313145"/>
            <a:chExt cx="1665962" cy="209393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D56EF11-1D7D-48B0-A7E9-7E2EDA7CAE0F}"/>
                </a:ext>
              </a:extLst>
            </p:cNvPr>
            <p:cNvSpPr/>
            <p:nvPr/>
          </p:nvSpPr>
          <p:spPr>
            <a:xfrm>
              <a:off x="3356975" y="1741118"/>
              <a:ext cx="1665962" cy="16659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BE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2515197-79D0-48A2-BE18-724E7CC51C70}"/>
                </a:ext>
              </a:extLst>
            </p:cNvPr>
            <p:cNvSpPr/>
            <p:nvPr/>
          </p:nvSpPr>
          <p:spPr>
            <a:xfrm>
              <a:off x="3356975" y="1313145"/>
              <a:ext cx="1665962" cy="42797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BE" err="1">
                  <a:solidFill>
                    <a:schemeClr val="tx1"/>
                  </a:solidFill>
                </a:rPr>
                <a:t>t_score</a:t>
              </a:r>
              <a:br>
                <a:rPr lang="fr-BE">
                  <a:solidFill>
                    <a:schemeClr val="tx1"/>
                  </a:solidFill>
                </a:rPr>
              </a:br>
              <a:r>
                <a:rPr lang="fr-BE" err="1">
                  <a:solidFill>
                    <a:schemeClr val="tx1"/>
                  </a:solidFill>
                </a:rPr>
                <a:t>id_sco</a:t>
              </a:r>
              <a:br>
                <a:rPr lang="fr-BE">
                  <a:solidFill>
                    <a:schemeClr val="tx1"/>
                  </a:solidFill>
                </a:rPr>
              </a:br>
              <a:r>
                <a:rPr lang="fr-BE" err="1">
                  <a:solidFill>
                    <a:schemeClr val="tx1"/>
                  </a:solidFill>
                </a:rPr>
                <a:t>score_sco</a:t>
              </a:r>
              <a:br>
                <a:rPr lang="fr-BE">
                  <a:solidFill>
                    <a:schemeClr val="tx1"/>
                  </a:solidFill>
                </a:rPr>
              </a:br>
              <a:r>
                <a:rPr lang="fr-BE" err="1">
                  <a:solidFill>
                    <a:schemeClr val="tx1"/>
                  </a:solidFill>
                </a:rPr>
                <a:t>date_sco</a:t>
              </a:r>
              <a:br>
                <a:rPr lang="fr-BE">
                  <a:solidFill>
                    <a:schemeClr val="tx1"/>
                  </a:solidFill>
                </a:rPr>
              </a:br>
              <a:r>
                <a:rPr lang="fr-BE" err="1">
                  <a:solidFill>
                    <a:schemeClr val="tx1"/>
                  </a:solidFill>
                </a:rPr>
                <a:t>fk_player_id_sco</a:t>
              </a:r>
              <a:br>
                <a:rPr lang="fr-BE">
                  <a:solidFill>
                    <a:schemeClr val="tx1"/>
                  </a:solidFill>
                </a:rPr>
              </a:br>
              <a:r>
                <a:rPr lang="fr-BE" err="1">
                  <a:solidFill>
                    <a:schemeClr val="tx1"/>
                  </a:solidFill>
                </a:rPr>
                <a:t>fk_deal_id_sco</a:t>
              </a:r>
              <a:endParaRPr lang="fr-BE">
                <a:solidFill>
                  <a:schemeClr val="tx1"/>
                </a:solidFill>
              </a:endParaRPr>
            </a:p>
          </p:txBody>
        </p:sp>
      </p:grpSp>
      <p:cxnSp>
        <p:nvCxnSpPr>
          <p:cNvPr id="18" name="Elbow Connector 19">
            <a:extLst>
              <a:ext uri="{FF2B5EF4-FFF2-40B4-BE49-F238E27FC236}">
                <a16:creationId xmlns:a16="http://schemas.microsoft.com/office/drawing/2014/main" id="{1BBE8181-D72B-42B9-B173-32A92CAD1BF0}"/>
              </a:ext>
            </a:extLst>
          </p:cNvPr>
          <p:cNvCxnSpPr>
            <a:stCxn id="7" idx="2"/>
            <a:endCxn id="16" idx="1"/>
          </p:cNvCxnSpPr>
          <p:nvPr/>
        </p:nvCxnSpPr>
        <p:spPr>
          <a:xfrm rot="16200000" flipH="1">
            <a:off x="1667380" y="4392215"/>
            <a:ext cx="1673564" cy="1110641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21">
            <a:extLst>
              <a:ext uri="{FF2B5EF4-FFF2-40B4-BE49-F238E27FC236}">
                <a16:creationId xmlns:a16="http://schemas.microsoft.com/office/drawing/2014/main" id="{A9F8ED89-9A64-415F-8A8E-FA18C5BBFB04}"/>
              </a:ext>
            </a:extLst>
          </p:cNvPr>
          <p:cNvCxnSpPr>
            <a:cxnSpLocks/>
          </p:cNvCxnSpPr>
          <p:nvPr/>
        </p:nvCxnSpPr>
        <p:spPr>
          <a:xfrm flipV="1">
            <a:off x="5494492" y="5792043"/>
            <a:ext cx="2007556" cy="16552"/>
          </a:xfrm>
          <a:prstGeom prst="bentConnector3">
            <a:avLst>
              <a:gd name="adj1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23">
            <a:extLst>
              <a:ext uri="{FF2B5EF4-FFF2-40B4-BE49-F238E27FC236}">
                <a16:creationId xmlns:a16="http://schemas.microsoft.com/office/drawing/2014/main" id="{D81B9269-C156-47B9-AE1A-328805689019}"/>
              </a:ext>
            </a:extLst>
          </p:cNvPr>
          <p:cNvCxnSpPr>
            <a:cxnSpLocks/>
            <a:stCxn id="13" idx="2"/>
            <a:endCxn id="11" idx="0"/>
          </p:cNvCxnSpPr>
          <p:nvPr/>
        </p:nvCxnSpPr>
        <p:spPr>
          <a:xfrm rot="5400000">
            <a:off x="8127593" y="4307238"/>
            <a:ext cx="972909" cy="2713"/>
          </a:xfrm>
          <a:prstGeom prst="bentConnector3">
            <a:avLst>
              <a:gd name="adj1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4">
            <a:extLst>
              <a:ext uri="{FF2B5EF4-FFF2-40B4-BE49-F238E27FC236}">
                <a16:creationId xmlns:a16="http://schemas.microsoft.com/office/drawing/2014/main" id="{00B9C70F-0A08-4395-A345-37FE5D66C937}"/>
              </a:ext>
            </a:extLst>
          </p:cNvPr>
          <p:cNvSpPr txBox="1"/>
          <p:nvPr/>
        </p:nvSpPr>
        <p:spPr>
          <a:xfrm>
            <a:off x="1644002" y="4010521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/>
              <a:t>1</a:t>
            </a:r>
          </a:p>
        </p:txBody>
      </p:sp>
      <p:sp>
        <p:nvSpPr>
          <p:cNvPr id="22" name="TextBox 25">
            <a:extLst>
              <a:ext uri="{FF2B5EF4-FFF2-40B4-BE49-F238E27FC236}">
                <a16:creationId xmlns:a16="http://schemas.microsoft.com/office/drawing/2014/main" id="{91478EDD-8F7C-4558-96BC-D5EF25DCB6F1}"/>
              </a:ext>
            </a:extLst>
          </p:cNvPr>
          <p:cNvSpPr txBox="1"/>
          <p:nvPr/>
        </p:nvSpPr>
        <p:spPr>
          <a:xfrm>
            <a:off x="7067232" y="5261802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/>
              <a:t>1</a:t>
            </a:r>
          </a:p>
        </p:txBody>
      </p:sp>
      <p:sp>
        <p:nvSpPr>
          <p:cNvPr id="24" name="TextBox 27">
            <a:extLst>
              <a:ext uri="{FF2B5EF4-FFF2-40B4-BE49-F238E27FC236}">
                <a16:creationId xmlns:a16="http://schemas.microsoft.com/office/drawing/2014/main" id="{5470850C-10D8-4ECA-A752-FE3F05E65D9D}"/>
              </a:ext>
            </a:extLst>
          </p:cNvPr>
          <p:cNvSpPr txBox="1"/>
          <p:nvPr/>
        </p:nvSpPr>
        <p:spPr>
          <a:xfrm>
            <a:off x="2624667" y="5723467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/>
              <a:t>N</a:t>
            </a:r>
          </a:p>
        </p:txBody>
      </p:sp>
      <p:sp>
        <p:nvSpPr>
          <p:cNvPr id="25" name="TextBox 28">
            <a:extLst>
              <a:ext uri="{FF2B5EF4-FFF2-40B4-BE49-F238E27FC236}">
                <a16:creationId xmlns:a16="http://schemas.microsoft.com/office/drawing/2014/main" id="{22A196E1-49A5-4885-89FD-DDAC3B59E877}"/>
              </a:ext>
            </a:extLst>
          </p:cNvPr>
          <p:cNvSpPr txBox="1"/>
          <p:nvPr/>
        </p:nvSpPr>
        <p:spPr>
          <a:xfrm>
            <a:off x="5507398" y="5261802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/>
              <a:t>N</a:t>
            </a:r>
          </a:p>
        </p:txBody>
      </p:sp>
      <p:sp>
        <p:nvSpPr>
          <p:cNvPr id="26" name="TextBox 29">
            <a:extLst>
              <a:ext uri="{FF2B5EF4-FFF2-40B4-BE49-F238E27FC236}">
                <a16:creationId xmlns:a16="http://schemas.microsoft.com/office/drawing/2014/main" id="{82553534-C6A5-4520-97C2-11E9B9DF0DC7}"/>
              </a:ext>
            </a:extLst>
          </p:cNvPr>
          <p:cNvSpPr txBox="1"/>
          <p:nvPr/>
        </p:nvSpPr>
        <p:spPr>
          <a:xfrm>
            <a:off x="8566202" y="4333384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/>
              <a:t>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70F0272-345D-4BC0-AC92-0C3B4B449BDB}"/>
              </a:ext>
            </a:extLst>
          </p:cNvPr>
          <p:cNvSpPr/>
          <p:nvPr/>
        </p:nvSpPr>
        <p:spPr>
          <a:xfrm>
            <a:off x="5929308" y="1370383"/>
            <a:ext cx="54654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BE"/>
              <a:t>fichier: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exo24_sample_database.sql</a:t>
            </a:r>
            <a:endParaRPr lang="fr-BE">
              <a:latin typeface="Consolas" panose="020B0609020204030204" pitchFamily="49" charset="0"/>
            </a:endParaRPr>
          </a:p>
        </p:txBody>
      </p:sp>
      <p:sp>
        <p:nvSpPr>
          <p:cNvPr id="40" name="TextBox 25">
            <a:extLst>
              <a:ext uri="{FF2B5EF4-FFF2-40B4-BE49-F238E27FC236}">
                <a16:creationId xmlns:a16="http://schemas.microsoft.com/office/drawing/2014/main" id="{FDC63DD9-AAB6-4327-AA62-821A8E2B5616}"/>
              </a:ext>
            </a:extLst>
          </p:cNvPr>
          <p:cNvSpPr txBox="1"/>
          <p:nvPr/>
        </p:nvSpPr>
        <p:spPr>
          <a:xfrm>
            <a:off x="8612689" y="3810659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4056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A20903-EDC6-4B45-B825-9BB3F0D8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Importer un script SQL </a:t>
            </a:r>
            <a:br>
              <a:rPr lang="fr-BE"/>
            </a:br>
            <a:r>
              <a:rPr lang="fr-BE"/>
              <a:t>dans une base de données MySQL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8A0A58F-DFF2-4A1B-98BC-4861D000A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23471"/>
          </a:xfrm>
        </p:spPr>
        <p:txBody>
          <a:bodyPr>
            <a:normAutofit fontScale="77500" lnSpcReduction="20000"/>
          </a:bodyPr>
          <a:lstStyle/>
          <a:p>
            <a:r>
              <a:rPr lang="fr-BE" err="1"/>
              <a:t>Create</a:t>
            </a:r>
            <a:r>
              <a:rPr lang="fr-BE"/>
              <a:t> </a:t>
            </a:r>
            <a:r>
              <a:rPr lang="fr-BE" err="1"/>
              <a:t>database</a:t>
            </a:r>
            <a:endParaRPr lang="fr-BE"/>
          </a:p>
          <a:p>
            <a:pPr lvl="1"/>
            <a:r>
              <a:rPr lang="fr-BE" sz="3100"/>
              <a:t>Name: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4ipw3_sample</a:t>
            </a:r>
          </a:p>
          <a:p>
            <a:pPr lvl="1"/>
            <a:r>
              <a:rPr lang="fr-BE" sz="3100"/>
              <a:t>Encodage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latin1_general_ci</a:t>
            </a:r>
          </a:p>
          <a:p>
            <a:r>
              <a:rPr lang="fr-BE"/>
              <a:t>MyPhpAdmin / menu : </a:t>
            </a:r>
            <a: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Importer</a:t>
            </a:r>
          </a:p>
          <a:p>
            <a:pPr lvl="1"/>
            <a:r>
              <a:rPr lang="fr-BE"/>
              <a:t>Fichier à importer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exo01_import_sample.sql</a:t>
            </a:r>
          </a:p>
          <a:p>
            <a:pPr lvl="2"/>
            <a:r>
              <a:rPr lang="fr-BE"/>
              <a:t>Source: </a:t>
            </a:r>
            <a:r>
              <a:rPr lang="fr-BE" i="1"/>
              <a:t>www.burotix.be/…/internet/24_mysql</a:t>
            </a:r>
          </a:p>
          <a:p>
            <a:pPr lvl="1"/>
            <a:r>
              <a:rPr lang="fr-BE"/>
              <a:t>Format: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SQL 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Exécuter</a:t>
            </a:r>
          </a:p>
          <a:p>
            <a:r>
              <a:rPr lang="fr-BE"/>
              <a:t>Vérifier </a:t>
            </a:r>
          </a:p>
          <a:p>
            <a:pPr lvl="1"/>
            <a:r>
              <a:rPr lang="fr-BE"/>
              <a:t>Default data engine : 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InnoDB</a:t>
            </a:r>
          </a:p>
          <a:p>
            <a:pPr lvl="1"/>
            <a:r>
              <a:rPr lang="fr-BE"/>
              <a:t>L'existence de quatre tables et de leurs champs</a:t>
            </a:r>
          </a:p>
          <a:p>
            <a:pPr lvl="1"/>
            <a:r>
              <a:rPr lang="fr-BE"/>
              <a:t>Le contenu de ces tables (toutes remplies)</a:t>
            </a:r>
          </a:p>
          <a:p>
            <a:pPr lvl="1"/>
            <a:r>
              <a:rPr lang="fr-BE"/>
              <a:t>L'existence de trois vues</a:t>
            </a:r>
          </a:p>
          <a:p>
            <a:pPr lvl="1"/>
            <a:r>
              <a:rPr lang="fr-BE"/>
              <a:t>Les relations entre les tables =&gt; menu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Concepteur</a:t>
            </a:r>
          </a:p>
        </p:txBody>
      </p:sp>
    </p:spTree>
    <p:extLst>
      <p:ext uri="{BB962C8B-B14F-4D97-AF65-F5344CB8AC3E}">
        <p14:creationId xmlns:p14="http://schemas.microsoft.com/office/powerpoint/2010/main" val="190621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A20903-EDC6-4B45-B825-9BB3F0D8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Importer un fichier CSV</a:t>
            </a:r>
            <a:br>
              <a:rPr lang="fr-BE"/>
            </a:br>
            <a:r>
              <a:rPr lang="fr-BE"/>
              <a:t>dans une base de données MySQL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8A0A58F-DFF2-4A1B-98BC-4861D000A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388600" cy="5167311"/>
          </a:xfrm>
        </p:spPr>
        <p:txBody>
          <a:bodyPr>
            <a:normAutofit fontScale="62500" lnSpcReduction="20000"/>
          </a:bodyPr>
          <a:lstStyle/>
          <a:p>
            <a:r>
              <a:rPr lang="fr-BE" sz="3800"/>
              <a:t>Dans une base nouvelle ou existante</a:t>
            </a:r>
            <a:endParaRPr lang="fr-BE" sz="38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BE" sz="3800"/>
              <a:t>MyPhpAdmin / menu : </a:t>
            </a:r>
            <a:r>
              <a:rPr lang="fr-BE" sz="3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Importer</a:t>
            </a:r>
          </a:p>
          <a:p>
            <a:pPr lvl="1"/>
            <a:r>
              <a:rPr lang="fr-BE" sz="3500"/>
              <a:t>Fichier à importer : </a:t>
            </a:r>
            <a:r>
              <a:rPr lang="fr-BE" sz="3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exo01_catalogue.csv</a:t>
            </a:r>
          </a:p>
          <a:p>
            <a:pPr lvl="1"/>
            <a:r>
              <a:rPr lang="fr-BE" sz="3500"/>
              <a:t>Format: </a:t>
            </a:r>
            <a:r>
              <a:rPr lang="fr-BE" sz="3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CSV</a:t>
            </a:r>
            <a:r>
              <a:rPr lang="fr-BE" sz="3500"/>
              <a:t> … </a:t>
            </a:r>
            <a:r>
              <a:rPr lang="fr-BE" sz="3500">
                <a:solidFill>
                  <a:schemeClr val="accent2"/>
                </a:solidFill>
              </a:rPr>
              <a:t>vérifier les options : séparateur etc.</a:t>
            </a:r>
          </a:p>
          <a:p>
            <a:pPr lvl="1"/>
            <a:r>
              <a:rPr lang="fr-BE" sz="3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Exécuter</a:t>
            </a:r>
          </a:p>
          <a:p>
            <a:r>
              <a:rPr lang="fr-BE" sz="3800"/>
              <a:t>Vérifier</a:t>
            </a:r>
            <a:r>
              <a:rPr lang="fr-BE"/>
              <a:t> </a:t>
            </a:r>
          </a:p>
          <a:p>
            <a:pPr lvl="1"/>
            <a:r>
              <a:rPr lang="fr-BE" sz="3500"/>
              <a:t>Default data engine :  </a:t>
            </a:r>
            <a:r>
              <a:rPr lang="fr-BE" sz="3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InnoDB</a:t>
            </a:r>
          </a:p>
          <a:p>
            <a:pPr lvl="1"/>
            <a:r>
              <a:rPr lang="fr-BE" sz="3500"/>
              <a:t>L'existence de la table, de ses champs et son contenu</a:t>
            </a:r>
          </a:p>
          <a:p>
            <a:r>
              <a:rPr lang="fr-BE" sz="3800"/>
              <a:t>Modifier</a:t>
            </a:r>
          </a:p>
          <a:p>
            <a:pPr lvl="1"/>
            <a:r>
              <a:rPr lang="fr-BE" sz="3500"/>
              <a:t>Modifier le nom de la table =&gt; menu : </a:t>
            </a:r>
            <a:r>
              <a:rPr lang="fr-BE" sz="3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Opérations</a:t>
            </a:r>
          </a:p>
          <a:p>
            <a:pPr lvl="1"/>
            <a:r>
              <a:rPr lang="fr-BE" sz="3500"/>
              <a:t>Modifier le nom et les propriétés des  champs =&gt; menu : </a:t>
            </a:r>
            <a:r>
              <a:rPr lang="fr-BE" sz="3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Structure</a:t>
            </a:r>
          </a:p>
          <a:p>
            <a:pPr lvl="1"/>
            <a:r>
              <a:rPr lang="fr-BE" sz="3500"/>
              <a:t>Ajouter la clé primaire =&gt; menu : </a:t>
            </a:r>
            <a:r>
              <a:rPr lang="fr-BE" sz="3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SQL</a:t>
            </a:r>
          </a:p>
          <a:p>
            <a:pPr lvl="1"/>
            <a:r>
              <a:rPr lang="en-US" sz="3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ALTER TABLE tbl ADD `id_cat` </a:t>
            </a:r>
            <a:br>
              <a:rPr lang="en-US" sz="3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3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 PRIMARY KEY AUTO_INCREMENT FIRST;</a:t>
            </a:r>
          </a:p>
          <a:p>
            <a:pPr lvl="2"/>
            <a:r>
              <a:rPr lang="fr-BE" sz="3500"/>
              <a:t>C'est la manière la plus efficace</a:t>
            </a:r>
          </a:p>
        </p:txBody>
      </p:sp>
    </p:spTree>
    <p:extLst>
      <p:ext uri="{BB962C8B-B14F-4D97-AF65-F5344CB8AC3E}">
        <p14:creationId xmlns:p14="http://schemas.microsoft.com/office/powerpoint/2010/main" val="3200325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BE3159-B645-44BC-B24F-0B5EA58DE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Exporter une base de données MySQL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8E715E-751D-4D6A-8C25-7B4D62D91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Dans une base existante</a:t>
            </a:r>
            <a:endParaRPr lang="fr-BE" sz="34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BE"/>
              <a:t>MyPhpAdmin / menu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Exporter</a:t>
            </a:r>
          </a:p>
          <a:p>
            <a:pPr lvl="1"/>
            <a:r>
              <a:rPr lang="fr-BE"/>
              <a:t>Méthode d'exportation: </a:t>
            </a:r>
            <a:r>
              <a:rPr lang="fr-BE" i="1"/>
              <a:t>rapide </a:t>
            </a:r>
          </a:p>
          <a:p>
            <a:pPr lvl="1"/>
            <a:r>
              <a:rPr lang="fr-BE"/>
              <a:t>Format : </a:t>
            </a:r>
            <a:r>
              <a:rPr lang="fr-BE" i="1"/>
              <a:t>SQL</a:t>
            </a:r>
          </a:p>
          <a:p>
            <a:pPr lvl="1"/>
            <a:r>
              <a:rPr lang="fr-BE"/>
              <a:t>Option : </a:t>
            </a:r>
            <a:r>
              <a:rPr lang="fr-BE" i="1"/>
              <a:t>include create base</a:t>
            </a:r>
          </a:p>
          <a:p>
            <a:pPr lvl="1"/>
            <a: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Exécuter</a:t>
            </a:r>
            <a:endParaRPr lang="fr-BE">
              <a:latin typeface="Consolas" panose="020B0609020204030204" pitchFamily="49" charset="0"/>
            </a:endParaRPr>
          </a:p>
          <a:p>
            <a:pPr lvl="1"/>
            <a:r>
              <a:rPr lang="fr-BE"/>
              <a:t>Un fichier SQL est créé et téléchargé.</a:t>
            </a:r>
          </a:p>
        </p:txBody>
      </p:sp>
    </p:spTree>
    <p:extLst>
      <p:ext uri="{BB962C8B-B14F-4D97-AF65-F5344CB8AC3E}">
        <p14:creationId xmlns:p14="http://schemas.microsoft.com/office/powerpoint/2010/main" val="97931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610FC87-39C0-4E45-9FB1-31C7AD40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MySQL et PHP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626F879-FDC1-4453-A559-D3AF72A9E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Approche objet générique : PDO </a:t>
            </a:r>
          </a:p>
          <a:p>
            <a:r>
              <a:rPr lang="fr-BE"/>
              <a:t>Approche objet spécifique : class mysqli</a:t>
            </a:r>
          </a:p>
          <a:p>
            <a:r>
              <a:rPr lang="fr-BE"/>
              <a:t>Approche procédurale : mysqli_xxx</a:t>
            </a:r>
          </a:p>
        </p:txBody>
      </p:sp>
      <p:pic>
        <p:nvPicPr>
          <p:cNvPr id="2" name="Espace réservé pour une image  3" descr="Une image contenant dessin, lumière&#10;&#10;Description générée automatiquement">
            <a:extLst>
              <a:ext uri="{FF2B5EF4-FFF2-40B4-BE49-F238E27FC236}">
                <a16:creationId xmlns:a16="http://schemas.microsoft.com/office/drawing/2014/main" id="{AC0C4DFE-66DD-3000-163E-C4D56D403A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6" r="1681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98630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537AC9-7E91-49E7-BCF9-E6417513D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Lier PHP et une base de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919A03-AF8A-4C18-B8F4-3E38A545F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PHP contient des extensions (bibliothèque de fonctions) permettant l'accès à une base de données.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MySQL Interface (MySQLi)</a:t>
            </a:r>
            <a:endParaRPr lang="fr-BE"/>
          </a:p>
          <a:p>
            <a:pPr lvl="2"/>
            <a:r>
              <a:rPr lang="fr-BE"/>
              <a:t>Spécifique à MySQL </a:t>
            </a:r>
          </a:p>
          <a:p>
            <a:pPr lvl="2"/>
            <a:r>
              <a:rPr lang="fr-BE"/>
              <a:t>Rapide </a:t>
            </a:r>
          </a:p>
          <a:p>
            <a:pPr lvl="2"/>
            <a:r>
              <a:rPr lang="fr-BE"/>
              <a:t>Implantation POO ou implantation procédurale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PHP Data Object	(PDO)</a:t>
            </a:r>
          </a:p>
          <a:p>
            <a:pPr lvl="2"/>
            <a:r>
              <a:rPr lang="fr-BE"/>
              <a:t>Code générique et portable, "couche d'abstraction"</a:t>
            </a:r>
          </a:p>
          <a:p>
            <a:pPr lvl="2"/>
            <a:r>
              <a:rPr lang="fr-BE"/>
              <a:t>Connexion à un grand nombre de bases de données</a:t>
            </a:r>
          </a:p>
          <a:p>
            <a:pPr lvl="2"/>
            <a:r>
              <a:rPr lang="fr-BE"/>
              <a:t>Implantation POO</a:t>
            </a:r>
          </a:p>
          <a:p>
            <a:endParaRPr lang="fr-B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2C2E8B-F67A-28AE-882A-CB7091590E01}"/>
              </a:ext>
            </a:extLst>
          </p:cNvPr>
          <p:cNvSpPr/>
          <p:nvPr/>
        </p:nvSpPr>
        <p:spPr>
          <a:xfrm>
            <a:off x="1087581" y="4256115"/>
            <a:ext cx="9619211" cy="1970725"/>
          </a:xfrm>
          <a:prstGeom prst="rect">
            <a:avLst/>
          </a:prstGeom>
          <a:noFill/>
          <a:ln w="762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25866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C0723C-459B-4876-8482-6FFA9F669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MySQLi  : fonctions PHP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EA3513-33E9-4E5E-A78B-0434120C2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1038840" cy="4486276"/>
          </a:xfrm>
        </p:spPr>
        <p:txBody>
          <a:bodyPr numCol="2">
            <a:normAutofit lnSpcReduction="10000"/>
          </a:bodyPr>
          <a:lstStyle/>
          <a:p>
            <a:r>
              <a:rPr lang="fr-BE"/>
              <a:t>DML only</a:t>
            </a:r>
          </a:p>
          <a:p>
            <a:r>
              <a:rPr lang="fr-BE"/>
              <a:t>connexion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connect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mysqli_close</a:t>
            </a:r>
          </a:p>
          <a:p>
            <a:r>
              <a:rPr lang="fr-BE"/>
              <a:t>requête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_query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mysqli_prepare</a:t>
            </a:r>
          </a:p>
          <a:p>
            <a:pPr lvl="2">
              <a:lnSpc>
                <a:spcPct val="100000"/>
              </a:lnSpc>
            </a:pPr>
            <a:r>
              <a:rPr lang="fr-BE"/>
              <a:t>et amis </a:t>
            </a:r>
            <a:br>
              <a:rPr lang="fr-BE"/>
            </a:br>
            <a:endParaRPr lang="fr-BE"/>
          </a:p>
          <a:p>
            <a:r>
              <a:rPr lang="fr-BE"/>
              <a:t>requête "SELECT"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mysqli_fetch_array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mysqli_fetch_all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mysqli_free_result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mysqli_num_rows</a:t>
            </a:r>
          </a:p>
          <a:p>
            <a:r>
              <a:rPr lang="fr-BE"/>
              <a:t>requête "INSERT" etc.</a:t>
            </a:r>
          </a:p>
          <a:p>
            <a:pPr lvl="1">
              <a:lnSpc>
                <a:spcPct val="100000"/>
              </a:lnSpc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_affected_rows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00000"/>
              </a:lnSpc>
            </a:pP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commit</a:t>
            </a:r>
          </a:p>
        </p:txBody>
      </p:sp>
    </p:spTree>
    <p:extLst>
      <p:ext uri="{BB962C8B-B14F-4D97-AF65-F5344CB8AC3E}">
        <p14:creationId xmlns:p14="http://schemas.microsoft.com/office/powerpoint/2010/main" val="3367343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C0723C-459B-4876-8482-6FFA9F669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MySQLi : objets et méthodes PHP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EA3513-33E9-4E5E-A78B-0434120C24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90689"/>
            <a:ext cx="5120640" cy="4486276"/>
          </a:xfrm>
        </p:spPr>
        <p:txBody>
          <a:bodyPr numCol="1" spcCol="0">
            <a:normAutofit fontScale="85000" lnSpcReduction="20000"/>
          </a:bodyPr>
          <a:lstStyle/>
          <a:p>
            <a:r>
              <a:rPr lang="fr-BE"/>
              <a:t>DML only</a:t>
            </a:r>
          </a:p>
          <a:p>
            <a:r>
              <a:rPr lang="fr-BE"/>
              <a:t>connexion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new mysqli(…)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mysqli::close</a:t>
            </a:r>
          </a:p>
          <a:p>
            <a:r>
              <a:rPr lang="fr-BE"/>
              <a:t>requête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mysqli::query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mysqli::prepare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stmt::bind_param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stmt::execute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stmt::fetch</a:t>
            </a:r>
          </a:p>
          <a:p>
            <a:pPr lvl="2">
              <a:lnSpc>
                <a:spcPct val="100000"/>
              </a:lnSpc>
            </a:pPr>
            <a:r>
              <a:rPr lang="fr-BE"/>
              <a:t>et cousins</a:t>
            </a:r>
            <a:b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2DE95B0-3C28-0216-B845-0DD246E7F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3440" y="1690689"/>
            <a:ext cx="6258560" cy="4486276"/>
          </a:xfrm>
        </p:spPr>
        <p:txBody>
          <a:bodyPr>
            <a:normAutofit fontScale="85000" lnSpcReduction="20000"/>
          </a:bodyPr>
          <a:lstStyle/>
          <a:p>
            <a:r>
              <a:rPr lang="fr-BE"/>
              <a:t>requête "SELECT"</a:t>
            </a:r>
          </a:p>
          <a:p>
            <a:pPr lvl="1"/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result::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fetch_array</a:t>
            </a:r>
          </a:p>
          <a:p>
            <a:pPr lvl="1"/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result::fetch_all</a:t>
            </a:r>
          </a:p>
          <a:p>
            <a:pPr lvl="1"/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result::free</a:t>
            </a:r>
          </a:p>
          <a:p>
            <a:pPr lvl="2">
              <a:lnSpc>
                <a:spcPct val="100000"/>
              </a:lnSpc>
            </a:pPr>
            <a:r>
              <a:rPr lang="en-US"/>
              <a:t>et cousins 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result-&gt;num_rows</a:t>
            </a:r>
          </a:p>
          <a:p>
            <a:r>
              <a:rPr lang="fr-BE"/>
              <a:t>requête "INSERT" etc.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mysqli-&gt;affected_rows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mysqli::commit</a:t>
            </a:r>
          </a:p>
        </p:txBody>
      </p:sp>
    </p:spTree>
    <p:extLst>
      <p:ext uri="{BB962C8B-B14F-4D97-AF65-F5344CB8AC3E}">
        <p14:creationId xmlns:p14="http://schemas.microsoft.com/office/powerpoint/2010/main" val="2136902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C0723C-459B-4876-8482-6FFA9F669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PDO : objets et méthodes PHP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3EA3513-33E9-4E5E-A78B-0434120C24D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48633" y="1690689"/>
                <a:ext cx="6019800" cy="448627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fr-BE"/>
                  <a:t>DML  only</a:t>
                </a:r>
              </a:p>
              <a:p>
                <a:r>
                  <a:rPr lang="fr-BE"/>
                  <a:t>connexion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fr-BE" sz="290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new PDO(…)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fr-BE" sz="290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PDO::close </a:t>
                </a:r>
                <a14:m>
                  <m:oMath xmlns:m="http://schemas.openxmlformats.org/officeDocument/2006/math">
                    <m:r>
                      <a:rPr lang="fr-BE" sz="290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∄</m:t>
                    </m:r>
                  </m:oMath>
                </a14:m>
                <a:endParaRPr lang="fr-BE" sz="290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urier New" panose="02070309020205020404" pitchFamily="49" charset="0"/>
                </a:endParaRPr>
              </a:p>
              <a:p>
                <a:r>
                  <a:rPr lang="fr-BE"/>
                  <a:t>requête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fr-BE" sz="290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PDO::query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fr-BE" sz="290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PDO::prepare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fr-BE" sz="290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PDOStatement::bindParam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fr-BE" sz="290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PDOStatement::bindValue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fr-BE" sz="290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PDOStatement::execute</a:t>
                </a:r>
                <a:br>
                  <a:rPr lang="fr-BE"/>
                </a:br>
                <a:endParaRPr lang="fr-BE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3EA3513-33E9-4E5E-A78B-0434120C24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48633" y="1690689"/>
                <a:ext cx="6019800" cy="4486276"/>
              </a:xfrm>
              <a:blipFill>
                <a:blip r:embed="rId2"/>
                <a:stretch>
                  <a:fillRect l="-2432" t="-3668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contenu 5">
                <a:extLst>
                  <a:ext uri="{FF2B5EF4-FFF2-40B4-BE49-F238E27FC236}">
                    <a16:creationId xmlns:a16="http://schemas.microsoft.com/office/drawing/2014/main" id="{42DE95B0-3C28-0216-B845-0DD246E7FA0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690689"/>
                <a:ext cx="6019800" cy="448627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fr-BE"/>
                  <a:t>requête "SELECT"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fr-BE" sz="290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PDOStatement</a:t>
                </a:r>
                <a:r>
                  <a:rPr lang="en-US" sz="290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::</a:t>
                </a:r>
                <a:r>
                  <a:rPr lang="fr-BE" sz="290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fetchAll</a:t>
                </a:r>
              </a:p>
              <a:p>
                <a:pPr lvl="2">
                  <a:lnSpc>
                    <a:spcPct val="80000"/>
                  </a:lnSpc>
                </a:pPr>
                <a:r>
                  <a:rPr lang="fr-BE"/>
                  <a:t>et cousins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fr-BE" sz="290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result-&gt;num_rows </a:t>
                </a:r>
                <a14:m>
                  <m:oMath xmlns:m="http://schemas.openxmlformats.org/officeDocument/2006/math">
                    <m:r>
                      <a:rPr lang="fr-BE" sz="290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∄</m:t>
                    </m:r>
                  </m:oMath>
                </a14:m>
                <a:endParaRPr lang="fr-BE" sz="290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urier New" panose="02070309020205020404" pitchFamily="49" charset="0"/>
                </a:endParaRPr>
              </a:p>
              <a:p>
                <a:pPr lvl="2">
                  <a:lnSpc>
                    <a:spcPct val="80000"/>
                  </a:lnSpc>
                </a:pPr>
                <a:r>
                  <a:rPr lang="fr-BE"/>
                  <a:t>use </a:t>
                </a:r>
                <a:r>
                  <a:rPr lang="fr-BE" sz="250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SELECT COUNT(*)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90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result::free </a:t>
                </a:r>
                <a14:m>
                  <m:oMath xmlns:m="http://schemas.openxmlformats.org/officeDocument/2006/math">
                    <m:r>
                      <a:rPr lang="fr-BE" sz="290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∄</m:t>
                    </m:r>
                  </m:oMath>
                </a14:m>
                <a:endParaRPr lang="en-US" sz="290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urier New" panose="02070309020205020404" pitchFamily="49" charset="0"/>
                </a:endParaRPr>
              </a:p>
              <a:p>
                <a:r>
                  <a:rPr lang="fr-BE"/>
                  <a:t>requête "INSERT" etc.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fr-BE" sz="290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PDOStatement::rowCount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fr-BE" sz="2900">
                    <a:solidFill>
                      <a:schemeClr val="accent6">
                        <a:lumMod val="50000"/>
                      </a:schemeClr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PDO::commit</a:t>
                </a:r>
              </a:p>
              <a:p>
                <a:endParaRPr lang="fr-BE"/>
              </a:p>
            </p:txBody>
          </p:sp>
        </mc:Choice>
        <mc:Fallback xmlns="">
          <p:sp>
            <p:nvSpPr>
              <p:cNvPr id="6" name="Espace réservé du contenu 5">
                <a:extLst>
                  <a:ext uri="{FF2B5EF4-FFF2-40B4-BE49-F238E27FC236}">
                    <a16:creationId xmlns:a16="http://schemas.microsoft.com/office/drawing/2014/main" id="{42DE95B0-3C28-0216-B845-0DD246E7FA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690689"/>
                <a:ext cx="6019800" cy="4486276"/>
              </a:xfrm>
              <a:blipFill>
                <a:blip r:embed="rId3"/>
                <a:stretch>
                  <a:fillRect l="-2432" t="-3668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7236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610FC87-39C0-4E45-9FB1-31C7AD40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Références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2B4FC60-958D-402D-82F1-AE26E90B9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https://phpdelusions.net/pdo</a:t>
            </a:r>
          </a:p>
          <a:p>
            <a:pPr lvl="1"/>
            <a:r>
              <a:rPr lang="en-US" i="1"/>
              <a:t>(the only proper) PDO tutorial</a:t>
            </a:r>
          </a:p>
          <a:p>
            <a:r>
              <a:rPr lang="fr-BE"/>
              <a:t>https://www.php.net/manual/en/book.pdo.php</a:t>
            </a:r>
          </a:p>
          <a:p>
            <a:pPr lvl="1"/>
            <a:r>
              <a:rPr lang="fr-BE" i="1"/>
              <a:t>site officiel</a:t>
            </a:r>
          </a:p>
        </p:txBody>
      </p:sp>
    </p:spTree>
    <p:extLst>
      <p:ext uri="{BB962C8B-B14F-4D97-AF65-F5344CB8AC3E}">
        <p14:creationId xmlns:p14="http://schemas.microsoft.com/office/powerpoint/2010/main" val="306747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610FC87-39C0-4E45-9FB1-31C7AD40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Ouvrir la connexion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626F879-FDC1-4453-A559-D3AF72A9E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new mysqli</a:t>
            </a:r>
          </a:p>
          <a:p>
            <a:r>
              <a:rPr lang="fr-BE"/>
              <a:t>mysqli_connect</a:t>
            </a:r>
          </a:p>
          <a:p>
            <a:r>
              <a:rPr lang="fr-BE"/>
              <a:t>new PDO</a:t>
            </a:r>
          </a:p>
          <a:p>
            <a:endParaRPr lang="fr-BE"/>
          </a:p>
        </p:txBody>
      </p:sp>
      <p:pic>
        <p:nvPicPr>
          <p:cNvPr id="3" name="Espace réservé pour une image  3" descr="Une image contenant dessin, lumière&#10;&#10;Description générée automatiquement">
            <a:extLst>
              <a:ext uri="{FF2B5EF4-FFF2-40B4-BE49-F238E27FC236}">
                <a16:creationId xmlns:a16="http://schemas.microsoft.com/office/drawing/2014/main" id="{1B061002-4C42-1F90-B7C7-0AC57C32320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6" r="1681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48174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C0723C-459B-4876-8482-6FFA9F669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MySQLi : Connexion à la base de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EA3513-33E9-4E5E-A78B-0434120C2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non utilisé dans ce cours</a:t>
            </a:r>
          </a:p>
          <a:p>
            <a:r>
              <a:rPr lang="fr-BE"/>
              <a:t>DML</a:t>
            </a:r>
          </a:p>
          <a:p>
            <a:pPr lvl="1"/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en-US" sz="280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 = </a:t>
            </a:r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new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 </a:t>
            </a:r>
            <a:r>
              <a:rPr lang="en-US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b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"localhost", </a:t>
            </a:r>
            <a:b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"</a:t>
            </a:r>
            <a:r>
              <a:rPr lang="en-US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my_user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", </a:t>
            </a:r>
            <a:b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"</a:t>
            </a:r>
            <a:r>
              <a:rPr lang="en-US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my_password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", </a:t>
            </a:r>
            <a:b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"world" );</a:t>
            </a:r>
          </a:p>
          <a:p>
            <a:pPr lvl="1"/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en-US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sql_s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"SELECT Name FROM City LIMIT 10";</a:t>
            </a:r>
          </a:p>
          <a:p>
            <a:pPr lvl="1"/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$result = </a:t>
            </a:r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en-US" sz="280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</a:t>
            </a:r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query($</a:t>
            </a:r>
            <a:r>
              <a:rPr lang="en-US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sql_s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lvl="1"/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.........</a:t>
            </a:r>
          </a:p>
        </p:txBody>
      </p:sp>
    </p:spTree>
    <p:extLst>
      <p:ext uri="{BB962C8B-B14F-4D97-AF65-F5344CB8AC3E}">
        <p14:creationId xmlns:p14="http://schemas.microsoft.com/office/powerpoint/2010/main" val="700993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8E2F21-15FA-474F-A4CF-B25230BBF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MySQLi : Connexion à la base de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26769D-05D9-48A9-BC60-84F30368E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BE"/>
              <a:t>Établir la connexion entre l'application PHP et la base de données SQL.</a:t>
            </a:r>
          </a:p>
          <a:p>
            <a:pPr marL="457189" lvl="1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fr-BE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mysqli_connect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 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"localhost", "root", "", "sample_4ipdw" );</a:t>
            </a:r>
          </a:p>
          <a:p>
            <a:r>
              <a:rPr lang="fr-BE"/>
              <a:t>Paramètres</a:t>
            </a:r>
          </a:p>
          <a:p>
            <a:pPr lvl="1"/>
            <a:r>
              <a:rPr lang="fr-BE"/>
              <a:t>Serveur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"localhost"</a:t>
            </a:r>
          </a:p>
          <a:p>
            <a:pPr lvl="1"/>
            <a:r>
              <a:rPr lang="fr-BE"/>
              <a:t>Utilisateur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"root"</a:t>
            </a:r>
          </a:p>
          <a:p>
            <a:pPr lvl="1"/>
            <a:r>
              <a:rPr lang="fr-BE"/>
              <a:t>Mot de passe 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""</a:t>
            </a:r>
          </a:p>
          <a:p>
            <a:pPr lvl="1"/>
            <a:r>
              <a:rPr lang="fr-BE"/>
              <a:t>Base de données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"sample_4ipdw"</a:t>
            </a:r>
          </a:p>
          <a:p>
            <a:r>
              <a:rPr lang="fr-BE"/>
              <a:t>Retour : 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$conn</a:t>
            </a:r>
            <a:r>
              <a:rPr lang="fr-BE">
                <a:latin typeface="Consolas" panose="020B0609020204030204" pitchFamily="49" charset="0"/>
              </a:rPr>
              <a:t> </a:t>
            </a:r>
            <a:r>
              <a:rPr lang="fr-BE"/>
              <a:t>: objet de connexion à la base de données </a:t>
            </a:r>
          </a:p>
          <a:p>
            <a:pPr lvl="2"/>
            <a:r>
              <a:rPr lang="fr-BE"/>
              <a:t>utilisé comme paramètre des fonctions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mysqli_xxx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false</a:t>
            </a:r>
            <a:r>
              <a:rPr lang="fr-BE"/>
              <a:t> si erreur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638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B7695044-A0FE-4AFE-B6A4-3FFE4929A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PDO : Connexion à la base de données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75F5970-5651-4D6F-80C9-F0B5B8DB1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80" y="1690688"/>
            <a:ext cx="11653520" cy="5096973"/>
          </a:xfrm>
        </p:spPr>
        <p:txBody>
          <a:bodyPr>
            <a:normAutofit fontScale="70000" lnSpcReduction="20000"/>
          </a:bodyPr>
          <a:lstStyle/>
          <a:p>
            <a:r>
              <a:rPr lang="fr-BE"/>
              <a:t>Établir la connexion entre l'application PHP et la base de données SQL.</a:t>
            </a:r>
          </a:p>
          <a:p>
            <a:pPr marL="457189" lvl="1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$pdo =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new PDO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($dsn, "root", "", $options);</a:t>
            </a:r>
          </a:p>
          <a:p>
            <a:r>
              <a:rPr lang="fr-BE"/>
              <a:t>Paramètres</a:t>
            </a:r>
          </a:p>
          <a:p>
            <a:pPr lvl="1"/>
            <a:r>
              <a:rPr lang="fr-BE"/>
              <a:t>Serveur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"localhost"</a:t>
            </a:r>
          </a:p>
          <a:p>
            <a:pPr lvl="1"/>
            <a:r>
              <a:rPr lang="fr-BE"/>
              <a:t>Utilisateur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"root"</a:t>
            </a:r>
          </a:p>
          <a:p>
            <a:pPr lvl="1"/>
            <a:r>
              <a:rPr lang="fr-BE"/>
              <a:t>Mot de passe 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""</a:t>
            </a:r>
          </a:p>
          <a:p>
            <a:pPr lvl="1"/>
            <a:r>
              <a:rPr lang="fr-BE"/>
              <a:t>Base de données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"4ipdw_sample"</a:t>
            </a:r>
          </a:p>
          <a:p>
            <a:pPr lvl="1"/>
            <a:r>
              <a:rPr lang="fr-BE"/>
              <a:t>Charset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'utf8mb4'</a:t>
            </a:r>
          </a:p>
          <a:p>
            <a:pPr lvl="1"/>
            <a:r>
              <a:rPr lang="fr-BE"/>
              <a:t>DSN</a:t>
            </a:r>
          </a:p>
          <a:p>
            <a:pPr lvl="2"/>
            <a:r>
              <a:rPr lang="fr-BE"/>
              <a:t>string, paires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param=valeur</a:t>
            </a:r>
            <a:r>
              <a:rPr lang="fr-BE"/>
              <a:t>, délimitées par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";"</a:t>
            </a:r>
            <a:r>
              <a:rPr lang="fr-BE"/>
              <a:t>, </a:t>
            </a:r>
            <a:r>
              <a:rPr lang="en-US"/>
              <a:t>ni espace, ni apostrophe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377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$dsn = "mysql:host=localhost;dbname=4ipdw_sample;port=3306;charset=utf8mb4";</a:t>
            </a:r>
          </a:p>
          <a:p>
            <a:r>
              <a:rPr lang="fr-BE"/>
              <a:t>Retour : 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$pdo </a:t>
            </a:r>
            <a:r>
              <a:rPr lang="fr-BE"/>
              <a:t>: objet gérant la connexion à la base de données </a:t>
            </a:r>
          </a:p>
          <a:p>
            <a:pPr lvl="2"/>
            <a:r>
              <a:rPr lang="fr-BE"/>
              <a:t>ses méthodes seront utilisées pour les requêtes, etc. 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555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8E2F21-15FA-474F-A4CF-B25230BBF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Connexion à la base de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26769D-05D9-48A9-BC60-84F30368E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BE"/>
              <a:t>Caractères spéciaux</a:t>
            </a:r>
          </a:p>
          <a:p>
            <a:pPr lvl="1"/>
            <a:r>
              <a:rPr lang="fr-BE"/>
              <a:t>Pour assurer leur affichage correct, il faut imposer à la DB le format UTF-8 :</a:t>
            </a:r>
          </a:p>
          <a:p>
            <a:pPr lvl="2"/>
            <a:r>
              <a:rPr lang="fr-BE"/>
              <a:t>requête SQL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"SET NAMES UTF8"</a:t>
            </a:r>
          </a:p>
          <a:p>
            <a:pPr lvl="1"/>
            <a:r>
              <a:rPr lang="fr-BE"/>
              <a:t>Nécessaire avec PDO ? </a:t>
            </a:r>
          </a:p>
          <a:p>
            <a:r>
              <a:rPr lang="fr-BE"/>
              <a:t>MySQL ou MariaDB ? </a:t>
            </a:r>
          </a:p>
          <a:p>
            <a:pPr lvl="1"/>
            <a:r>
              <a:rPr lang="fr-BE"/>
              <a:t>Dans l'environnement WAMP !</a:t>
            </a:r>
          </a:p>
          <a:p>
            <a:pPr lvl="1"/>
            <a:r>
              <a:rPr lang="fr-BE"/>
              <a:t>Pour établir la connexion avec la base de données </a:t>
            </a:r>
            <a:r>
              <a:rPr lang="fr-BE">
                <a:solidFill>
                  <a:schemeClr val="accent2"/>
                </a:solidFill>
              </a:rPr>
              <a:t>MySQL, </a:t>
            </a:r>
            <a:r>
              <a:rPr lang="fr-BE"/>
              <a:t>port </a:t>
            </a:r>
            <a:r>
              <a:rPr lang="fr-BE">
                <a:solidFill>
                  <a:schemeClr val="accent2"/>
                </a:solidFill>
              </a:rPr>
              <a:t>3306</a:t>
            </a:r>
            <a:r>
              <a:rPr lang="fr-BE"/>
              <a:t> (défaut)</a:t>
            </a:r>
            <a:endParaRPr lang="fr-BE">
              <a:solidFill>
                <a:schemeClr val="accent2"/>
              </a:solidFill>
            </a:endParaRPr>
          </a:p>
          <a:p>
            <a:pPr marL="914377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$conn = mysqli_connect( 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"localhost", "root", "", "sample_4ipdw",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3306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);</a:t>
            </a:r>
            <a:endParaRPr lang="fr-BE">
              <a:latin typeface="Consolas" panose="020B0609020204030204" pitchFamily="49" charset="0"/>
            </a:endParaRPr>
          </a:p>
          <a:p>
            <a:pPr lvl="1"/>
            <a:r>
              <a:rPr lang="fr-BE"/>
              <a:t>Pour établir la connexion avec la base de données </a:t>
            </a:r>
            <a:r>
              <a:rPr lang="fr-BE">
                <a:solidFill>
                  <a:schemeClr val="accent2"/>
                </a:solidFill>
              </a:rPr>
              <a:t>MariaDB, </a:t>
            </a:r>
            <a:r>
              <a:rPr lang="fr-BE"/>
              <a:t>port </a:t>
            </a:r>
            <a:r>
              <a:rPr lang="fr-BE">
                <a:solidFill>
                  <a:schemeClr val="accent2"/>
                </a:solidFill>
              </a:rPr>
              <a:t>3307</a:t>
            </a:r>
          </a:p>
          <a:p>
            <a:pPr marL="914377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$conn = mysqli_connect( 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"localhost", "root", "", "sample_4ipdw",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3307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);</a:t>
            </a:r>
            <a:endParaRPr lang="fr-BE">
              <a:latin typeface="Consolas" panose="020B0609020204030204" pitchFamily="49" charset="0"/>
            </a:endParaRPr>
          </a:p>
          <a:p>
            <a:pPr lvl="1"/>
            <a:endParaRPr lang="fr-BE">
              <a:latin typeface="Consolas" panose="020B0609020204030204" pitchFamily="49" charset="0"/>
            </a:endParaRPr>
          </a:p>
          <a:p>
            <a:pPr lvl="1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32623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610FC87-39C0-4E45-9FB1-31C7AD40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Consulter des données</a:t>
            </a:r>
            <a:br>
              <a:rPr lang="fr-BE"/>
            </a:br>
            <a:r>
              <a:rPr lang="fr-BE"/>
              <a:t>SELECT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626F879-FDC1-4453-A559-D3AF72A9E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numCol="3">
            <a:normAutofit/>
          </a:bodyPr>
          <a:lstStyle/>
          <a:p>
            <a:r>
              <a:rPr lang="fr-BE">
                <a:solidFill>
                  <a:schemeClr val="accent2"/>
                </a:solidFill>
              </a:rPr>
              <a:t>Requêtes avec attente d'un résultat</a:t>
            </a:r>
          </a:p>
          <a:p>
            <a:r>
              <a:rPr lang="fr-BE"/>
              <a:t> </a:t>
            </a:r>
          </a:p>
          <a:p>
            <a:r>
              <a:rPr lang="fr-BE"/>
              <a:t>mysqli_query</a:t>
            </a:r>
          </a:p>
          <a:p>
            <a:r>
              <a:rPr lang="fr-BE"/>
              <a:t>mysqli_num_rows</a:t>
            </a:r>
          </a:p>
          <a:p>
            <a:r>
              <a:rPr lang="fr-BE"/>
              <a:t>mysqli_fetch_all</a:t>
            </a:r>
          </a:p>
          <a:p>
            <a:r>
              <a:rPr lang="en-US"/>
              <a:t>PDO::query</a:t>
            </a:r>
          </a:p>
          <a:p>
            <a:r>
              <a:rPr lang="en-US"/>
              <a:t>PDO::prepare</a:t>
            </a:r>
          </a:p>
          <a:p>
            <a:r>
              <a:rPr lang="en-US"/>
              <a:t>PDOStatement::fetchAll</a:t>
            </a:r>
          </a:p>
        </p:txBody>
      </p:sp>
      <p:pic>
        <p:nvPicPr>
          <p:cNvPr id="2" name="Espace réservé pour une image  3" descr="Une image contenant dessin, lumière&#10;&#10;Description générée automatiquement">
            <a:extLst>
              <a:ext uri="{FF2B5EF4-FFF2-40B4-BE49-F238E27FC236}">
                <a16:creationId xmlns:a16="http://schemas.microsoft.com/office/drawing/2014/main" id="{E94C291A-061E-7F02-598C-E610F6BB00D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6" r="1681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85064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DCB46F-9BFB-45C4-836F-E615FA584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MySQLi : SELECT : requête simple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D5A39A-3BEA-4B86-B391-932F73637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Pour envoyer la requête SQL à la base de données</a:t>
            </a:r>
          </a:p>
          <a:p>
            <a:pPr marL="457189" lvl="1" indent="0">
              <a:buNone/>
            </a:pPr>
            <a:r>
              <a:rPr lang="fr-BE" sz="27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7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</a:t>
            </a:r>
            <a:r>
              <a:rPr lang="fr-BE" sz="27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 = </a:t>
            </a:r>
            <a:r>
              <a:rPr lang="fr-BE" sz="270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mysqli_query</a:t>
            </a:r>
            <a:r>
              <a:rPr lang="fr-BE" sz="27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br>
              <a:rPr lang="fr-BE" sz="27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7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		$</a:t>
            </a:r>
            <a:r>
              <a:rPr lang="fr-BE" sz="27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r>
              <a:rPr lang="fr-BE" sz="27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 "SELECT * FROM City");</a:t>
            </a:r>
          </a:p>
          <a:p>
            <a:r>
              <a:rPr lang="fr-BE"/>
              <a:t>Paramètres</a:t>
            </a:r>
          </a:p>
          <a:p>
            <a:pPr lvl="1"/>
            <a:r>
              <a:rPr lang="fr-BE" sz="27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7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endParaRPr lang="fr-BE" sz="27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/>
              <a:t>String SQL : </a:t>
            </a:r>
            <a:r>
              <a:rPr lang="fr-BE" sz="27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"SELECT Name FROM City"</a:t>
            </a:r>
          </a:p>
          <a:p>
            <a:r>
              <a:rPr lang="en-US"/>
              <a:t>Retour </a:t>
            </a:r>
          </a:p>
          <a:p>
            <a:pPr lvl="1"/>
            <a:r>
              <a:rPr lang="fr-BE"/>
              <a:t>MySQL </a:t>
            </a:r>
            <a:r>
              <a:rPr lang="fr-BE" err="1"/>
              <a:t>result</a:t>
            </a:r>
            <a:r>
              <a:rPr lang="fr-BE"/>
              <a:t> set : </a:t>
            </a:r>
            <a:r>
              <a:rPr lang="fr-BE" sz="27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7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</a:t>
            </a:r>
            <a:endParaRPr lang="en-US" sz="27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423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639E64-BD8F-475F-B92D-22322609B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54624" cy="1325563"/>
          </a:xfrm>
        </p:spPr>
        <p:txBody>
          <a:bodyPr>
            <a:normAutofit/>
          </a:bodyPr>
          <a:lstStyle/>
          <a:p>
            <a:r>
              <a:rPr lang="fr-BE"/>
              <a:t>MySQLi : SELECT : le résultat, ligne par ligne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C631FA-89AC-4D7E-95D6-06DC76E06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1577478"/>
            <a:ext cx="9768840" cy="5280522"/>
          </a:xfrm>
        </p:spPr>
        <p:txBody>
          <a:bodyPr>
            <a:normAutofit fontScale="92500" lnSpcReduction="10000"/>
          </a:bodyPr>
          <a:lstStyle/>
          <a:p>
            <a:r>
              <a:rPr lang="fr-BE"/>
              <a:t>Pour capturer le résultat de la requête ligne par ligne</a:t>
            </a:r>
          </a:p>
          <a:p>
            <a:pPr marL="457189" lvl="1" indent="0">
              <a:buNone/>
            </a:pP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while ($row = </a:t>
            </a:r>
            <a:r>
              <a:rPr lang="en-US" sz="280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mysqli_fetch_array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($result))</a:t>
            </a:r>
            <a:b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b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 echo $row['</a:t>
            </a:r>
            <a:r>
              <a:rPr lang="en-US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joueur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'].':'.$row['</a:t>
            </a:r>
            <a:r>
              <a:rPr lang="en-US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partie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'];</a:t>
            </a:r>
            <a:b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endParaRPr lang="fr-BE" sz="2800">
              <a:latin typeface="Consolas" panose="020B0609020204030204" pitchFamily="49" charset="0"/>
            </a:endParaRPr>
          </a:p>
          <a:p>
            <a:r>
              <a:rPr lang="fr-BE"/>
              <a:t>Paramètres</a:t>
            </a:r>
          </a:p>
          <a:p>
            <a:pPr lvl="1"/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</a:t>
            </a:r>
            <a:endParaRPr lang="fr-BE" sz="28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fr-BE"/>
              <a:t>Retour</a:t>
            </a:r>
          </a:p>
          <a:p>
            <a:pPr lvl="1"/>
            <a:r>
              <a:rPr lang="fr-BE" sz="2800"/>
              <a:t>Une seule ligne du résultat : 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row</a:t>
            </a:r>
            <a:br>
              <a:rPr lang="fr-BE" sz="2800"/>
            </a:br>
            <a:r>
              <a:rPr lang="fr-BE" sz="2800"/>
              <a:t>(tableau associatif)</a:t>
            </a:r>
          </a:p>
          <a:p>
            <a:pPr lvl="1"/>
            <a:r>
              <a:rPr lang="fr-BE" sz="2800"/>
              <a:t>Donc boucle </a:t>
            </a:r>
            <a:r>
              <a:rPr lang="fr-BE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while</a:t>
            </a:r>
            <a:r>
              <a:rPr lang="fr-BE" sz="2800"/>
              <a:t> sur </a:t>
            </a:r>
            <a:br>
              <a:rPr lang="fr-BE" sz="2800"/>
            </a:b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mysqli_fetch_array</a:t>
            </a:r>
            <a:r>
              <a:rPr lang="fr-BE" sz="2800">
                <a:latin typeface="Consolas" panose="020B0609020204030204" pitchFamily="49" charset="0"/>
              </a:rPr>
              <a:t> </a:t>
            </a:r>
            <a:br>
              <a:rPr lang="fr-BE" sz="2800"/>
            </a:br>
            <a:r>
              <a:rPr lang="fr-BE" sz="2800"/>
              <a:t>nécessaire pour lire tout le résultat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A3100E1-73B8-4D7F-8D5D-9A0DD0A85F77}"/>
              </a:ext>
            </a:extLst>
          </p:cNvPr>
          <p:cNvSpPr txBox="1"/>
          <p:nvPr/>
        </p:nvSpPr>
        <p:spPr>
          <a:xfrm>
            <a:off x="7216024" y="4290612"/>
            <a:ext cx="4876800" cy="236988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BE" sz="2800"/>
              <a:t>une ligne, affichée avec </a:t>
            </a:r>
            <a:r>
              <a:rPr lang="fr-BE" sz="2800" i="1" err="1"/>
              <a:t>print_r</a:t>
            </a:r>
            <a:r>
              <a:rPr lang="fr-BE" sz="2800" i="1"/>
              <a:t>()</a:t>
            </a:r>
            <a:r>
              <a:rPr lang="fr-BE" sz="2800"/>
              <a:t> :</a:t>
            </a:r>
          </a:p>
          <a:p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row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Array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[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joueur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 =&gt; Allen,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[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partie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 =&gt; ISFCE,</a:t>
            </a:r>
          </a:p>
          <a:p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12775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639E64-BD8F-475F-B92D-22322609B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35267" cy="1325563"/>
          </a:xfrm>
        </p:spPr>
        <p:txBody>
          <a:bodyPr>
            <a:normAutofit/>
          </a:bodyPr>
          <a:lstStyle/>
          <a:p>
            <a:r>
              <a:rPr lang="fr-BE"/>
              <a:t>MySQLi : SELECT : tout le résultat d'un coup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C631FA-89AC-4D7E-95D6-06DC76E061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581742"/>
            <a:ext cx="10836850" cy="5252508"/>
          </a:xfrm>
        </p:spPr>
        <p:txBody>
          <a:bodyPr numCol="1">
            <a:normAutofit fontScale="92500"/>
          </a:bodyPr>
          <a:lstStyle/>
          <a:p>
            <a:r>
              <a:rPr lang="fr-BE"/>
              <a:t>Pour capturer le résultat de la requête en une seule instruction</a:t>
            </a:r>
          </a:p>
          <a:p>
            <a:pPr marL="457189" lvl="1" indent="0">
              <a:buNone/>
            </a:pPr>
            <a:r>
              <a:rPr lang="en-US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$data = </a:t>
            </a:r>
            <a:r>
              <a:rPr lang="en-US" sz="260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mysqli_fetch_all</a:t>
            </a:r>
            <a:r>
              <a:rPr lang="en-US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 	$result, MYSQLI_ASSOC);</a:t>
            </a:r>
            <a:endParaRPr lang="fr-BE" sz="26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algn="just"/>
            <a:r>
              <a:rPr lang="fr-BE"/>
              <a:t>Paramètres</a:t>
            </a:r>
          </a:p>
          <a:p>
            <a:pPr lvl="1"/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</a:t>
            </a:r>
            <a:endParaRPr lang="fr-BE" sz="28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/>
              <a:t>Option générant un tableau </a:t>
            </a:r>
            <a:br>
              <a:rPr lang="fr-BE"/>
            </a:br>
            <a:r>
              <a:rPr lang="fr-BE"/>
              <a:t>associatif : 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MYSQLI_ASSOC</a:t>
            </a:r>
            <a:endParaRPr lang="fr-BE" sz="28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fr-BE"/>
              <a:t>Retour</a:t>
            </a:r>
          </a:p>
          <a:p>
            <a:pPr lvl="1"/>
            <a:r>
              <a:rPr lang="fr-BE" sz="3000"/>
              <a:t>Tout le résultat : </a:t>
            </a:r>
            <a:r>
              <a:rPr lang="fr-BE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$data</a:t>
            </a:r>
            <a:r>
              <a:rPr lang="fr-BE" sz="3000">
                <a:latin typeface="Consolas" panose="020B0609020204030204" pitchFamily="49" charset="0"/>
              </a:rPr>
              <a:t> </a:t>
            </a:r>
            <a:br>
              <a:rPr lang="fr-BE" sz="3000"/>
            </a:br>
            <a:r>
              <a:rPr lang="fr-BE" sz="3000"/>
              <a:t>(tableau indexé de tableau associatif)</a:t>
            </a:r>
          </a:p>
          <a:p>
            <a:pPr lvl="1"/>
            <a:r>
              <a:rPr lang="fr-BE" sz="3000"/>
              <a:t>Donc boucle </a:t>
            </a:r>
            <a:r>
              <a:rPr lang="fr-BE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foreach</a:t>
            </a:r>
            <a:r>
              <a:rPr lang="fr-BE" sz="3000"/>
              <a:t> sur </a:t>
            </a:r>
            <a:r>
              <a:rPr lang="fr-BE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$data </a:t>
            </a:r>
            <a:br>
              <a:rPr lang="fr-BE" sz="3000"/>
            </a:br>
            <a:r>
              <a:rPr lang="fr-BE" sz="3000"/>
              <a:t>nécessaire pour lire tout le résultat</a:t>
            </a:r>
          </a:p>
          <a:p>
            <a:pPr lvl="1"/>
            <a:endParaRPr lang="fr-BE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1872FA1-C6C4-4E43-9D97-E4D841C3CD11}"/>
              </a:ext>
            </a:extLst>
          </p:cNvPr>
          <p:cNvSpPr txBox="1"/>
          <p:nvPr/>
        </p:nvSpPr>
        <p:spPr>
          <a:xfrm>
            <a:off x="7045234" y="2987043"/>
            <a:ext cx="5146766" cy="38472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BE"/>
              <a:t>tout le résultat, affiché avec </a:t>
            </a:r>
            <a:r>
              <a:rPr lang="fr-BE" i="1" err="1"/>
              <a:t>print_r</a:t>
            </a:r>
            <a:r>
              <a:rPr lang="fr-BE" i="1"/>
              <a:t>()</a:t>
            </a:r>
            <a:r>
              <a:rPr lang="fr-BE"/>
              <a:t> :</a:t>
            </a:r>
          </a:p>
          <a:p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$data = </a:t>
            </a:r>
            <a:r>
              <a:rPr lang="fr-BE" sz="20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Array</a:t>
            </a:r>
            <a:endParaRPr lang="fr-BE" sz="20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[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 =&gt; Array (</a:t>
            </a:r>
          </a:p>
          <a:p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[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joueur</a:t>
            </a:r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 =&gt; Alex,</a:t>
            </a:r>
            <a:b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[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partie</a:t>
            </a:r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 =&gt; entre amis</a:t>
            </a:r>
          </a:p>
          <a:p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),</a:t>
            </a:r>
          </a:p>
          <a:p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[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 =&gt; Array (</a:t>
            </a:r>
          </a:p>
          <a:p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[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joueur</a:t>
            </a:r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 =&gt; Allen,</a:t>
            </a:r>
            <a:b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[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partie</a:t>
            </a:r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 =&gt; entre copains</a:t>
            </a:r>
          </a:p>
          <a:p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)</a:t>
            </a:r>
            <a:b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77651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75F0F8F5-C738-432A-9C9C-C09D0BA2C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Requêtes préparées : motivation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39C05A4-4081-47C9-9AA6-A132BD364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Éviter l'injection SQL </a:t>
            </a:r>
          </a:p>
          <a:p>
            <a:pPr lvl="1"/>
            <a:r>
              <a:rPr lang="fr-BE"/>
              <a:t>requête avec variable</a:t>
            </a:r>
          </a:p>
          <a:p>
            <a:r>
              <a:rPr lang="en-US"/>
              <a:t>Optimiser les ressources en cas de requêtes multiples</a:t>
            </a:r>
          </a:p>
        </p:txBody>
      </p:sp>
    </p:spTree>
    <p:extLst>
      <p:ext uri="{BB962C8B-B14F-4D97-AF65-F5344CB8AC3E}">
        <p14:creationId xmlns:p14="http://schemas.microsoft.com/office/powerpoint/2010/main" val="3101449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75F0F8F5-C738-432A-9C9C-C09D0BA2C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Requêtes préparées : injection SQL 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39C05A4-4081-47C9-9AA6-A132BD364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BE"/>
              <a:t>Regardez ce code PHP :</a:t>
            </a:r>
          </a:p>
          <a:p>
            <a:pPr marL="457189" lvl="1" indent="0">
              <a:buNone/>
            </a:pP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$myname = $_POST[</a:t>
            </a:r>
            <a:r>
              <a:rPr lang="en-US" sz="31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'myname'</a:t>
            </a: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pPr marL="457189" lvl="1" indent="0">
              <a:buNone/>
            </a:pP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$sql_s = "SELECT * FROM myTable WHERE name=</a:t>
            </a:r>
            <a:r>
              <a:rPr lang="en-US" sz="31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'$myname' </a:t>
            </a: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";</a:t>
            </a:r>
          </a:p>
          <a:p>
            <a:pPr marL="457189" lvl="1" indent="0">
              <a:buNone/>
            </a:pP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mysqli_query($sql_s);</a:t>
            </a:r>
          </a:p>
          <a:p>
            <a:r>
              <a:rPr lang="en-US"/>
              <a:t>Un hacker peut écrire dans le formulaire web, dans l'input de nom </a:t>
            </a:r>
            <a:r>
              <a:rPr lang="en-US" sz="31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myname</a:t>
            </a:r>
            <a:r>
              <a:rPr lang="en-US"/>
              <a:t> : </a:t>
            </a:r>
          </a:p>
          <a:p>
            <a:pPr marL="457189" lvl="1" indent="0">
              <a:buNone/>
            </a:pP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 OR '1'='1</a:t>
            </a:r>
            <a:endParaRPr lang="en-US">
              <a:solidFill>
                <a:schemeClr val="accent5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/>
              <a:t>La requête devient </a:t>
            </a:r>
          </a:p>
          <a:p>
            <a:pPr marL="457189" lvl="1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SELECT * FROM myTable WHERE name='</a:t>
            </a:r>
            <a:r>
              <a:rPr lang="en-US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 OR '1'='1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 </a:t>
            </a:r>
          </a:p>
          <a:p>
            <a:r>
              <a:rPr lang="en-US"/>
              <a:t>Résultat ? </a:t>
            </a:r>
          </a:p>
          <a:p>
            <a:pPr lvl="1"/>
            <a:r>
              <a:rPr lang="en-US"/>
              <a:t>Toute la table est retournée ! Sans commentaire … </a:t>
            </a:r>
            <a:r>
              <a:rPr lang="en-US">
                <a:sym typeface="Wingdings" panose="05000000000000000000" pitchFamily="2" charset="2"/>
              </a:rPr>
              <a:t></a:t>
            </a:r>
            <a:endParaRPr lang="en-US"/>
          </a:p>
          <a:p>
            <a:r>
              <a:rPr lang="en-US"/>
              <a:t>Autres exemple similaires et solution</a:t>
            </a:r>
          </a:p>
          <a:p>
            <a:pPr lvl="1"/>
            <a:r>
              <a:rPr lang="en-US">
                <a:hlinkClick r:id="rId2"/>
              </a:rPr>
              <a:t>https://websitebeaver.com/prepared-statements-in-php-mysqli-to-prevent-sql-injection</a:t>
            </a:r>
            <a:endParaRPr lang="en-US"/>
          </a:p>
          <a:p>
            <a:pPr lvl="1"/>
            <a:r>
              <a:rPr lang="en-US">
                <a:hlinkClick r:id="rId3"/>
              </a:rPr>
              <a:t>https://phpdelusions.net/sql_injection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256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198898-9B6C-4C64-BDA3-C107DDF70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Requêtes préparées : principe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DA2C9E-FFF0-4D63-9423-03E02EDE5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BE"/>
              <a:t>La requête SQL est </a:t>
            </a:r>
            <a:r>
              <a:rPr lang="fr-BE">
                <a:solidFill>
                  <a:schemeClr val="accent2"/>
                </a:solidFill>
              </a:rPr>
              <a:t>préparée</a:t>
            </a:r>
            <a:r>
              <a:rPr lang="fr-BE"/>
              <a:t> avec des valeurs vides</a:t>
            </a:r>
          </a:p>
          <a:p>
            <a:pPr lvl="1"/>
            <a:r>
              <a:rPr lang="fr-BE"/>
              <a:t>ces valeurs vides correspondent aux variables </a:t>
            </a:r>
          </a:p>
          <a:p>
            <a:pPr marL="514350" indent="-514350">
              <a:buFont typeface="+mj-lt"/>
              <a:buAutoNum type="arabicPeriod"/>
            </a:pPr>
            <a:r>
              <a:rPr lang="fr-BE"/>
              <a:t>Les valeurs vides sont liées à une valeur et à un type. </a:t>
            </a:r>
          </a:p>
          <a:p>
            <a:pPr marL="514350" indent="-514350">
              <a:buFont typeface="+mj-lt"/>
              <a:buAutoNum type="arabicPeriod"/>
            </a:pPr>
            <a:r>
              <a:rPr lang="fr-BE"/>
              <a:t>La requête est exécutée.</a:t>
            </a:r>
          </a:p>
          <a:p>
            <a:pPr marL="514350" indent="-514350">
              <a:buFont typeface="+mj-lt"/>
              <a:buAutoNum type="arabicPeriod"/>
            </a:pPr>
            <a:r>
              <a:rPr lang="fr-BE"/>
              <a:t>Les résultats sont traités.</a:t>
            </a:r>
          </a:p>
          <a:p>
            <a:pPr marL="0" indent="0">
              <a:buNone/>
            </a:pPr>
            <a:r>
              <a:rPr lang="fr-BE"/>
              <a:t>NB : Il est possible de recommencer 2., 3. et 4. avec d'autres valeurs.</a:t>
            </a:r>
          </a:p>
        </p:txBody>
      </p:sp>
    </p:spTree>
    <p:extLst>
      <p:ext uri="{BB962C8B-B14F-4D97-AF65-F5344CB8AC3E}">
        <p14:creationId xmlns:p14="http://schemas.microsoft.com/office/powerpoint/2010/main" val="1305312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198898-9B6C-4C64-BDA3-C107DDF70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MySQLi : Requêtes préparées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DA2C9E-FFF0-4D63-9423-03E02EDE5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1076992" cy="5044219"/>
          </a:xfrm>
        </p:spPr>
        <p:txBody>
          <a:bodyPr>
            <a:normAutofit fontScale="85000" lnSpcReduction="1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fr-BE"/>
              <a:t>La requête SQL est préparée avec des valeurs vides </a:t>
            </a:r>
          </a:p>
          <a:p>
            <a:pPr marL="914377" lvl="2" indent="0">
              <a:lnSpc>
                <a:spcPct val="120000"/>
              </a:lnSpc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$q = "SELECT * FROM myTable WHERE name =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?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AND age = </a:t>
            </a:r>
            <a:r>
              <a:rPr lang="en-US">
                <a:solidFill>
                  <a:schemeClr val="accent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?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</a:t>
            </a:r>
          </a:p>
          <a:p>
            <a:pPr marL="914377" lvl="2" indent="0">
              <a:lnSpc>
                <a:spcPct val="120000"/>
              </a:lnSpc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$stmt = mysqli_prepare($q);</a:t>
            </a:r>
          </a:p>
          <a:p>
            <a:pPr marL="742950" indent="-742950">
              <a:buFont typeface="+mj-lt"/>
              <a:buAutoNum type="arabicPeriod"/>
            </a:pPr>
            <a:r>
              <a:rPr lang="fr-BE"/>
              <a:t>Ces valeurs vides sont liées à une valeur et à un type.</a:t>
            </a:r>
          </a:p>
          <a:p>
            <a:pPr marL="914377" lvl="2" indent="0">
              <a:lnSpc>
                <a:spcPct val="120000"/>
              </a:lnSpc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$stmt-&gt;bind_param( "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",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$_POST['name']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$_POST['age'] 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fr-BE"/>
              <a:t>Cette requête est exécutée.</a:t>
            </a:r>
          </a:p>
          <a:p>
            <a:pPr marL="914377" lvl="2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$stmt-&gt;execute();</a:t>
            </a:r>
          </a:p>
          <a:p>
            <a:pPr marL="742950" indent="-742950">
              <a:buFont typeface="+mj-lt"/>
              <a:buAutoNum type="arabicPeriod"/>
            </a:pPr>
            <a:r>
              <a:rPr lang="fr-BE"/>
              <a:t>Les résultats sont traités.</a:t>
            </a:r>
          </a:p>
          <a:p>
            <a:pPr marL="457189" lvl="1" indent="0">
              <a:buNone/>
            </a:pP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$user = $stmt-&gt;fetch();</a:t>
            </a:r>
          </a:p>
          <a:p>
            <a:pPr marL="457189" lvl="1" indent="0">
              <a:buNone/>
            </a:pP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$stmt-&gt;close();</a:t>
            </a:r>
          </a:p>
        </p:txBody>
      </p:sp>
    </p:spTree>
    <p:extLst>
      <p:ext uri="{BB962C8B-B14F-4D97-AF65-F5344CB8AC3E}">
        <p14:creationId xmlns:p14="http://schemas.microsoft.com/office/powerpoint/2010/main" val="2211006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198898-9B6C-4C64-BDA3-C107DDF70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PDO : Requêtes préparées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DA2C9E-FFF0-4D63-9423-03E02EDE5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1353800" cy="5167312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BE" dirty="0"/>
              <a:t>La requête SQL est préparée avec des valeurs vides </a:t>
            </a:r>
          </a:p>
          <a:p>
            <a:pPr lvl="1"/>
            <a:r>
              <a:rPr lang="fr-BE" dirty="0"/>
              <a:t>Syntaxe : </a:t>
            </a:r>
            <a:r>
              <a:rPr lang="fr-BE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":mail"</a:t>
            </a:r>
            <a:r>
              <a:rPr lang="fr-BE" dirty="0">
                <a:latin typeface="Consolas" panose="020B0609020204030204" pitchFamily="49" charset="0"/>
              </a:rPr>
              <a:t> </a:t>
            </a:r>
            <a:r>
              <a:rPr lang="fr-BE" dirty="0"/>
              <a:t>ou </a:t>
            </a:r>
            <a:r>
              <a:rPr lang="fr-BE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":stat"</a:t>
            </a:r>
          </a:p>
          <a:p>
            <a:pPr marL="457189" lvl="1" indent="0">
              <a:lnSpc>
                <a:spcPct val="120000"/>
              </a:lnSpc>
              <a:buNone/>
            </a:pP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$q = 'SELECT * FROM users WHERE email=</a:t>
            </a:r>
            <a:r>
              <a:rPr lang="en-US" sz="26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:mail 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AND status=</a:t>
            </a:r>
            <a:r>
              <a:rPr lang="en-US" sz="26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:stat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';</a:t>
            </a:r>
            <a:endParaRPr lang="fr-BE" sz="26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457189" lvl="1" indent="0">
              <a:lnSpc>
                <a:spcPct val="120000"/>
              </a:lnSpc>
              <a:buNone/>
            </a:pP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en-US" sz="2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stmt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$</a:t>
            </a:r>
            <a:r>
              <a:rPr lang="en-US" sz="2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pdo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-&gt;prepare($q);</a:t>
            </a:r>
          </a:p>
          <a:p>
            <a:pPr marL="514350" indent="-514350">
              <a:buFont typeface="+mj-lt"/>
              <a:buAutoNum type="arabicPeriod"/>
            </a:pPr>
            <a:r>
              <a:rPr lang="fr-BE" dirty="0"/>
              <a:t>Ces valeurs vides sont liées à une valeur (</a:t>
            </a:r>
            <a:r>
              <a:rPr lang="fr-BE" dirty="0" err="1"/>
              <a:t>assoc</a:t>
            </a:r>
            <a:r>
              <a:rPr lang="fr-BE" dirty="0"/>
              <a:t> </a:t>
            </a:r>
            <a:r>
              <a:rPr lang="fr-BE" dirty="0" err="1"/>
              <a:t>array</a:t>
            </a:r>
            <a:r>
              <a:rPr lang="fr-BE" dirty="0"/>
              <a:t>).</a:t>
            </a:r>
          </a:p>
          <a:p>
            <a:pPr marL="457189" lvl="1" indent="0">
              <a:buNone/>
            </a:pPr>
            <a:r>
              <a:rPr lang="fr-BE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$</a:t>
            </a:r>
            <a:r>
              <a:rPr lang="fr-BE" sz="2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param</a:t>
            </a:r>
            <a:r>
              <a:rPr lang="fr-BE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['mail' =&gt; $email, 'stat' =&gt; $status];</a:t>
            </a:r>
            <a:endParaRPr lang="fr-BE" sz="26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fr-BE" dirty="0"/>
              <a:t>Cette requête est exécutée.</a:t>
            </a:r>
          </a:p>
          <a:p>
            <a:pPr marL="457189" lvl="1" indent="0">
              <a:buNone/>
            </a:pP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$</a:t>
            </a:r>
            <a:r>
              <a:rPr lang="en-US" sz="2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stmt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-&gt;execute($</a:t>
            </a:r>
            <a:r>
              <a:rPr lang="en-US" sz="2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param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538163" indent="-538163">
              <a:buFont typeface="+mj-lt"/>
              <a:buAutoNum type="arabicPeriod" startAt="4"/>
            </a:pPr>
            <a:r>
              <a:rPr lang="fr-BE" dirty="0"/>
              <a:t>Les résultats sont traités.</a:t>
            </a:r>
          </a:p>
          <a:p>
            <a:pPr marL="457189" lvl="1" indent="0">
              <a:buNone/>
            </a:pP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$user = $</a:t>
            </a:r>
            <a:r>
              <a:rPr lang="en-US" sz="2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stmt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-&gt;fetch();</a:t>
            </a:r>
          </a:p>
          <a:p>
            <a:pPr marL="457189" lvl="1" indent="0">
              <a:buNone/>
            </a:pP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$</a:t>
            </a:r>
            <a:r>
              <a:rPr lang="en-US" sz="2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stmt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-&gt;close();</a:t>
            </a:r>
          </a:p>
          <a:p>
            <a:pPr marL="457189" lvl="1" indent="0">
              <a:buNone/>
            </a:pPr>
            <a:endParaRPr lang="en-US" sz="31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fr-BE" dirty="0"/>
          </a:p>
          <a:p>
            <a:pPr marL="514350" indent="-514350">
              <a:buFont typeface="+mj-lt"/>
              <a:buAutoNum type="arabicPeriod"/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03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2727AC-CF36-4189-BFDC-388ADA084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SELECT : nombre de lignes retournées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E18498-773A-4C1A-8D57-3CEA8DE3D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BE" sz="4800" b="1">
                <a:solidFill>
                  <a:schemeClr val="accent5"/>
                </a:solidFill>
                <a:ea typeface="+mj-ea"/>
                <a:cs typeface="+mj-cs"/>
              </a:rPr>
              <a:t>MySQLi</a:t>
            </a:r>
          </a:p>
          <a:p>
            <a:pPr lvl="1"/>
            <a:r>
              <a:rPr lang="fr-BE"/>
              <a:t>Pour déterminer le nombre de lignes du résultat</a:t>
            </a:r>
          </a:p>
          <a:p>
            <a:pPr marL="457189" lvl="1" indent="0">
              <a:buNone/>
            </a:pPr>
            <a:r>
              <a:rPr lang="fr-BE" sz="2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$n = </a:t>
            </a:r>
            <a:r>
              <a:rPr lang="fr-BE" sz="250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mysqli_num_rows</a:t>
            </a:r>
            <a:r>
              <a:rPr lang="fr-BE" sz="2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</a:t>
            </a:r>
            <a:r>
              <a:rPr lang="fr-BE" sz="25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</a:t>
            </a:r>
            <a:r>
              <a:rPr lang="fr-BE" sz="2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lvl="1"/>
            <a:r>
              <a:rPr lang="fr-BE"/>
              <a:t>Paramètres</a:t>
            </a:r>
          </a:p>
          <a:p>
            <a:pPr lvl="2"/>
            <a:r>
              <a:rPr lang="fr-BE" sz="2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1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</a:t>
            </a:r>
            <a:endParaRPr lang="fr-BE" sz="21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/>
              <a:t>Retour</a:t>
            </a:r>
          </a:p>
          <a:p>
            <a:pPr lvl="2"/>
            <a:r>
              <a:rPr lang="fr-BE"/>
              <a:t>Nombre de lignes du résultat : </a:t>
            </a:r>
            <a:r>
              <a:rPr lang="fr-BE" sz="2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$n</a:t>
            </a:r>
          </a:p>
          <a:p>
            <a:pPr marL="0" indent="0">
              <a:buNone/>
            </a:pPr>
            <a:r>
              <a:rPr lang="fr-BE" sz="4800" b="1">
                <a:solidFill>
                  <a:schemeClr val="accent5"/>
                </a:solidFill>
                <a:ea typeface="+mj-ea"/>
                <a:cs typeface="+mj-cs"/>
              </a:rPr>
              <a:t>PDO</a:t>
            </a:r>
          </a:p>
          <a:p>
            <a:pPr lvl="1"/>
            <a:r>
              <a:rPr lang="fr-BE"/>
              <a:t>Pas de fonction équivalente</a:t>
            </a:r>
          </a:p>
          <a:p>
            <a:pPr lvl="1"/>
            <a:r>
              <a:rPr lang="fr-BE"/>
              <a:t>Utiliser une requête spécifique </a:t>
            </a:r>
          </a:p>
          <a:p>
            <a:pPr lvl="2"/>
            <a:r>
              <a:rPr lang="fr-BE" sz="2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SELECT COUNT(*) FROM …</a:t>
            </a:r>
          </a:p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81795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694692-A6E2-4DDC-9413-DFDE42867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SELECT : libérer la mémoire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D0BECC-B185-4C32-A107-F8FE7502D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1331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BE" sz="4800" b="1">
                <a:solidFill>
                  <a:schemeClr val="accent5"/>
                </a:solidFill>
                <a:ea typeface="+mj-ea"/>
                <a:cs typeface="+mj-cs"/>
              </a:rPr>
              <a:t>MySQL</a:t>
            </a:r>
          </a:p>
          <a:p>
            <a:pPr lvl="1"/>
            <a:r>
              <a:rPr lang="fr-BE"/>
              <a:t>Pour libérer la mémoire associée à un résultat</a:t>
            </a:r>
          </a:p>
          <a:p>
            <a:pPr marL="457189" lvl="1" indent="0">
              <a:buNone/>
            </a:pP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mysqli</a:t>
            </a:r>
            <a:r>
              <a:rPr lang="en-US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_free_result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($result);</a:t>
            </a:r>
            <a:endParaRPr lang="fr-BE">
              <a:latin typeface="Consolas" panose="020B0609020204030204" pitchFamily="49" charset="0"/>
            </a:endParaRPr>
          </a:p>
          <a:p>
            <a:pPr lvl="1"/>
            <a:r>
              <a:rPr lang="fr-BE"/>
              <a:t>Paramètres</a:t>
            </a:r>
          </a:p>
          <a:p>
            <a:pPr lvl="2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/>
              <a:t>Retour:</a:t>
            </a:r>
          </a:p>
          <a:p>
            <a:pPr lvl="2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</a:t>
            </a:r>
          </a:p>
          <a:p>
            <a:pPr marL="0" indent="0">
              <a:buNone/>
            </a:pPr>
            <a:r>
              <a:rPr lang="fr-BE" sz="4800" b="1">
                <a:solidFill>
                  <a:schemeClr val="accent5"/>
                </a:solidFill>
                <a:ea typeface="+mj-ea"/>
                <a:cs typeface="+mj-cs"/>
              </a:rPr>
              <a:t>PDO</a:t>
            </a:r>
          </a:p>
          <a:p>
            <a:pPr lvl="1"/>
            <a:r>
              <a:rPr lang="fr-BE"/>
              <a:t>Pas de fonction équivalente</a:t>
            </a:r>
          </a:p>
          <a:p>
            <a:pPr lvl="1"/>
            <a:r>
              <a:rPr lang="fr-BE"/>
              <a:t>Effacer l'objet libère la mémoire</a:t>
            </a:r>
          </a:p>
          <a:p>
            <a:pPr marL="914377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$result = null;</a:t>
            </a:r>
          </a:p>
          <a:p>
            <a:pPr lvl="1"/>
            <a:r>
              <a:rPr lang="fr-BE"/>
              <a:t>A vérifier dans les faits ?</a:t>
            </a:r>
          </a:p>
        </p:txBody>
      </p:sp>
    </p:spTree>
    <p:extLst>
      <p:ext uri="{BB962C8B-B14F-4D97-AF65-F5344CB8AC3E}">
        <p14:creationId xmlns:p14="http://schemas.microsoft.com/office/powerpoint/2010/main" val="1989657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610FC87-39C0-4E45-9FB1-31C7AD40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Modifier des données</a:t>
            </a:r>
            <a:br>
              <a:rPr lang="fr-BE"/>
            </a:br>
            <a:r>
              <a:rPr lang="fr-BE"/>
              <a:t>INSERT </a:t>
            </a:r>
            <a:br>
              <a:rPr lang="fr-BE"/>
            </a:br>
            <a:r>
              <a:rPr lang="fr-BE"/>
              <a:t>UPDATE</a:t>
            </a:r>
            <a:br>
              <a:rPr lang="fr-BE"/>
            </a:br>
            <a:r>
              <a:rPr lang="fr-BE"/>
              <a:t>DELETE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626F879-FDC1-4453-A559-D3AF72A9E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numCol="3">
            <a:normAutofit/>
          </a:bodyPr>
          <a:lstStyle/>
          <a:p>
            <a:r>
              <a:rPr lang="fr-BE">
                <a:solidFill>
                  <a:schemeClr val="accent2"/>
                </a:solidFill>
              </a:rPr>
              <a:t>Requêtes sans attente d'un résultat</a:t>
            </a:r>
          </a:p>
          <a:p>
            <a:endParaRPr lang="fr-BE"/>
          </a:p>
          <a:p>
            <a:r>
              <a:rPr lang="fr-BE"/>
              <a:t>mysqli_query</a:t>
            </a:r>
          </a:p>
          <a:p>
            <a:r>
              <a:rPr lang="fr-BE"/>
              <a:t>mysqli_affected_rows</a:t>
            </a:r>
          </a:p>
          <a:p>
            <a:r>
              <a:rPr lang="fr-BE"/>
              <a:t>mysqli_commit</a:t>
            </a:r>
          </a:p>
          <a:p>
            <a:r>
              <a:rPr lang="fr-BE"/>
              <a:t>new PDO</a:t>
            </a:r>
          </a:p>
          <a:p>
            <a:r>
              <a:rPr lang="fr-BE"/>
              <a:t>new PDO Statement</a:t>
            </a:r>
          </a:p>
          <a:p>
            <a:endParaRPr lang="fr-BE"/>
          </a:p>
        </p:txBody>
      </p:sp>
      <p:pic>
        <p:nvPicPr>
          <p:cNvPr id="3" name="Espace réservé pour une image  3" descr="Une image contenant dessin, lumière&#10;&#10;Description générée automatiquement">
            <a:extLst>
              <a:ext uri="{FF2B5EF4-FFF2-40B4-BE49-F238E27FC236}">
                <a16:creationId xmlns:a16="http://schemas.microsoft.com/office/drawing/2014/main" id="{FC977909-0AE3-AD89-AA02-672421D6ACD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6" r="1681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39880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DCB46F-9BFB-45C4-836F-E615FA584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MySQLi : INSERT : requête simple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D5A39A-3BEA-4B86-B391-932F73637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fr-BE"/>
              <a:t>Requêtes "non préparées"</a:t>
            </a:r>
          </a:p>
          <a:p>
            <a:pPr>
              <a:lnSpc>
                <a:spcPct val="120000"/>
              </a:lnSpc>
            </a:pPr>
            <a:r>
              <a:rPr lang="fr-BE"/>
              <a:t>Pour envoyer la requête SQL à la base de données</a:t>
            </a:r>
          </a:p>
          <a:p>
            <a:pPr marL="457189" lvl="1" indent="0">
              <a:lnSpc>
                <a:spcPct val="120000"/>
              </a:lnSpc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$b = </a:t>
            </a:r>
            <a:r>
              <a:rPr lang="fr-BE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mysqli_query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 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	"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INSERT INTO </a:t>
            </a:r>
            <a:r>
              <a:rPr lang="en-US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t_deal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(</a:t>
            </a:r>
            <a:r>
              <a:rPr lang="en-US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name_dea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b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	 VALUES ('</a:t>
            </a:r>
            <a:r>
              <a:rPr lang="en-US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partie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avec Valérie');</a:t>
            </a:r>
            <a:endParaRPr lang="fr-BE"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fr-BE"/>
              <a:t>Paramètres</a:t>
            </a:r>
          </a:p>
          <a:p>
            <a:pPr lvl="1">
              <a:lnSpc>
                <a:spcPct val="120000"/>
              </a:lnSpc>
            </a:pP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endParaRPr lang="fr-BE" sz="28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fr-BE"/>
              <a:t>String SQL : 	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INSERT INTO </a:t>
            </a:r>
            <a:r>
              <a:rPr lang="en-US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t_deal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(</a:t>
            </a:r>
            <a:r>
              <a:rPr lang="en-US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name_dea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</a:t>
            </a:r>
            <a:b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       VALUES ('</a:t>
            </a:r>
            <a:r>
              <a:rPr lang="en-US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partie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avec Valérie')"</a:t>
            </a:r>
            <a:endParaRPr lang="fr-BE" sz="28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US"/>
              <a:t>Retour </a:t>
            </a:r>
          </a:p>
          <a:p>
            <a:pPr lvl="1">
              <a:lnSpc>
                <a:spcPct val="120000"/>
              </a:lnSpc>
            </a:pPr>
            <a:r>
              <a:rPr lang="fr-BE"/>
              <a:t>Booléen, selon réussite ou échec : 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$b</a:t>
            </a:r>
          </a:p>
        </p:txBody>
      </p:sp>
    </p:spTree>
    <p:extLst>
      <p:ext uri="{BB962C8B-B14F-4D97-AF65-F5344CB8AC3E}">
        <p14:creationId xmlns:p14="http://schemas.microsoft.com/office/powerpoint/2010/main" val="3512383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198898-9B6C-4C64-BDA3-C107DDF70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MySQLi : INSERT : requête préparée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DA2C9E-FFF0-4D63-9423-03E02EDE5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742950" indent="-742950">
              <a:lnSpc>
                <a:spcPct val="110000"/>
              </a:lnSpc>
              <a:buFont typeface="+mj-lt"/>
              <a:buAutoNum type="arabicPeriod"/>
            </a:pPr>
            <a:r>
              <a:rPr lang="fr-BE"/>
              <a:t>La requête SQL est préparée avec des valeurs vides </a:t>
            </a:r>
          </a:p>
          <a:p>
            <a:pPr marL="914377" lvl="2" indent="0">
              <a:lnSpc>
                <a:spcPct val="110000"/>
              </a:lnSpc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$stmt = mysqli_prepare( $conn, </a:t>
            </a:r>
            <a:b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	"INSERT INTO myTable (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>
                <a:solidFill>
                  <a:schemeClr val="accent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age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</a:t>
            </a:r>
            <a:b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	 VALUES (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?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>
                <a:solidFill>
                  <a:schemeClr val="accent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?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");</a:t>
            </a:r>
          </a:p>
          <a:p>
            <a:pPr marL="742950" indent="-742950">
              <a:lnSpc>
                <a:spcPct val="110000"/>
              </a:lnSpc>
              <a:buFont typeface="+mj-lt"/>
              <a:buAutoNum type="arabicPeriod"/>
            </a:pPr>
            <a:r>
              <a:rPr lang="fr-BE"/>
              <a:t>Ces valeurs vides sont liées à une valeur et à un type.</a:t>
            </a:r>
          </a:p>
          <a:p>
            <a:pPr marL="914377" lvl="2" indent="0">
              <a:lnSpc>
                <a:spcPct val="110000"/>
              </a:lnSpc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$stmt-&gt;bind_param( "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>
                <a:solidFill>
                  <a:schemeClr val="accent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", </a:t>
            </a:r>
            <a:b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   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$_POST['name']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>
                <a:solidFill>
                  <a:schemeClr val="accent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$_POST['age']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742950" indent="-742950">
              <a:lnSpc>
                <a:spcPct val="110000"/>
              </a:lnSpc>
              <a:buFont typeface="+mj-lt"/>
              <a:buAutoNum type="arabicPeriod"/>
            </a:pPr>
            <a:r>
              <a:rPr lang="fr-BE"/>
              <a:t>Cette requête est exécutée.</a:t>
            </a:r>
          </a:p>
          <a:p>
            <a:pPr marL="914377" lvl="2" indent="0">
              <a:lnSpc>
                <a:spcPct val="110000"/>
              </a:lnSpc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$stmt-&gt;execute();</a:t>
            </a:r>
          </a:p>
          <a:p>
            <a:pPr marL="914377" lvl="2" indent="0">
              <a:lnSpc>
                <a:spcPct val="110000"/>
              </a:lnSpc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$stmt-&gt;close();</a:t>
            </a:r>
          </a:p>
          <a:p>
            <a:pPr marL="0" indent="0">
              <a:lnSpc>
                <a:spcPct val="110000"/>
              </a:lnSpc>
              <a:buNone/>
            </a:pPr>
            <a:endParaRPr lang="en-US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71539" lvl="1" indent="-514350">
              <a:lnSpc>
                <a:spcPct val="110000"/>
              </a:lnSpc>
              <a:buFont typeface="+mj-lt"/>
              <a:buAutoNum type="arabicPeriod"/>
            </a:pP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8604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198898-9B6C-4C64-BDA3-C107DDF70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PDO : INSERT : requête préparée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DA2C9E-FFF0-4D63-9423-03E02EDE5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38163" indent="-538163">
              <a:lnSpc>
                <a:spcPct val="120000"/>
              </a:lnSpc>
              <a:buFont typeface="+mj-lt"/>
              <a:buAutoNum type="arabicPeriod"/>
            </a:pPr>
            <a:r>
              <a:rPr lang="fr-BE"/>
              <a:t>La requête SQL est préparée avec des valeurs vides </a:t>
            </a:r>
          </a:p>
          <a:p>
            <a:pPr marL="914377" lvl="2" indent="0">
              <a:lnSpc>
                <a:spcPct val="120000"/>
              </a:lnSpc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$sql = "INSERT INTO myTable (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age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</a:t>
            </a:r>
          </a:p>
          <a:p>
            <a:pPr marL="914377" lvl="2" indent="0">
              <a:lnSpc>
                <a:spcPct val="120000"/>
              </a:lnSpc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  VALUES (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:name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:age) 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";</a:t>
            </a:r>
          </a:p>
          <a:p>
            <a:pPr marL="914377" lvl="2" indent="0">
              <a:lnSpc>
                <a:spcPct val="120000"/>
              </a:lnSpc>
              <a:buNone/>
            </a:pP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$stmt = $pdo-&gt;prepare($sql);</a:t>
            </a:r>
            <a:endParaRPr lang="en-US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538163" indent="-538163">
              <a:lnSpc>
                <a:spcPct val="120000"/>
              </a:lnSpc>
              <a:buFont typeface="+mj-lt"/>
              <a:buAutoNum type="arabicPeriod"/>
            </a:pPr>
            <a:r>
              <a:rPr lang="fr-BE"/>
              <a:t>Ces valeurs vides sont liées à une valeur [et à un type] (assoc array).</a:t>
            </a:r>
          </a:p>
          <a:p>
            <a:pPr marL="914377" lvl="2" indent="0">
              <a:lnSpc>
                <a:spcPct val="120000"/>
              </a:lnSpc>
              <a:buNone/>
            </a:pP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$param = 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	</a:t>
            </a:r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=&gt;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$_POST['name']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</a:p>
          <a:p>
            <a:pPr marL="914377" lvl="2" indent="0">
              <a:lnSpc>
                <a:spcPct val="120000"/>
              </a:lnSpc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  <a:r>
              <a:rPr lang="en-US" sz="280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'age'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=&gt; </a:t>
            </a:r>
            <a:r>
              <a:rPr lang="en-US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$_POST['age'] </a:t>
            </a: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  <a:endParaRPr lang="fr-BE" sz="28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fr-BE"/>
              <a:t>Cette requête est exécutée.</a:t>
            </a:r>
          </a:p>
          <a:p>
            <a:pPr marL="457189" lvl="1" indent="0">
              <a:lnSpc>
                <a:spcPct val="120000"/>
              </a:lnSpc>
              <a:buNone/>
            </a:pP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$stmt-&gt;execute($param);</a:t>
            </a:r>
          </a:p>
        </p:txBody>
      </p:sp>
    </p:spTree>
    <p:extLst>
      <p:ext uri="{BB962C8B-B14F-4D97-AF65-F5344CB8AC3E}">
        <p14:creationId xmlns:p14="http://schemas.microsoft.com/office/powerpoint/2010/main" val="13517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455157-C67F-4F6B-8E23-6696284AE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fr-BE"/>
              <a:t>MySQLi : INSERT : nombre lignes affectées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DF7EA1-E325-434D-BA7C-F71EACC48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Pour déterminer le nombre de lignes affectées par la dernière opération</a:t>
            </a:r>
          </a:p>
          <a:p>
            <a:pPr lvl="1"/>
            <a:r>
              <a:rPr lang="fr-BE"/>
              <a:t>pour vérifier si la requête s'est bien déroulée</a:t>
            </a:r>
          </a:p>
          <a:p>
            <a:pPr marL="457189" lvl="1" indent="0">
              <a:buNone/>
            </a:pPr>
            <a:r>
              <a:rPr lang="fr-BE" sz="27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$n = </a:t>
            </a:r>
            <a:r>
              <a:rPr lang="fr-BE" sz="270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mysqli_affected_rows</a:t>
            </a:r>
            <a:r>
              <a:rPr lang="fr-BE" sz="27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</a:t>
            </a:r>
            <a:r>
              <a:rPr lang="fr-BE" sz="27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r>
              <a:rPr lang="fr-BE" sz="27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fr-BE"/>
              <a:t>Paramètres</a:t>
            </a:r>
          </a:p>
          <a:p>
            <a:pPr lvl="1"/>
            <a:r>
              <a:rPr lang="fr-BE" sz="27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7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endParaRPr lang="fr-BE" sz="27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fr-BE"/>
              <a:t>Retour</a:t>
            </a:r>
          </a:p>
          <a:p>
            <a:pPr lvl="1"/>
            <a:r>
              <a:rPr lang="fr-BE"/>
              <a:t>Nombre de lignes affectées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$n</a:t>
            </a:r>
            <a:r>
              <a:rPr lang="fr-BE"/>
              <a:t> (entier positif)</a:t>
            </a:r>
          </a:p>
          <a:p>
            <a:pPr lvl="1"/>
            <a:r>
              <a:rPr lang="fr-BE"/>
              <a:t>Si erreur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-1</a:t>
            </a:r>
          </a:p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6877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455157-C67F-4F6B-8E23-6696284AE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fr-BE"/>
              <a:t>PDO : INSERT : nombre lignes affectées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DF7EA1-E325-434D-BA7C-F71EACC48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Pour déterminer le nombre de lignes affectées par la dernière opération</a:t>
            </a:r>
          </a:p>
          <a:p>
            <a:pPr lvl="1"/>
            <a:r>
              <a:rPr lang="fr-BE"/>
              <a:t>pour vérifier si la requête s'est bien déroulée</a:t>
            </a:r>
          </a:p>
          <a:p>
            <a:pPr marL="457189" lvl="1" indent="0">
              <a:buNone/>
            </a:pPr>
            <a:r>
              <a:rPr lang="fr-BE" sz="27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$n = $stmt-&gt;rowCount();</a:t>
            </a:r>
          </a:p>
          <a:p>
            <a:r>
              <a:rPr lang="fr-BE"/>
              <a:t>Paramètres</a:t>
            </a:r>
          </a:p>
          <a:p>
            <a:pPr lvl="1"/>
            <a:r>
              <a:rPr lang="fr-BE"/>
              <a:t>-</a:t>
            </a:r>
          </a:p>
          <a:p>
            <a:r>
              <a:rPr lang="fr-BE"/>
              <a:t>Retour</a:t>
            </a:r>
          </a:p>
          <a:p>
            <a:pPr lvl="1"/>
            <a:r>
              <a:rPr lang="fr-BE"/>
              <a:t>Nombre de lignes affectées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$n</a:t>
            </a:r>
            <a:r>
              <a:rPr lang="fr-BE"/>
              <a:t> (entier positif)</a:t>
            </a:r>
          </a:p>
          <a:p>
            <a:pPr lvl="1"/>
            <a:r>
              <a:rPr lang="fr-BE"/>
              <a:t>Si erreur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E_WARNING</a:t>
            </a:r>
            <a:r>
              <a:rPr lang="fr-BE">
                <a:latin typeface="Consolas" panose="020B0609020204030204" pitchFamily="49" charset="0"/>
              </a:rPr>
              <a:t> </a:t>
            </a:r>
            <a:r>
              <a:rPr lang="fr-BE"/>
              <a:t>ou 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PDOException</a:t>
            </a:r>
            <a:r>
              <a:rPr lang="fr-BE"/>
              <a:t> </a:t>
            </a:r>
          </a:p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9825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88171C-30E4-47AD-974C-8795E9557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MySQLi : INSERT : exécuter la requête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133FD0-E637-416A-B04B-4C3B7C041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Pour faire exécuter définitivement la requête SQL par la base de données</a:t>
            </a:r>
          </a:p>
          <a:p>
            <a:pPr marL="457189" lvl="1" indent="0">
              <a:buNone/>
            </a:pPr>
            <a:r>
              <a:rPr lang="fr-BE" sz="2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$b = </a:t>
            </a:r>
            <a:r>
              <a:rPr lang="fr-BE" sz="250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mysqli_commit</a:t>
            </a:r>
            <a:r>
              <a:rPr lang="fr-BE" sz="2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</a:t>
            </a:r>
            <a:r>
              <a:rPr lang="fr-BE" sz="25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r>
              <a:rPr lang="fr-BE" sz="2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fr-BE"/>
              <a:t>Paramètres </a:t>
            </a:r>
          </a:p>
          <a:p>
            <a:pPr lvl="1"/>
            <a:r>
              <a:rPr lang="fr-BE" sz="2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5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endParaRPr lang="fr-BE" sz="25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fr-BE"/>
              <a:t>Retour </a:t>
            </a:r>
          </a:p>
          <a:p>
            <a:pPr lvl="1"/>
            <a:r>
              <a:rPr lang="fr-BE"/>
              <a:t>Booléen, selon réussite ou échec : </a:t>
            </a:r>
            <a:r>
              <a:rPr lang="fr-BE" sz="2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$b</a:t>
            </a:r>
          </a:p>
        </p:txBody>
      </p:sp>
    </p:spTree>
    <p:extLst>
      <p:ext uri="{BB962C8B-B14F-4D97-AF65-F5344CB8AC3E}">
        <p14:creationId xmlns:p14="http://schemas.microsoft.com/office/powerpoint/2010/main" val="712558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88171C-30E4-47AD-974C-8795E9557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PDO : INSERT : exécuter la requête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133FD0-E637-416A-B04B-4C3B7C041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Pour faire exécuter définitivement la requête SQL par la base de données</a:t>
            </a:r>
          </a:p>
          <a:p>
            <a:pPr marL="457189" lvl="1" indent="0">
              <a:buNone/>
            </a:pP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$b = $pdo-&gt;</a:t>
            </a:r>
            <a:r>
              <a:rPr lang="fr-BE" sz="28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commit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  <a:endParaRPr lang="fr-BE" sz="25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fr-BE"/>
              <a:t>Paramètres </a:t>
            </a:r>
          </a:p>
          <a:p>
            <a:pPr lvl="1"/>
            <a:r>
              <a:rPr lang="fr-BE"/>
              <a:t>-</a:t>
            </a:r>
          </a:p>
          <a:p>
            <a:r>
              <a:rPr lang="fr-BE"/>
              <a:t>Retour </a:t>
            </a:r>
          </a:p>
          <a:p>
            <a:pPr lvl="1"/>
            <a:r>
              <a:rPr lang="fr-BE"/>
              <a:t>Booléen, selon réussite ou échec : </a:t>
            </a:r>
            <a:r>
              <a:rPr lang="fr-BE" sz="2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$b</a:t>
            </a:r>
          </a:p>
          <a:p>
            <a:r>
              <a:rPr lang="fr-BE"/>
              <a:t>Amis</a:t>
            </a:r>
          </a:p>
          <a:p>
            <a:pPr lvl="1"/>
            <a:r>
              <a:rPr lang="fr-BE" sz="2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$pdo-&gt;rollBack();</a:t>
            </a:r>
          </a:p>
        </p:txBody>
      </p:sp>
    </p:spTree>
    <p:extLst>
      <p:ext uri="{BB962C8B-B14F-4D97-AF65-F5344CB8AC3E}">
        <p14:creationId xmlns:p14="http://schemas.microsoft.com/office/powerpoint/2010/main" val="2737526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610FC87-39C0-4E45-9FB1-31C7AD40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Fermer la connexion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626F879-FDC1-4453-A559-D3AF72A9E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mysqli_close</a:t>
            </a:r>
          </a:p>
        </p:txBody>
      </p:sp>
      <p:pic>
        <p:nvPicPr>
          <p:cNvPr id="2" name="Espace réservé pour une image  3" descr="Une image contenant dessin, lumière&#10;&#10;Description générée automatiquement">
            <a:extLst>
              <a:ext uri="{FF2B5EF4-FFF2-40B4-BE49-F238E27FC236}">
                <a16:creationId xmlns:a16="http://schemas.microsoft.com/office/drawing/2014/main" id="{DB9CAF22-8C54-7246-9AD0-07D3B5AA38D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6" r="1681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74080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3794C3-5AE2-4228-A8D6-9BA336D0A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Déconnexion de la base de données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6D32D2-D7E2-418B-98AB-507F1C359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BE" sz="5200" b="1">
                <a:solidFill>
                  <a:schemeClr val="accent5"/>
                </a:solidFill>
                <a:ea typeface="+mj-ea"/>
                <a:cs typeface="+mj-cs"/>
              </a:rPr>
              <a:t>MySQL</a:t>
            </a:r>
          </a:p>
          <a:p>
            <a:pPr lvl="1"/>
            <a:r>
              <a:rPr lang="fr-BE"/>
              <a:t>Pour libérer les ressources, en fermant la connexion avec la base de données</a:t>
            </a:r>
          </a:p>
          <a:p>
            <a:pPr marL="457189" lvl="1" indent="0">
              <a:buNone/>
            </a:pPr>
            <a:r>
              <a:rPr lang="fr-BE" sz="2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$b = </a:t>
            </a:r>
            <a:r>
              <a:rPr lang="fr-BE" sz="25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mysqli_close</a:t>
            </a:r>
            <a:r>
              <a:rPr lang="fr-BE" sz="2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</a:t>
            </a:r>
            <a:r>
              <a:rPr lang="fr-BE" sz="25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r>
              <a:rPr lang="fr-BE" sz="25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lvl="1"/>
            <a:r>
              <a:rPr lang="fr-BE"/>
              <a:t>Paramètres</a:t>
            </a:r>
          </a:p>
          <a:p>
            <a:pPr lvl="2"/>
            <a:r>
              <a:rPr lang="fr-BE" sz="2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1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endParaRPr lang="fr-BE" sz="21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/>
              <a:t>Retour </a:t>
            </a:r>
          </a:p>
          <a:p>
            <a:pPr lvl="2"/>
            <a:r>
              <a:rPr lang="fr-BE"/>
              <a:t>Booléen, selon réussite ou échec : </a:t>
            </a:r>
            <a:r>
              <a:rPr lang="fr-BE" sz="2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$b</a:t>
            </a:r>
          </a:p>
          <a:p>
            <a:pPr marL="0" indent="0">
              <a:buNone/>
            </a:pPr>
            <a:r>
              <a:rPr lang="fr-BE" sz="5700" b="1">
                <a:solidFill>
                  <a:schemeClr val="accent5"/>
                </a:solidFill>
                <a:ea typeface="+mj-ea"/>
                <a:cs typeface="+mj-cs"/>
              </a:rPr>
              <a:t>PDO</a:t>
            </a:r>
            <a:r>
              <a:rPr lang="fr-BE"/>
              <a:t> </a:t>
            </a:r>
          </a:p>
          <a:p>
            <a:pPr lvl="1"/>
            <a:r>
              <a:rPr lang="fr-BE"/>
              <a:t>Pas de fonction équivalente</a:t>
            </a:r>
          </a:p>
          <a:p>
            <a:pPr lvl="1"/>
            <a:r>
              <a:rPr lang="fr-BE"/>
              <a:t>Effacer l'objet libère la mémoire</a:t>
            </a:r>
          </a:p>
          <a:p>
            <a:pPr marL="914377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$pdo = null;</a:t>
            </a:r>
          </a:p>
          <a:p>
            <a:pPr lvl="1"/>
            <a:r>
              <a:rPr lang="fr-BE"/>
              <a:t>A vérifier dans les faits ?</a:t>
            </a:r>
          </a:p>
          <a:p>
            <a:pPr lvl="1"/>
            <a:endParaRPr lang="fr-BE" sz="25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215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610FC87-39C0-4E45-9FB1-31C7AD40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626F879-FDC1-4453-A559-D3AF72A9E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exo02 : sur base de mysqli</a:t>
            </a:r>
          </a:p>
          <a:p>
            <a:r>
              <a:rPr lang="fr-BE"/>
              <a:t>exo03 : sur base du PDO </a:t>
            </a:r>
          </a:p>
          <a:p>
            <a:r>
              <a:rPr lang="fr-BE"/>
              <a:t>exo 12-14 : sur base de MVC (obsolète, TBC )</a:t>
            </a:r>
          </a:p>
        </p:txBody>
      </p:sp>
      <p:pic>
        <p:nvPicPr>
          <p:cNvPr id="2" name="Espace réservé pour une image  3" descr="Une image contenant dessin, lumière&#10;&#10;Description générée automatiquement">
            <a:extLst>
              <a:ext uri="{FF2B5EF4-FFF2-40B4-BE49-F238E27FC236}">
                <a16:creationId xmlns:a16="http://schemas.microsoft.com/office/drawing/2014/main" id="{F3085F36-EBED-D476-838A-7ACCC9D89A3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6" r="1681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81783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844DD6-A5CD-4231-A26B-53D4A668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02 : MySQLi </a:t>
            </a:r>
            <a:br>
              <a:rPr lang="fr-BE"/>
            </a:br>
            <a:r>
              <a:rPr lang="fr-BE"/>
              <a:t>en pratique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DB8CC7-CC90-4F6F-B7E5-06EB1CF3C9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307067" cy="4351339"/>
          </a:xfrm>
        </p:spPr>
        <p:txBody>
          <a:bodyPr>
            <a:normAutofit/>
          </a:bodyPr>
          <a:lstStyle/>
          <a:p>
            <a:r>
              <a:rPr lang="fr-BE"/>
              <a:t>Fichier d'exemple</a:t>
            </a:r>
          </a:p>
          <a:p>
            <a:pPr lvl="1"/>
            <a:r>
              <a:rPr lang="en-US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exo02_mysqli.php</a:t>
            </a:r>
            <a:endParaRPr lang="fr-BE" sz="30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/>
              <a:t>Téléchargez, installez, faites tourner,</a:t>
            </a:r>
          </a:p>
          <a:p>
            <a:pPr lvl="1"/>
            <a:r>
              <a:rPr lang="fr-BE"/>
              <a:t>Disséquez le code </a:t>
            </a:r>
          </a:p>
          <a:p>
            <a:r>
              <a:rPr lang="fr-BE"/>
              <a:t>Cf extraits du code sur les slides suivants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FF31271-5124-4196-8DF7-2B74713493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18996" y="160189"/>
            <a:ext cx="4445374" cy="669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880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844DD6-A5CD-4231-A26B-53D4A668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02 : connexion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DB8CC7-CC90-4F6F-B7E5-06EB1CF3C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Toujours en début de code </a:t>
            </a:r>
          </a:p>
          <a:p>
            <a:pPr lvl="1"/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$conn = </a:t>
            </a:r>
            <a:r>
              <a:rPr lang="en-US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mysqli_connect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 "localhost",</a:t>
            </a:r>
            <a:b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"root", "", "4ipdw_sample" );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fr-BE"/>
              <a:t>Toujours en fin de code </a:t>
            </a:r>
          </a:p>
          <a:p>
            <a:pPr lvl="1"/>
            <a:r>
              <a:rPr lang="fr-BE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mysqli_close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58029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20444A-6AC8-4394-9CAA-AE7F911C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02 : INSERT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DE3CF7-F37C-47F3-9A6F-3141AFC79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Composer la requête en langage SQL </a:t>
            </a:r>
          </a:p>
          <a:p>
            <a:pPr marL="989013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$q = "INSERT INTO 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t_deal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(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name_dea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VALUES ('$deal');";</a:t>
            </a:r>
          </a:p>
          <a:p>
            <a:r>
              <a:rPr lang="fr-BE"/>
              <a:t>Exécuter la requête d'insertion</a:t>
            </a:r>
          </a:p>
          <a:p>
            <a:pPr marL="989013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fr-BE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mysqli_query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$q );</a:t>
            </a:r>
          </a:p>
          <a:p>
            <a:r>
              <a:rPr lang="fr-BE"/>
              <a:t>Compter le nombre de lignes affectées </a:t>
            </a:r>
          </a:p>
          <a:p>
            <a:pPr marL="989013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$n = </a:t>
            </a:r>
            <a:r>
              <a:rPr lang="fr-BE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mysqli_affected_rows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fr-BE"/>
              <a:t>Confirmer l'insertion</a:t>
            </a:r>
          </a:p>
          <a:p>
            <a:pPr marL="989013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$b = </a:t>
            </a:r>
            <a:r>
              <a:rPr lang="fr-BE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mysqli_commit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conn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151251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20444A-6AC8-4394-9CAA-AE7F911C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02 : SELECT (1/3)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DE3CF7-F37C-47F3-9A6F-3141AFC79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Composer la requête en langage SQL </a:t>
            </a:r>
          </a:p>
          <a:p>
            <a:pPr marL="989013" lvl="2" indent="0">
              <a:buNone/>
            </a:pP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$q  = "SELECT </a:t>
            </a:r>
            <a:r>
              <a:rPr lang="en-US" sz="31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name_dea</a:t>
            </a: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AS </a:t>
            </a:r>
            <a:r>
              <a:rPr lang="en-US" sz="31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partie</a:t>
            </a: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b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FROM </a:t>
            </a:r>
            <a:r>
              <a:rPr lang="en-US" sz="31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t_deal</a:t>
            </a: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b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WHERE </a:t>
            </a:r>
            <a:r>
              <a:rPr lang="en-US" sz="31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is_active_dea</a:t>
            </a: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IS TRUE;";</a:t>
            </a:r>
            <a:endParaRPr lang="fr-BE" sz="31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fr-BE"/>
              <a:t>Exécuter la requête de sélection </a:t>
            </a:r>
          </a:p>
          <a:p>
            <a:pPr marL="534988" lvl="1" indent="0">
              <a:buNone/>
            </a:pPr>
            <a:r>
              <a:rPr lang="en-US">
                <a:latin typeface="Consolas" panose="020B0609020204030204" pitchFamily="49" charset="0"/>
              </a:rPr>
              <a:t>	</a:t>
            </a: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$result = </a:t>
            </a:r>
            <a:r>
              <a:rPr lang="en-US" sz="310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mysqli_query</a:t>
            </a: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($conn, $q );</a:t>
            </a:r>
            <a:r>
              <a:rPr lang="en-US">
                <a:latin typeface="Consolas" panose="020B0609020204030204" pitchFamily="49" charset="0"/>
              </a:rPr>
              <a:t>	</a:t>
            </a:r>
          </a:p>
          <a:p>
            <a:pPr marL="0" indent="0">
              <a:buNone/>
            </a:pPr>
            <a:r>
              <a:rPr lang="fr-BE"/>
              <a:t>./..</a:t>
            </a:r>
          </a:p>
        </p:txBody>
      </p:sp>
    </p:spTree>
    <p:extLst>
      <p:ext uri="{BB962C8B-B14F-4D97-AF65-F5344CB8AC3E}">
        <p14:creationId xmlns:p14="http://schemas.microsoft.com/office/powerpoint/2010/main" val="442477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20444A-6AC8-4394-9CAA-AE7F911C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02 : SELECT (2/3)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DE3CF7-F37C-47F3-9A6F-3141AFC79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9"/>
          </a:xfrm>
        </p:spPr>
        <p:txBody>
          <a:bodyPr>
            <a:normAutofit/>
          </a:bodyPr>
          <a:lstStyle/>
          <a:p>
            <a:r>
              <a:rPr lang="en-US" err="1"/>
              <a:t>Soit</a:t>
            </a:r>
            <a:r>
              <a:rPr lang="en-US"/>
              <a:t> : </a:t>
            </a:r>
            <a:r>
              <a:rPr lang="en-US" err="1"/>
              <a:t>Traiter</a:t>
            </a:r>
            <a:r>
              <a:rPr lang="en-US"/>
              <a:t> le </a:t>
            </a:r>
            <a:r>
              <a:rPr lang="en-US" err="1"/>
              <a:t>résultat</a:t>
            </a:r>
            <a:r>
              <a:rPr lang="en-US"/>
              <a:t> </a:t>
            </a:r>
            <a:r>
              <a:rPr lang="en-US" err="1"/>
              <a:t>ligne</a:t>
            </a:r>
            <a:r>
              <a:rPr lang="en-US"/>
              <a:t> par </a:t>
            </a:r>
            <a:r>
              <a:rPr lang="en-US" err="1"/>
              <a:t>ligne</a:t>
            </a:r>
            <a:endParaRPr lang="en-US"/>
          </a:p>
          <a:p>
            <a:pPr marL="989013" lvl="2" indent="0">
              <a:buNone/>
            </a:pPr>
            <a:r>
              <a:rPr lang="fr-BE" sz="31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while</a:t>
            </a: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(</a:t>
            </a:r>
            <a:r>
              <a:rPr lang="fr-BE" sz="31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310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row</a:t>
            </a:r>
            <a:r>
              <a:rPr lang="fr-BE" sz="31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</a:t>
            </a:r>
            <a:r>
              <a:rPr lang="fr-BE" sz="310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mysqli_fetch_array</a:t>
            </a: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</a:t>
            </a:r>
            <a:r>
              <a:rPr lang="fr-BE" sz="31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</a:t>
            </a: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))</a:t>
            </a:r>
            <a:r>
              <a:rPr lang="fr-BE">
                <a:latin typeface="Consolas" panose="020B0609020204030204" pitchFamily="49" charset="0"/>
              </a:rPr>
              <a:t>	</a:t>
            </a:r>
          </a:p>
          <a:p>
            <a:pPr marL="989013" lvl="2" indent="0">
              <a:buNone/>
            </a:pP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989013" lvl="2" indent="0">
              <a:buNone/>
            </a:pP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fr-BE" sz="31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echo</a:t>
            </a: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"&lt;div&gt;{</a:t>
            </a:r>
            <a:r>
              <a:rPr lang="fr-BE" sz="31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310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row</a:t>
            </a: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['partie']}&lt;/div&gt;";</a:t>
            </a:r>
          </a:p>
          <a:p>
            <a:pPr marL="989013" lvl="2" indent="0">
              <a:buNone/>
            </a:pP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fr-BE"/>
              <a:t>./..</a:t>
            </a:r>
          </a:p>
        </p:txBody>
      </p:sp>
    </p:spTree>
    <p:extLst>
      <p:ext uri="{BB962C8B-B14F-4D97-AF65-F5344CB8AC3E}">
        <p14:creationId xmlns:p14="http://schemas.microsoft.com/office/powerpoint/2010/main" val="3882382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20444A-6AC8-4394-9CAA-AE7F911C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02 : SELECT (3/3)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DE3CF7-F37C-47F3-9A6F-3141AFC79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9"/>
          </a:xfrm>
        </p:spPr>
        <p:txBody>
          <a:bodyPr>
            <a:normAutofit/>
          </a:bodyPr>
          <a:lstStyle/>
          <a:p>
            <a:r>
              <a:rPr lang="en-US" err="1"/>
              <a:t>Soit</a:t>
            </a:r>
            <a:r>
              <a:rPr lang="en-US"/>
              <a:t> : </a:t>
            </a:r>
            <a:r>
              <a:rPr lang="en-US" err="1"/>
              <a:t>Traiter</a:t>
            </a:r>
            <a:r>
              <a:rPr lang="en-US"/>
              <a:t> le </a:t>
            </a:r>
            <a:r>
              <a:rPr lang="en-US" err="1"/>
              <a:t>résultat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un bloc</a:t>
            </a:r>
          </a:p>
          <a:p>
            <a:pPr marL="989013" lvl="2" indent="0">
              <a:buNone/>
            </a:pPr>
            <a:r>
              <a:rPr lang="en-US" sz="260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en-US" sz="260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deal_a</a:t>
            </a:r>
            <a:r>
              <a:rPr lang="en-US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US" sz="260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mysqli_fetch_all</a:t>
            </a:r>
            <a:r>
              <a:rPr lang="en-US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($result, MYSQLI_ASSOC);</a:t>
            </a:r>
            <a:endParaRPr lang="fr-BE" sz="2600">
              <a:latin typeface="Consolas" panose="020B0609020204030204" pitchFamily="49" charset="0"/>
            </a:endParaRPr>
          </a:p>
          <a:p>
            <a:pPr marL="989013" lvl="2" indent="0">
              <a:buNone/>
            </a:pPr>
            <a:r>
              <a:rPr lang="fr-BE" sz="26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foreach</a:t>
            </a:r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 </a:t>
            </a:r>
            <a:r>
              <a:rPr lang="fr-BE" sz="260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60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deal_a</a:t>
            </a:r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as </a:t>
            </a:r>
            <a:r>
              <a:rPr lang="fr-BE" sz="26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60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row</a:t>
            </a:r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)</a:t>
            </a:r>
          </a:p>
          <a:p>
            <a:pPr marL="989013" lvl="2" indent="0">
              <a:buNone/>
            </a:pPr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989013" lvl="2" indent="0">
              <a:buNone/>
            </a:pPr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fr-BE" sz="26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echo</a:t>
            </a:r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"&lt;div&gt;{</a:t>
            </a:r>
            <a:r>
              <a:rPr lang="fr-BE" sz="26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60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row</a:t>
            </a:r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['partie']}&lt;/div&gt;";</a:t>
            </a:r>
          </a:p>
          <a:p>
            <a:pPr marL="989013" lvl="2" indent="0">
              <a:buNone/>
            </a:pPr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fr-BE"/>
              <a:t>Libérer la mémoire</a:t>
            </a:r>
          </a:p>
          <a:p>
            <a:pPr marL="914377" lvl="2" indent="0">
              <a:buNone/>
            </a:pPr>
            <a:r>
              <a:rPr lang="fr-BE" sz="260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mysqli_free_result</a:t>
            </a:r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</a:t>
            </a:r>
            <a:r>
              <a:rPr lang="fr-BE" sz="26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</a:t>
            </a:r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endParaRPr lang="fr-BE" sz="39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167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844DD6-A5CD-4231-A26B-53D4A668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03 : PDO en pratique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DB8CC7-CC90-4F6F-B7E5-06EB1CF3C9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307067" cy="4351339"/>
          </a:xfrm>
        </p:spPr>
        <p:txBody>
          <a:bodyPr>
            <a:normAutofit/>
          </a:bodyPr>
          <a:lstStyle/>
          <a:p>
            <a:r>
              <a:rPr lang="fr-BE"/>
              <a:t>Fichier d'exemple</a:t>
            </a:r>
          </a:p>
          <a:p>
            <a:pPr lvl="1"/>
            <a:r>
              <a:rPr lang="en-US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exo03_pdo.php</a:t>
            </a:r>
            <a:endParaRPr lang="fr-BE" sz="30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/>
              <a:t>Téléchargez, installez, faites tourner,</a:t>
            </a:r>
          </a:p>
          <a:p>
            <a:pPr lvl="1"/>
            <a:r>
              <a:rPr lang="fr-BE"/>
              <a:t>Disséquez le code </a:t>
            </a:r>
          </a:p>
          <a:p>
            <a:r>
              <a:rPr lang="fr-BE"/>
              <a:t>Cf extraits du code sur les slides suivants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FF31271-5124-4196-8DF7-2B74713493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18996" y="160189"/>
            <a:ext cx="4445374" cy="669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447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844DD6-A5CD-4231-A26B-53D4A668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03 : connexion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DB8CC7-CC90-4F6F-B7E5-06EB1CF3C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1353800" cy="4486276"/>
          </a:xfrm>
        </p:spPr>
        <p:txBody>
          <a:bodyPr/>
          <a:lstStyle/>
          <a:p>
            <a:r>
              <a:rPr lang="fr-BE"/>
              <a:t>Toujours en début de code </a:t>
            </a:r>
          </a:p>
          <a:p>
            <a:pPr marL="914377" lvl="2" indent="0">
              <a:buNone/>
            </a:pP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$dsn = "mysql:host=</a:t>
            </a:r>
            <a:r>
              <a:rPr lang="fr-BE" sz="24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localhost</a:t>
            </a: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;dbname=</a:t>
            </a:r>
            <a:r>
              <a:rPr lang="fr-BE" sz="24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sample</a:t>
            </a: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;";</a:t>
            </a:r>
          </a:p>
          <a:p>
            <a:pPr marL="914377" lvl="2" indent="0">
              <a:buNone/>
            </a:pP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$pdo = new </a:t>
            </a:r>
            <a:r>
              <a:rPr lang="fr-BE" sz="24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PDO</a:t>
            </a: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 $dsn, "root", "" );</a:t>
            </a:r>
          </a:p>
          <a:p>
            <a:r>
              <a:rPr lang="fr-BE"/>
              <a:t>Toujours en fin de code </a:t>
            </a:r>
          </a:p>
          <a:p>
            <a:pPr marL="914377" lvl="2" indent="0">
              <a:buNone/>
            </a:pP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609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20444A-6AC8-4394-9CAA-AE7F911C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03 : INSERT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DE3CF7-F37C-47F3-9A6F-3141AFC79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/>
              <a:t>Composer la requête en langage SQL </a:t>
            </a:r>
          </a:p>
          <a:p>
            <a:pPr marL="989013" lvl="2" indent="0">
              <a:buNone/>
            </a:pP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$q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"INSERT INTO 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t_deal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(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name_dea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VALUES (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?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);";</a:t>
            </a:r>
          </a:p>
          <a:p>
            <a:r>
              <a:rPr lang="fr-BE"/>
              <a:t>Exécuter la requête d'insertion</a:t>
            </a:r>
          </a:p>
          <a:p>
            <a:pPr marL="989013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$pdo-&gt;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beginTransaction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pPr marL="989013" lvl="2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$stmt = $pdo-&gt;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prepare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$q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989013" lvl="2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$stmt-&gt;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execute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([$deal]);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fr-BE"/>
              <a:t>Compter le nombre de lignes affectées </a:t>
            </a:r>
          </a:p>
          <a:p>
            <a:pPr marL="989013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$n = $stmt-&gt;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rowCount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fr-BE"/>
              <a:t>Confirmer l'insertion</a:t>
            </a:r>
          </a:p>
          <a:p>
            <a:pPr marL="989013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$pdo-&gt;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commit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69684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20444A-6AC8-4394-9CAA-AE7F911C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03 : SELECT (1/3)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DE3CF7-F37C-47F3-9A6F-3141AFC79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Composer la requête en langage SQL </a:t>
            </a:r>
          </a:p>
          <a:p>
            <a:pPr marL="989013" lvl="2" indent="0">
              <a:buNone/>
            </a:pPr>
            <a:r>
              <a:rPr lang="en-US" sz="31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$q  </a:t>
            </a: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"SELECT </a:t>
            </a:r>
            <a:r>
              <a:rPr lang="en-US" sz="31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name_dea</a:t>
            </a: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AS </a:t>
            </a:r>
            <a:r>
              <a:rPr lang="en-US" sz="31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partie</a:t>
            </a: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b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FROM </a:t>
            </a:r>
            <a:r>
              <a:rPr lang="en-US" sz="31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t_deal</a:t>
            </a: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b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WHERE </a:t>
            </a:r>
            <a:r>
              <a:rPr lang="en-US" sz="31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is_active_dea</a:t>
            </a:r>
            <a:r>
              <a:rPr lang="en-US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IS TRUE;";</a:t>
            </a:r>
            <a:endParaRPr lang="fr-BE" sz="31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fr-BE"/>
              <a:t>Exécuter la requête de sélection </a:t>
            </a:r>
          </a:p>
          <a:p>
            <a:pPr marL="534988" lvl="1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	$stmt = $pdo-&gt;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query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chemeClr val="accent5"/>
                </a:solidFill>
                <a:latin typeface="Consolas" panose="020B0609020204030204" pitchFamily="49" charset="0"/>
              </a:rPr>
              <a:t>$q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fr-BE"/>
              <a:t>./..</a:t>
            </a:r>
          </a:p>
        </p:txBody>
      </p:sp>
    </p:spTree>
    <p:extLst>
      <p:ext uri="{BB962C8B-B14F-4D97-AF65-F5344CB8AC3E}">
        <p14:creationId xmlns:p14="http://schemas.microsoft.com/office/powerpoint/2010/main" val="3610868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20444A-6AC8-4394-9CAA-AE7F911C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03 : SELECT (2/3)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DE3CF7-F37C-47F3-9A6F-3141AFC79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9"/>
          </a:xfrm>
        </p:spPr>
        <p:txBody>
          <a:bodyPr>
            <a:normAutofit/>
          </a:bodyPr>
          <a:lstStyle/>
          <a:p>
            <a:r>
              <a:rPr lang="en-US" err="1"/>
              <a:t>Soit</a:t>
            </a:r>
            <a:r>
              <a:rPr lang="en-US"/>
              <a:t> : </a:t>
            </a:r>
            <a:r>
              <a:rPr lang="en-US" err="1"/>
              <a:t>Traiter</a:t>
            </a:r>
            <a:r>
              <a:rPr lang="en-US"/>
              <a:t> le </a:t>
            </a:r>
            <a:r>
              <a:rPr lang="en-US" err="1"/>
              <a:t>résultat</a:t>
            </a:r>
            <a:r>
              <a:rPr lang="en-US"/>
              <a:t> </a:t>
            </a:r>
            <a:r>
              <a:rPr lang="en-US" err="1"/>
              <a:t>ligne</a:t>
            </a:r>
            <a:r>
              <a:rPr lang="en-US"/>
              <a:t> par </a:t>
            </a:r>
            <a:r>
              <a:rPr lang="en-US" err="1"/>
              <a:t>ligne</a:t>
            </a:r>
            <a:endParaRPr lang="en-US"/>
          </a:p>
          <a:p>
            <a:pPr marL="989013" lvl="2" indent="0">
              <a:buNone/>
            </a:pP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while (</a:t>
            </a:r>
            <a:r>
              <a:rPr lang="fr-BE" sz="31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$row</a:t>
            </a: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$stmt-&gt;</a:t>
            </a:r>
            <a:r>
              <a:rPr lang="fr-BE" sz="31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fetch</a:t>
            </a: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())</a:t>
            </a:r>
          </a:p>
          <a:p>
            <a:pPr marL="989013" lvl="2" indent="0">
              <a:buNone/>
            </a:pP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989013" lvl="2" indent="0">
              <a:buNone/>
            </a:pP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echo "&lt;div&gt;{</a:t>
            </a:r>
            <a:r>
              <a:rPr lang="fr-BE" sz="31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$row</a:t>
            </a: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['partie']}&lt;/div&gt;";</a:t>
            </a:r>
          </a:p>
          <a:p>
            <a:pPr marL="989013" lvl="2" indent="0">
              <a:buNone/>
            </a:pPr>
            <a:r>
              <a:rPr lang="fr-BE" sz="31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fr-BE"/>
              <a:t>./..</a:t>
            </a:r>
          </a:p>
        </p:txBody>
      </p:sp>
    </p:spTree>
    <p:extLst>
      <p:ext uri="{BB962C8B-B14F-4D97-AF65-F5344CB8AC3E}">
        <p14:creationId xmlns:p14="http://schemas.microsoft.com/office/powerpoint/2010/main" val="266311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20444A-6AC8-4394-9CAA-AE7F911C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03 : SELECT (3/3)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DE3CF7-F37C-47F3-9A6F-3141AFC79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9"/>
          </a:xfrm>
        </p:spPr>
        <p:txBody>
          <a:bodyPr>
            <a:normAutofit/>
          </a:bodyPr>
          <a:lstStyle/>
          <a:p>
            <a:r>
              <a:rPr lang="en-US" dirty="0" err="1"/>
              <a:t>Soit</a:t>
            </a:r>
            <a:r>
              <a:rPr lang="en-US" dirty="0"/>
              <a:t> : </a:t>
            </a:r>
            <a:r>
              <a:rPr lang="en-US" dirty="0" err="1"/>
              <a:t>Traiter</a:t>
            </a:r>
            <a:r>
              <a:rPr lang="en-US" dirty="0"/>
              <a:t> le </a:t>
            </a:r>
            <a:r>
              <a:rPr lang="en-US" dirty="0" err="1"/>
              <a:t>résultat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bloc</a:t>
            </a:r>
          </a:p>
          <a:p>
            <a:pPr marL="989013" lvl="2" indent="0">
              <a:buNone/>
            </a:pPr>
            <a:r>
              <a:rPr lang="en-US" sz="2600" dirty="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en-US" sz="26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deal_a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stmt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fr-BE" sz="28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fetchAll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(POO::FETCH_ASSOC);</a:t>
            </a:r>
            <a:endParaRPr lang="fr-BE" sz="2600" dirty="0">
              <a:latin typeface="Consolas" panose="020B0609020204030204" pitchFamily="49" charset="0"/>
            </a:endParaRPr>
          </a:p>
          <a:p>
            <a:pPr marL="989013" lvl="2" indent="0">
              <a:buNone/>
            </a:pPr>
            <a:r>
              <a:rPr lang="fr-BE" sz="2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foreach</a:t>
            </a:r>
            <a:r>
              <a:rPr lang="fr-BE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 </a:t>
            </a:r>
            <a:r>
              <a:rPr lang="fr-BE" sz="2600" dirty="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6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deal_a</a:t>
            </a:r>
            <a:r>
              <a:rPr lang="fr-BE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as </a:t>
            </a:r>
            <a:r>
              <a:rPr lang="fr-BE" sz="26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600" dirty="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row</a:t>
            </a:r>
            <a:r>
              <a:rPr lang="fr-BE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)</a:t>
            </a:r>
          </a:p>
          <a:p>
            <a:pPr marL="989013" lvl="2" indent="0">
              <a:buNone/>
            </a:pPr>
            <a:r>
              <a:rPr lang="fr-BE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989013" lvl="2" indent="0">
              <a:buNone/>
            </a:pPr>
            <a:r>
              <a:rPr lang="fr-BE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fr-BE" sz="2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echo</a:t>
            </a:r>
            <a:r>
              <a:rPr lang="fr-BE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"&lt;div&gt;{</a:t>
            </a:r>
            <a:r>
              <a:rPr lang="fr-BE" sz="26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2600" dirty="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row</a:t>
            </a:r>
            <a:r>
              <a:rPr lang="fr-BE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['partie']}&lt;/div&gt;";</a:t>
            </a:r>
          </a:p>
          <a:p>
            <a:pPr marL="989013" lvl="2" indent="0">
              <a:buNone/>
            </a:pPr>
            <a:r>
              <a:rPr lang="fr-BE" sz="2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fr-BE" dirty="0"/>
              <a:t>Libérer la mémoire</a:t>
            </a:r>
          </a:p>
          <a:p>
            <a:pPr marL="914377" lvl="2" indent="0">
              <a:buNone/>
            </a:pPr>
            <a:r>
              <a:rPr lang="fr-BE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710259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C9B30A-7587-4EC3-A381-848A21A7F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04 : variante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08F182-4FFA-4AB6-B167-314F4AA13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Réalisez une application web permettant </a:t>
            </a:r>
          </a:p>
          <a:p>
            <a:pPr lvl="1"/>
            <a:r>
              <a:rPr lang="fr-BE"/>
              <a:t>d'introduire un nouveau </a:t>
            </a:r>
            <a:r>
              <a:rPr lang="fr-BE" b="1">
                <a:solidFill>
                  <a:schemeClr val="accent2"/>
                </a:solidFill>
              </a:rPr>
              <a:t>score</a:t>
            </a:r>
            <a:r>
              <a:rPr lang="fr-BE"/>
              <a:t> dans la base, à partir d'un formulaire.</a:t>
            </a:r>
          </a:p>
          <a:p>
            <a:pPr lvl="1"/>
            <a:r>
              <a:rPr lang="fr-BE"/>
              <a:t>d'afficher les scores courants</a:t>
            </a:r>
          </a:p>
          <a:p>
            <a:pPr lvl="1"/>
            <a:r>
              <a:rPr lang="fr-BE"/>
              <a:t>architecture similaire à l'exo 24-02.</a:t>
            </a:r>
          </a:p>
        </p:txBody>
      </p:sp>
    </p:spTree>
    <p:extLst>
      <p:ext uri="{BB962C8B-B14F-4D97-AF65-F5344CB8AC3E}">
        <p14:creationId xmlns:p14="http://schemas.microsoft.com/office/powerpoint/2010/main" val="154030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C9B30A-7587-4EC3-A381-848A21A7F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12 : MVC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08F182-4FFA-4AB6-B167-314F4AA13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/>
              <a:t>Convertissez cette application en MVC.</a:t>
            </a:r>
          </a:p>
          <a:p>
            <a:r>
              <a:rPr lang="fr-BE"/>
              <a:t>Conseils</a:t>
            </a:r>
          </a:p>
          <a:p>
            <a:pPr lvl="1"/>
            <a:r>
              <a:rPr lang="fr-BE"/>
              <a:t>Ne réinventez pas la roue ! Récupérez vos développements précédents (</a:t>
            </a:r>
            <a:r>
              <a:rPr lang="fr-BE" err="1"/>
              <a:t>html_helper</a:t>
            </a:r>
            <a:r>
              <a:rPr lang="fr-BE"/>
              <a:t>, </a:t>
            </a:r>
            <a:r>
              <a:rPr lang="fr-BE" err="1"/>
              <a:t>db_helper</a:t>
            </a:r>
            <a:r>
              <a:rPr lang="fr-BE"/>
              <a:t>, etc.). Enrichissez vos bibliothèques par de nouvelles fonctions.</a:t>
            </a:r>
          </a:p>
          <a:p>
            <a:pPr lvl="1"/>
            <a:r>
              <a:rPr lang="fr-BE"/>
              <a:t>INSERT : </a:t>
            </a:r>
            <a:r>
              <a:rPr lang="fr-BE">
                <a:solidFill>
                  <a:schemeClr val="accent2"/>
                </a:solidFill>
              </a:rPr>
              <a:t>Controller</a:t>
            </a:r>
            <a:r>
              <a:rPr lang="fr-BE"/>
              <a:t> envoie les données du </a:t>
            </a:r>
            <a:r>
              <a:rPr lang="fr-BE" err="1"/>
              <a:t>form</a:t>
            </a:r>
            <a:r>
              <a:rPr lang="fr-BE"/>
              <a:t> à </a:t>
            </a:r>
            <a:r>
              <a:rPr lang="fr-BE">
                <a:solidFill>
                  <a:schemeClr val="accent2"/>
                </a:solidFill>
              </a:rPr>
              <a:t>Model</a:t>
            </a:r>
            <a:r>
              <a:rPr lang="fr-BE"/>
              <a:t> qui gère la connexion avec la base.</a:t>
            </a:r>
          </a:p>
          <a:p>
            <a:pPr lvl="1"/>
            <a:r>
              <a:rPr lang="fr-BE"/>
              <a:t>SELECT : </a:t>
            </a:r>
            <a:r>
              <a:rPr lang="fr-BE">
                <a:solidFill>
                  <a:schemeClr val="accent2"/>
                </a:solidFill>
              </a:rPr>
              <a:t>Controller</a:t>
            </a:r>
            <a:r>
              <a:rPr lang="fr-BE" i="1"/>
              <a:t> </a:t>
            </a:r>
            <a:r>
              <a:rPr lang="fr-BE"/>
              <a:t>demande à </a:t>
            </a:r>
            <a:r>
              <a:rPr lang="fr-BE" err="1">
                <a:solidFill>
                  <a:schemeClr val="accent2"/>
                </a:solidFill>
              </a:rPr>
              <a:t>View</a:t>
            </a:r>
            <a:r>
              <a:rPr lang="fr-BE" i="1"/>
              <a:t> </a:t>
            </a:r>
            <a:r>
              <a:rPr lang="fr-BE"/>
              <a:t>d'afficher la liste des parties.  </a:t>
            </a:r>
            <a:r>
              <a:rPr lang="fr-BE" err="1">
                <a:solidFill>
                  <a:schemeClr val="accent2"/>
                </a:solidFill>
              </a:rPr>
              <a:t>View</a:t>
            </a:r>
            <a:r>
              <a:rPr lang="fr-BE" i="1"/>
              <a:t> </a:t>
            </a:r>
            <a:r>
              <a:rPr lang="fr-BE"/>
              <a:t>demande alors à </a:t>
            </a:r>
            <a:r>
              <a:rPr lang="fr-BE">
                <a:solidFill>
                  <a:schemeClr val="accent2"/>
                </a:solidFill>
              </a:rPr>
              <a:t>Model</a:t>
            </a:r>
            <a:r>
              <a:rPr lang="fr-BE" i="1"/>
              <a:t> </a:t>
            </a:r>
            <a:r>
              <a:rPr lang="fr-BE"/>
              <a:t>les données (associative </a:t>
            </a:r>
            <a:r>
              <a:rPr lang="fr-BE" err="1"/>
              <a:t>array</a:t>
            </a:r>
            <a:r>
              <a:rPr lang="fr-BE"/>
              <a:t>) et les affiche.</a:t>
            </a:r>
          </a:p>
        </p:txBody>
      </p:sp>
    </p:spTree>
    <p:extLst>
      <p:ext uri="{BB962C8B-B14F-4D97-AF65-F5344CB8AC3E}">
        <p14:creationId xmlns:p14="http://schemas.microsoft.com/office/powerpoint/2010/main" val="1116234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B7214A-522F-48BA-8E57-E597D988B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14 : search engine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2F7941-4B19-4663-B266-2DD17EA5C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Sur base de l'exo 12, ajoutez un </a:t>
            </a:r>
            <a:r>
              <a:rPr lang="fr-BE">
                <a:solidFill>
                  <a:schemeClr val="accent2"/>
                </a:solidFill>
              </a:rPr>
              <a:t>outil de recherche</a:t>
            </a:r>
            <a:r>
              <a:rPr lang="fr-BE"/>
              <a:t>.</a:t>
            </a:r>
          </a:p>
          <a:p>
            <a:pPr lvl="1"/>
            <a:r>
              <a:rPr lang="fr-BE"/>
              <a:t>Input field</a:t>
            </a:r>
          </a:p>
          <a:p>
            <a:pPr lvl="1"/>
            <a:r>
              <a:rPr lang="fr-BE"/>
              <a:t>Requête SQL adaptée </a:t>
            </a:r>
          </a:p>
          <a:p>
            <a:r>
              <a:rPr lang="fr-BE"/>
              <a:t>Pas question d'écrire un code nouveau ou un algorithme comme du temps du CSV. Il suffit de modifier quelques lignes de l'application.</a:t>
            </a:r>
          </a:p>
          <a:p>
            <a:r>
              <a:rPr lang="fr-BE"/>
              <a:t>L'architecture MVC est un atout pour ce genre de travail.</a:t>
            </a:r>
          </a:p>
        </p:txBody>
      </p:sp>
    </p:spTree>
    <p:extLst>
      <p:ext uri="{BB962C8B-B14F-4D97-AF65-F5344CB8AC3E}">
        <p14:creationId xmlns:p14="http://schemas.microsoft.com/office/powerpoint/2010/main" val="3342318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B7214A-522F-48BA-8E57-E597D988B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fr-BE"/>
              <a:t>Exo 14 : search engine</a:t>
            </a:r>
          </a:p>
        </p:txBody>
      </p:sp>
      <p:pic>
        <p:nvPicPr>
          <p:cNvPr id="7" name="Espace réservé du contenu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4B665031-4589-4FE7-B272-2AFB52D26CE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2400" y="2289992"/>
            <a:ext cx="5181600" cy="2969398"/>
          </a:xfrm>
          <a:noFill/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214F4CE-61E7-4E36-AA77-86894E8D1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38775" y="1495425"/>
            <a:ext cx="6667499" cy="5276849"/>
          </a:xfrm>
        </p:spPr>
        <p:txBody>
          <a:bodyPr>
            <a:normAutofit/>
          </a:bodyPr>
          <a:lstStyle/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if( ! empty(</a:t>
            </a:r>
            <a:r>
              <a:rPr lang="en-US" sz="2000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$search_word</a:t>
            </a: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200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il y a des mots-clés de recherche 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$q = &lt;&lt;&lt; SQL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  <a:r>
              <a:rPr lang="en-US" sz="20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SELECT name_dea AS partie 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FROM t_deal 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  <a:r>
              <a:rPr lang="en-US" sz="20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WHERE name_dea LIKE "%</a:t>
            </a:r>
            <a:r>
              <a:rPr lang="en-US" sz="2000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$search_word</a:t>
            </a:r>
            <a:r>
              <a:rPr lang="en-US" sz="20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%"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SQL;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200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il n'y a pas de mot-clé de recherche</a:t>
            </a: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$q = &lt;&lt;&lt; SQL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  <a:r>
              <a:rPr lang="en-US" sz="20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SELECT name_dea AS partie 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FROM t_deal 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SQL;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7D632C0B-F24F-451E-81ED-4446EE54D596}"/>
              </a:ext>
            </a:extLst>
          </p:cNvPr>
          <p:cNvCxnSpPr/>
          <p:nvPr/>
        </p:nvCxnSpPr>
        <p:spPr>
          <a:xfrm flipV="1">
            <a:off x="1200150" y="1762125"/>
            <a:ext cx="6115050" cy="1114425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93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urotix">
  <a:themeElements>
    <a:clrScheme name="Custom 4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DD3D1"/>
      </a:accent1>
      <a:accent2>
        <a:srgbClr val="1963A1"/>
      </a:accent2>
      <a:accent3>
        <a:srgbClr val="E5CBAD"/>
      </a:accent3>
      <a:accent4>
        <a:srgbClr val="5DF5F3"/>
      </a:accent4>
      <a:accent5>
        <a:srgbClr val="56A4E4"/>
      </a:accent5>
      <a:accent6>
        <a:srgbClr val="EFDFCD"/>
      </a:accent6>
      <a:hlink>
        <a:srgbClr val="000000"/>
      </a:hlink>
      <a:folHlink>
        <a:srgbClr val="3F3F3F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lides discret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rotix2025.potm" id="{9A679E22-159F-4468-BD25-5554C2F5C34C}" vid="{02412E46-CBBA-45C1-A7EE-8401C077A5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burotix2025</Template>
  <TotalTime>12128</TotalTime>
  <Words>3742</Words>
  <Application>Microsoft Office PowerPoint</Application>
  <PresentationFormat>Grand écran</PresentationFormat>
  <Paragraphs>577</Paragraphs>
  <Slides>60</Slides>
  <Notes>5</Notes>
  <HiddenSlides>2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60</vt:i4>
      </vt:variant>
      <vt:variant>
        <vt:lpstr>Diaporamas personnalisés</vt:lpstr>
      </vt:variant>
      <vt:variant>
        <vt:i4>1</vt:i4>
      </vt:variant>
    </vt:vector>
  </HeadingPairs>
  <TitlesOfParts>
    <vt:vector size="69" baseType="lpstr">
      <vt:lpstr>Arial</vt:lpstr>
      <vt:lpstr>Calibri</vt:lpstr>
      <vt:lpstr>Cambria Math</vt:lpstr>
      <vt:lpstr>Consolas</vt:lpstr>
      <vt:lpstr>Courier New</vt:lpstr>
      <vt:lpstr>Garamond</vt:lpstr>
      <vt:lpstr>Wingdings</vt:lpstr>
      <vt:lpstr>burotix</vt:lpstr>
      <vt:lpstr>Bachelier en Informatique de Gestion  Web : principes de base Projet de Développement Web</vt:lpstr>
      <vt:lpstr>Table des matières</vt:lpstr>
      <vt:lpstr>24. Base de données SQL</vt:lpstr>
      <vt:lpstr>Configuration</vt:lpstr>
      <vt:lpstr>Configuration  MySQL Engine</vt:lpstr>
      <vt:lpstr>Pourquoi InnoDB Engine ? </vt:lpstr>
      <vt:lpstr>Accéder à l'interface d'administration MySQL</vt:lpstr>
      <vt:lpstr>Exo 01 : importation de base de données</vt:lpstr>
      <vt:lpstr>Importer un script SQL  dans une base de données MySQL</vt:lpstr>
      <vt:lpstr>Importer un fichier CSV dans une base de données MySQL</vt:lpstr>
      <vt:lpstr>Exporter une base de données MySQL</vt:lpstr>
      <vt:lpstr>MySQL et PHP</vt:lpstr>
      <vt:lpstr>Lier PHP et une base de données</vt:lpstr>
      <vt:lpstr>MySQLi  : fonctions PHP</vt:lpstr>
      <vt:lpstr>MySQLi : objets et méthodes PHP</vt:lpstr>
      <vt:lpstr>PDO : objets et méthodes PHP</vt:lpstr>
      <vt:lpstr>Références</vt:lpstr>
      <vt:lpstr>Ouvrir la connexion</vt:lpstr>
      <vt:lpstr>MySQLi : Connexion à la base de données</vt:lpstr>
      <vt:lpstr>MySQLi : Connexion à la base de données</vt:lpstr>
      <vt:lpstr>PDO : Connexion à la base de données</vt:lpstr>
      <vt:lpstr>Connexion à la base de données</vt:lpstr>
      <vt:lpstr>Consulter des données SELECT</vt:lpstr>
      <vt:lpstr>MySQLi : SELECT : requête simple</vt:lpstr>
      <vt:lpstr>MySQLi : SELECT : le résultat, ligne par ligne</vt:lpstr>
      <vt:lpstr>MySQLi : SELECT : tout le résultat d'un coup</vt:lpstr>
      <vt:lpstr>Requêtes préparées : motivation</vt:lpstr>
      <vt:lpstr>Requêtes préparées : injection SQL </vt:lpstr>
      <vt:lpstr>Requêtes préparées : principe</vt:lpstr>
      <vt:lpstr>MySQLi : Requêtes préparées</vt:lpstr>
      <vt:lpstr>PDO : Requêtes préparées</vt:lpstr>
      <vt:lpstr>SELECT : nombre de lignes retournées</vt:lpstr>
      <vt:lpstr>SELECT : libérer la mémoire</vt:lpstr>
      <vt:lpstr>Modifier des données INSERT  UPDATE DELETE</vt:lpstr>
      <vt:lpstr>MySQLi : INSERT : requête simple</vt:lpstr>
      <vt:lpstr>MySQLi : INSERT : requête préparée</vt:lpstr>
      <vt:lpstr>PDO : INSERT : requête préparée</vt:lpstr>
      <vt:lpstr>MySQLi : INSERT : nombre lignes affectées</vt:lpstr>
      <vt:lpstr>PDO : INSERT : nombre lignes affectées</vt:lpstr>
      <vt:lpstr>MySQLi : INSERT : exécuter la requête</vt:lpstr>
      <vt:lpstr>PDO : INSERT : exécuter la requête</vt:lpstr>
      <vt:lpstr>Fermer la connexion</vt:lpstr>
      <vt:lpstr>Déconnexion de la base de données </vt:lpstr>
      <vt:lpstr>Exos</vt:lpstr>
      <vt:lpstr>Exo 02 : MySQLi  en pratique</vt:lpstr>
      <vt:lpstr>Exo 02 : connexion</vt:lpstr>
      <vt:lpstr>Exo 02 : INSERT</vt:lpstr>
      <vt:lpstr>Exo 02 : SELECT (1/3)</vt:lpstr>
      <vt:lpstr>Exo 02 : SELECT (2/3)</vt:lpstr>
      <vt:lpstr>Exo 02 : SELECT (3/3)</vt:lpstr>
      <vt:lpstr>Exo 03 : PDO en pratique</vt:lpstr>
      <vt:lpstr>Exo 03 : connexion</vt:lpstr>
      <vt:lpstr>Exo 03 : INSERT</vt:lpstr>
      <vt:lpstr>Exo 03 : SELECT (1/3)</vt:lpstr>
      <vt:lpstr>Exo 03 : SELECT (2/3)</vt:lpstr>
      <vt:lpstr>Exo 03 : SELECT (3/3)</vt:lpstr>
      <vt:lpstr>Exo 04 : variante</vt:lpstr>
      <vt:lpstr>Exo 12 : MVC</vt:lpstr>
      <vt:lpstr>Exo 14 : search engine</vt:lpstr>
      <vt:lpstr>Exo 14 : search engine</vt:lpstr>
      <vt:lpstr>cefora powerpoint 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Bachelier en Informatique de Gestion  Projet de Développement Web</dc:title>
  <dc:creator>Alain Wafflard</dc:creator>
  <cp:lastModifiedBy>Alain Wafflard</cp:lastModifiedBy>
  <cp:revision>155</cp:revision>
  <dcterms:created xsi:type="dcterms:W3CDTF">2020-03-25T16:55:22Z</dcterms:created>
  <dcterms:modified xsi:type="dcterms:W3CDTF">2026-09-07T12:06:17Z</dcterms:modified>
</cp:coreProperties>
</file>