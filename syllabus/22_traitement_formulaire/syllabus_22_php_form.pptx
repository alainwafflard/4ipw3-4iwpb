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7" r:id="rId1"/>
  </p:sldMasterIdLst>
  <p:notesMasterIdLst>
    <p:notesMasterId r:id="rId42"/>
  </p:notesMasterIdLst>
  <p:sldIdLst>
    <p:sldId id="416" r:id="rId2"/>
    <p:sldId id="408" r:id="rId3"/>
    <p:sldId id="352" r:id="rId4"/>
    <p:sldId id="606" r:id="rId5"/>
    <p:sldId id="647" r:id="rId6"/>
    <p:sldId id="646" r:id="rId7"/>
    <p:sldId id="353" r:id="rId8"/>
    <p:sldId id="354" r:id="rId9"/>
    <p:sldId id="649" r:id="rId10"/>
    <p:sldId id="648" r:id="rId11"/>
    <p:sldId id="605" r:id="rId12"/>
    <p:sldId id="357" r:id="rId13"/>
    <p:sldId id="362" r:id="rId14"/>
    <p:sldId id="367" r:id="rId15"/>
    <p:sldId id="517" r:id="rId16"/>
    <p:sldId id="638" r:id="rId17"/>
    <p:sldId id="448" r:id="rId18"/>
    <p:sldId id="451" r:id="rId19"/>
    <p:sldId id="452" r:id="rId20"/>
    <p:sldId id="453" r:id="rId21"/>
    <p:sldId id="471" r:id="rId22"/>
    <p:sldId id="641" r:id="rId23"/>
    <p:sldId id="472" r:id="rId24"/>
    <p:sldId id="460" r:id="rId25"/>
    <p:sldId id="461" r:id="rId26"/>
    <p:sldId id="462" r:id="rId27"/>
    <p:sldId id="463" r:id="rId28"/>
    <p:sldId id="464" r:id="rId29"/>
    <p:sldId id="465" r:id="rId30"/>
    <p:sldId id="467" r:id="rId31"/>
    <p:sldId id="468" r:id="rId32"/>
    <p:sldId id="607" r:id="rId33"/>
    <p:sldId id="608" r:id="rId34"/>
    <p:sldId id="609" r:id="rId35"/>
    <p:sldId id="610" r:id="rId36"/>
    <p:sldId id="611" r:id="rId37"/>
    <p:sldId id="612" r:id="rId38"/>
    <p:sldId id="613" r:id="rId39"/>
    <p:sldId id="642" r:id="rId40"/>
    <p:sldId id="643" r:id="rId41"/>
  </p:sldIdLst>
  <p:sldSz cx="12192000" cy="6858000"/>
  <p:notesSz cx="6858000" cy="9144000"/>
  <p:custShowLst>
    <p:custShow name="cefora powerpoint base" id="0">
      <p:sldLst/>
    </p:custShow>
  </p:custShowLst>
  <p:defaultTextStyle>
    <a:defPPr>
      <a:defRPr lang="fr-FR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22 traitement formulaire" id="{08DFCFE3-79D6-440F-BB58-C288840FDF0A}">
          <p14:sldIdLst>
            <p14:sldId id="416"/>
            <p14:sldId id="408"/>
            <p14:sldId id="352"/>
            <p14:sldId id="606"/>
            <p14:sldId id="647"/>
            <p14:sldId id="646"/>
            <p14:sldId id="353"/>
            <p14:sldId id="354"/>
            <p14:sldId id="649"/>
            <p14:sldId id="648"/>
            <p14:sldId id="605"/>
            <p14:sldId id="357"/>
            <p14:sldId id="362"/>
            <p14:sldId id="367"/>
            <p14:sldId id="517"/>
            <p14:sldId id="638"/>
            <p14:sldId id="448"/>
            <p14:sldId id="451"/>
            <p14:sldId id="452"/>
            <p14:sldId id="453"/>
            <p14:sldId id="471"/>
            <p14:sldId id="641"/>
            <p14:sldId id="472"/>
            <p14:sldId id="460"/>
            <p14:sldId id="461"/>
            <p14:sldId id="462"/>
            <p14:sldId id="463"/>
            <p14:sldId id="464"/>
            <p14:sldId id="465"/>
            <p14:sldId id="467"/>
            <p14:sldId id="468"/>
            <p14:sldId id="607"/>
            <p14:sldId id="608"/>
            <p14:sldId id="609"/>
            <p14:sldId id="610"/>
            <p14:sldId id="611"/>
            <p14:sldId id="612"/>
            <p14:sldId id="613"/>
            <p14:sldId id="642"/>
            <p14:sldId id="64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ain Wafflard" initials="AW" lastIdx="1" clrIdx="0">
    <p:extLst>
      <p:ext uri="{19B8F6BF-5375-455C-9EA6-DF929625EA0E}">
        <p15:presenceInfo xmlns:p15="http://schemas.microsoft.com/office/powerpoint/2012/main" userId="76bb5ce92a207b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FF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4" autoAdjust="0"/>
    <p:restoredTop sz="86419" autoAdjust="0"/>
  </p:normalViewPr>
  <p:slideViewPr>
    <p:cSldViewPr snapToGrid="0">
      <p:cViewPr varScale="1">
        <p:scale>
          <a:sx n="58" d="100"/>
          <a:sy n="58" d="100"/>
        </p:scale>
        <p:origin x="102" y="9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355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9742F-4DAE-47F5-9244-6ACC3985DD6B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3842A0-1A3F-4998-8237-CE5EEE5DFDF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560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/>
              <a:t>1</a:t>
            </a:fld>
            <a:endParaRPr/>
          </a:p>
        </p:txBody>
      </p:sp>
      <p:sp>
        <p:nvSpPr>
          <p:cNvPr id="53" name="Google Shape;5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GESTIONNAIRE DE BASE DE DONNEES – NIVEAU ELEMENTAIRE - MS ACCESS</a:t>
            </a: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Professeur : Alain Wafflard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5268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ae4b1ffd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ae4b1ffd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0299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ae4b1ffd_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ae4b1ffd_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1530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3EB04D6E-8DAA-9F1E-D64F-5CF2864D1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af1ccaf6_015:notes">
            <a:extLst>
              <a:ext uri="{FF2B5EF4-FFF2-40B4-BE49-F238E27FC236}">
                <a16:creationId xmlns:a16="http://schemas.microsoft.com/office/drawing/2014/main" id="{B808C508-0120-D2BD-6FD5-EA6FF2436B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af1ccaf6_015:notes">
            <a:extLst>
              <a:ext uri="{FF2B5EF4-FFF2-40B4-BE49-F238E27FC236}">
                <a16:creationId xmlns:a16="http://schemas.microsoft.com/office/drawing/2014/main" id="{8C98AEC4-B7E6-07D8-AFEA-6296F304B5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9371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ae4b1ffd_0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ae4b1ffd_0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4894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ae4b1ffd_0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ae4b1ffd_0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1165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7b4200d84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7b4200d84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60077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28d8db6e_0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28d8db6e_0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1471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dc672069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dc672069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52757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dc672069_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dc672069_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73325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dc672069_0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dc672069_0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0410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dc672069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dc672069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39423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28d8db6e_0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28d8db6e_0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50775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e0fb6f38_0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e0fb6f38_0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36477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e0fb6f38_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e0fb6f38_0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42194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e0fb6f38_0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1e0fb6f38_0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08299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e0fb6f38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e0fb6f38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41588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e0fb6f38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e0fb6f38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29141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e0fb6f38_0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e0fb6f38_0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62471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9196d74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9196d74e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4139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28d8db6e_0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28d8db6e_0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43441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e0fb6f38_0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e0fb6f38_0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81246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9196d74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9196d74e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0503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 algn="ctr"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8EFA58-10A1-BAA7-B65E-A754A43B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4B8606-B65F-6EB2-899E-91B5C83E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FA919-3ED3-80D3-E61B-53F97BE6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56831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8EF8D-0946-4672-F93D-1040FBC9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8A40D7-7FAD-432F-7B9F-71125A56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A3E5DF-3F32-A840-9AC0-4B04DF1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08179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D67B63-F450-35EF-442C-62311487D2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C20ED6-7274-FD2F-773B-9069D53732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282271-26EC-908B-2E9D-6EE95CFBEB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32937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BD7575-5E4D-B6F7-D511-002E7EBB1A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7AA542-0BD3-6896-CFBC-925661457E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1D4A95-E4A4-1574-4F11-DE8F196135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42986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3EE368-836F-D6B7-3720-94E515B8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0FC0D1-460C-5274-B67A-CADD3011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5E82B2-87DB-8B8E-12FD-843E8135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82410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05DBAD-E815-DA9F-C843-1DE122AA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44211E-58E3-3B61-D18C-DCC7772A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F2F6A2-3605-D138-CBD4-299C105E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6178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23E5C8-1D92-E25A-D482-9866759B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ACAADE-10AC-A5C6-B021-C668BC20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BD460E-C94D-0F17-7C77-D32F9CC1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2041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1099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0"/>
            <a:ext cx="617220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3BACDB-1022-3581-CB46-1F85D702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8F4609-0312-F825-CC91-FAC10F3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F0E555-3A77-670E-9C69-DE1D8DE2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3894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7641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85747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userDrawn="1">
  <p:cSld name="1_Compara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6"/>
          <p:cNvSpPr txBox="1">
            <a:spLocks noGrp="1"/>
          </p:cNvSpPr>
          <p:nvPr>
            <p:ph type="body" idx="3"/>
          </p:nvPr>
        </p:nvSpPr>
        <p:spPr>
          <a:xfrm>
            <a:off x="4394864" y="1677195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6"/>
          <p:cNvSpPr txBox="1">
            <a:spLocks noGrp="1"/>
          </p:cNvSpPr>
          <p:nvPr>
            <p:ph type="body" idx="4"/>
          </p:nvPr>
        </p:nvSpPr>
        <p:spPr>
          <a:xfrm>
            <a:off x="4394863" y="2501107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44;p146">
            <a:extLst>
              <a:ext uri="{FF2B5EF4-FFF2-40B4-BE49-F238E27FC236}">
                <a16:creationId xmlns:a16="http://schemas.microsoft.com/office/drawing/2014/main" id="{2E687717-1647-0388-990E-8851C964199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7949940" y="1690688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" name="Google Shape;45;p146">
            <a:extLst>
              <a:ext uri="{FF2B5EF4-FFF2-40B4-BE49-F238E27FC236}">
                <a16:creationId xmlns:a16="http://schemas.microsoft.com/office/drawing/2014/main" id="{D8C59DA1-11B0-4EEA-43AC-8402AF228130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7949937" y="2529543"/>
            <a:ext cx="3433923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6142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3148E-CCCA-4F1F-A836-655D884BB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952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29B381-A1A5-FC30-27CA-947A26903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FB2116-0A00-B6AB-43FF-F23B8EB09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59067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53" r:id="rId10"/>
    <p:sldLayoutId id="2147483852" r:id="rId11"/>
    <p:sldLayoutId id="2147483867" r:id="rId12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ddit.com/r/learnprogramming/comments/12ikg84/mpa_vs_spa_are_we_overcomplicating_web_development/?tl=fr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.i.com.com/cnwk.1d/i/tim/2011/01/18/HTML5_Logo_550px_270x270.png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gif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fr-BE" dirty="0"/>
              <a:t>Bachelier en Informatique de Gestion</a:t>
            </a:r>
            <a:br>
              <a:rPr lang="fr-BE" dirty="0"/>
            </a:br>
            <a:br>
              <a:rPr lang="fr-BE"/>
            </a:br>
            <a:r>
              <a:rPr lang="fr-BE"/>
              <a:t>Web </a:t>
            </a:r>
            <a:r>
              <a:rPr lang="fr-BE" dirty="0"/>
              <a:t>: principes </a:t>
            </a:r>
            <a:r>
              <a:rPr lang="fr-BE"/>
              <a:t>de base</a:t>
            </a:r>
            <a:br>
              <a:rPr lang="fr-BE"/>
            </a:br>
            <a:r>
              <a:rPr lang="fr-BE"/>
              <a:t>Projet de Développement Web</a:t>
            </a:r>
            <a:endParaRPr lang="fr-BE" dirty="0"/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fr-BE" dirty="0"/>
              <a:t>Enseignement supérieur économique de type court</a:t>
            </a:r>
          </a:p>
          <a:p>
            <a:pPr lvl="0"/>
            <a:r>
              <a:rPr lang="fr-BE" dirty="0"/>
              <a:t>Code </a:t>
            </a:r>
            <a:r>
              <a:rPr lang="fr-BE" dirty="0" err="1"/>
              <a:t>FWB</a:t>
            </a:r>
            <a:r>
              <a:rPr lang="fr-BE"/>
              <a:t> : 7534 29 U32 D1, 7534 30 U32 D3</a:t>
            </a:r>
          </a:p>
          <a:p>
            <a:pPr lvl="0"/>
            <a:r>
              <a:rPr lang="fr-BE"/>
              <a:t>Code ISFCE : 4IWPB, 4IPW3</a:t>
            </a:r>
          </a:p>
          <a:p>
            <a:pPr lvl="0"/>
            <a:endParaRPr lang="fr-BE"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6447" y="5094815"/>
            <a:ext cx="1674557" cy="167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Table des matières</a:t>
            </a:r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676143"/>
          </a:xfr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rmAutofit/>
          </a:bodyPr>
          <a:lstStyle/>
          <a:p>
            <a:pPr lvl="0"/>
            <a:r>
              <a:rPr lang="fr-FR"/>
              <a:t>Généralités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1162652-D4A8-152D-F88F-9B8516AF877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353338"/>
            <a:ext cx="3419999" cy="383632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fr-BE" sz="2400"/>
              <a:t>01. Introduction au web</a:t>
            </a:r>
          </a:p>
          <a:p>
            <a:pPr marL="114300" indent="0">
              <a:buNone/>
            </a:pPr>
            <a:r>
              <a:rPr lang="fr-BE" sz="2400"/>
              <a:t>03. Outils</a:t>
            </a:r>
          </a:p>
          <a:p>
            <a:pPr marL="114300" indent="0">
              <a:buNone/>
            </a:pPr>
            <a:r>
              <a:rPr lang="fr-BE" sz="2400"/>
              <a:t>05. Format XML</a:t>
            </a:r>
          </a:p>
          <a:p>
            <a:pPr marL="114300" indent="0">
              <a:buNone/>
            </a:pPr>
            <a:r>
              <a:rPr lang="fr-BE" sz="2400"/>
              <a:t>06. Format JSON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6D5135-B8A1-9E24-38EE-4C72679CDE7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394864" y="1677195"/>
            <a:ext cx="3420000" cy="676143"/>
          </a:xfrm>
        </p:spPr>
        <p:txBody>
          <a:bodyPr anchor="t"/>
          <a:lstStyle/>
          <a:p>
            <a:pPr lvl="0"/>
            <a:r>
              <a:rPr lang="fr-FR"/>
              <a:t>Front-End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D87172-3FAF-5725-E789-9405D66598A7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394863" y="2357306"/>
            <a:ext cx="3419999" cy="3828389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12. Structure HTML </a:t>
            </a:r>
          </a:p>
          <a:p>
            <a:pPr marL="114300" indent="0">
              <a:buNone/>
            </a:pPr>
            <a:r>
              <a:rPr lang="fr-BE" sz="2400"/>
              <a:t>13. Formulaire HTML</a:t>
            </a:r>
          </a:p>
          <a:p>
            <a:pPr marL="114300" lvl="0" indent="0">
              <a:buNone/>
            </a:pPr>
            <a:r>
              <a:rPr lang="fr-BE" sz="2400"/>
              <a:t>14. Mise en forme CSS</a:t>
            </a:r>
          </a:p>
          <a:p>
            <a:pPr marL="114300" lvl="0" indent="0">
              <a:buNone/>
            </a:pPr>
            <a:r>
              <a:rPr lang="fr-BE" sz="2400"/>
              <a:t>15. Adaptabilité</a:t>
            </a:r>
          </a:p>
          <a:p>
            <a:pPr marL="114300" lvl="0" indent="0">
              <a:buNone/>
            </a:pPr>
            <a:r>
              <a:rPr lang="fr-BE" sz="2400"/>
              <a:t>17. Javascript</a:t>
            </a:r>
          </a:p>
          <a:p>
            <a:pPr marL="114300" lvl="0" indent="0">
              <a:buNone/>
            </a:pPr>
            <a:r>
              <a:rPr lang="fr-BE" sz="2400"/>
              <a:t>18. Bibliothèque jQuery</a:t>
            </a:r>
          </a:p>
          <a:p>
            <a:pPr marL="114300" lvl="0" indent="0">
              <a:buNone/>
            </a:pPr>
            <a:r>
              <a:rPr lang="fr-BE" sz="2400"/>
              <a:t>19. Composant Vue.js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5FC1231-1E2C-7231-4486-8114EAEE6AA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949940" y="1690688"/>
            <a:ext cx="3420000" cy="662650"/>
          </a:xfrm>
        </p:spPr>
        <p:txBody>
          <a:bodyPr anchor="t"/>
          <a:lstStyle/>
          <a:p>
            <a:r>
              <a:rPr lang="fr-BE"/>
              <a:t>Back-End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DB2CC52-B967-555D-C3A7-C4B10EB02D18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7949937" y="2377806"/>
            <a:ext cx="3433923" cy="3836325"/>
          </a:xfrm>
        </p:spPr>
        <p:txBody>
          <a:bodyPr>
            <a:normAutofit lnSpcReduction="10000"/>
          </a:bodyPr>
          <a:lstStyle/>
          <a:p>
            <a:pPr marL="114300" lvl="0" indent="0">
              <a:buNone/>
            </a:pPr>
            <a:r>
              <a:rPr lang="fr-BE" sz="2400"/>
              <a:t>21. Middleware PHP</a:t>
            </a:r>
          </a:p>
          <a:p>
            <a:pPr marL="114300" indent="0">
              <a:buNone/>
            </a:pPr>
            <a:r>
              <a:rPr lang="fr-BE" sz="2400">
                <a:solidFill>
                  <a:schemeClr val="accent2"/>
                </a:solidFill>
              </a:rPr>
              <a:t>22. Traitement du formulaire</a:t>
            </a:r>
          </a:p>
          <a:p>
            <a:pPr marL="114300" lvl="0" indent="0">
              <a:buNone/>
            </a:pPr>
            <a:r>
              <a:rPr lang="fr-BE" sz="2400"/>
              <a:t>23. Architecture MVC</a:t>
            </a:r>
          </a:p>
          <a:p>
            <a:pPr marL="114300" lvl="0" indent="0">
              <a:buNone/>
            </a:pPr>
            <a:r>
              <a:rPr lang="fr-BE" sz="2400"/>
              <a:t>24. Données SQL</a:t>
            </a:r>
          </a:p>
          <a:p>
            <a:pPr marL="114300" lvl="0" indent="0">
              <a:buNone/>
            </a:pPr>
            <a:r>
              <a:rPr lang="fr-BE" sz="2400"/>
              <a:t>25. Données NoSQL</a:t>
            </a:r>
          </a:p>
          <a:p>
            <a:pPr marL="114300" lvl="0" indent="0">
              <a:buNone/>
            </a:pPr>
            <a:endParaRPr lang="fr-BE" sz="2400"/>
          </a:p>
          <a:p>
            <a:pPr marL="114300" lvl="0" indent="0">
              <a:buNone/>
            </a:pPr>
            <a:endParaRPr lang="fr-BE" sz="2400"/>
          </a:p>
          <a:p>
            <a:pPr marL="114300" indent="0">
              <a:buNone/>
            </a:pPr>
            <a:r>
              <a:rPr lang="fr-BE" sz="2400"/>
              <a:t>31. Requête asynchrone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F7F80AB2-1A54-F3C7-63AD-635689291298}"/>
              </a:ext>
            </a:extLst>
          </p:cNvPr>
          <p:cNvSpPr txBox="1">
            <a:spLocks/>
          </p:cNvSpPr>
          <p:nvPr/>
        </p:nvSpPr>
        <p:spPr>
          <a:xfrm>
            <a:off x="7932738" y="5026572"/>
            <a:ext cx="3751261" cy="8239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457200" lvl="0" indent="-22860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/>
              <a:t>Single Page Application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22. Traitement du Formulaire</a:t>
            </a:r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/>
        <p:txBody>
          <a:bodyPr numCol="3">
            <a:normAutofit/>
          </a:bodyPr>
          <a:lstStyle/>
          <a:p>
            <a:r>
              <a:rPr lang="fr-BE">
                <a:sym typeface="Calibri"/>
              </a:rPr>
              <a:t>Transit des données</a:t>
            </a:r>
          </a:p>
          <a:p>
            <a:r>
              <a:rPr lang="fr-BE">
                <a:sym typeface="Calibri"/>
              </a:rPr>
              <a:t>Balises</a:t>
            </a:r>
          </a:p>
          <a:p>
            <a:r>
              <a:rPr lang="fr-BE"/>
              <a:t>Super Globales PHP</a:t>
            </a:r>
          </a:p>
          <a:p>
            <a:r>
              <a:rPr lang="fr-BE">
                <a:sym typeface="Calibri"/>
              </a:rPr>
              <a:t>$_GET et $_POST</a:t>
            </a:r>
          </a:p>
          <a:p>
            <a:r>
              <a:rPr lang="fr-BE">
                <a:sym typeface="Calibri"/>
              </a:rPr>
              <a:t>$_SESSION</a:t>
            </a:r>
          </a:p>
          <a:p>
            <a:r>
              <a:rPr lang="fr-BE">
                <a:sym typeface="Calibri"/>
              </a:rPr>
              <a:t>$_COOKIES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E2A9F8B-5759-A6D8-BFFE-36543CB433D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58764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6BC2345B-F403-44E5-97C3-F5BDF024D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Transit des données</a:t>
            </a:r>
            <a:endParaRPr lang="fr-BE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8FC7467-3A2C-9409-377D-B7D912D5E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0318622-D037-2334-20A2-48658796B3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50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54A5A39-B674-EF53-040B-C0C074F19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Single Page App. vs Multiple Page App.</a:t>
            </a:r>
          </a:p>
        </p:txBody>
      </p:sp>
      <p:pic>
        <p:nvPicPr>
          <p:cNvPr id="1026" name="Picture 2" descr="SPA vs MPA user experience comparison - SPA is only updating the relevant parts of the page">
            <a:extLst>
              <a:ext uri="{FF2B5EF4-FFF2-40B4-BE49-F238E27FC236}">
                <a16:creationId xmlns:a16="http://schemas.microsoft.com/office/drawing/2014/main" id="{8E2AACD6-13DF-EC45-3257-A94F0D9BEA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clrChange>
              <a:clrFrom>
                <a:srgbClr val="DFF0F0"/>
              </a:clrFrom>
              <a:clrTo>
                <a:srgbClr val="DF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64593" y="1690688"/>
            <a:ext cx="6345509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63729AB-B542-54F9-0CA0-C38CE94C7DEA}"/>
              </a:ext>
            </a:extLst>
          </p:cNvPr>
          <p:cNvSpPr txBox="1"/>
          <p:nvPr/>
        </p:nvSpPr>
        <p:spPr>
          <a:xfrm>
            <a:off x="9565858" y="2235175"/>
            <a:ext cx="1622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&lt;form&gt;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6CD49B6-9686-BA3C-E252-B090D501E3ED}"/>
              </a:ext>
            </a:extLst>
          </p:cNvPr>
          <p:cNvSpPr txBox="1"/>
          <p:nvPr/>
        </p:nvSpPr>
        <p:spPr>
          <a:xfrm>
            <a:off x="431988" y="3777711"/>
            <a:ext cx="19376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strike="sngStrik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$.ajax()</a:t>
            </a:r>
            <a:b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fetch()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760C94B-9822-6519-593A-334C3BAA6F05}"/>
              </a:ext>
            </a:extLst>
          </p:cNvPr>
          <p:cNvSpPr txBox="1"/>
          <p:nvPr/>
        </p:nvSpPr>
        <p:spPr>
          <a:xfrm>
            <a:off x="256478" y="4661212"/>
            <a:ext cx="42263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>
                <a:solidFill>
                  <a:schemeClr val="accent2"/>
                </a:solidFill>
              </a:rPr>
              <a:t>SPA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/>
              <a:t>une seule page HTML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/>
              <a:t>seules les parties pertinentes sont modifiées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F449FF9-E953-FDDA-36C8-90AF0FF5ED65}"/>
              </a:ext>
            </a:extLst>
          </p:cNvPr>
          <p:cNvSpPr txBox="1"/>
          <p:nvPr/>
        </p:nvSpPr>
        <p:spPr>
          <a:xfrm>
            <a:off x="8688893" y="2771520"/>
            <a:ext cx="33767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>
                <a:solidFill>
                  <a:schemeClr val="accent2"/>
                </a:solidFill>
              </a:rPr>
              <a:t>MPA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/>
              <a:t>plusieurs pages HTML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BE"/>
              <a:t>page entièrement rechargée</a:t>
            </a:r>
          </a:p>
        </p:txBody>
      </p:sp>
    </p:spTree>
    <p:extLst>
      <p:ext uri="{BB962C8B-B14F-4D97-AF65-F5344CB8AC3E}">
        <p14:creationId xmlns:p14="http://schemas.microsoft.com/office/powerpoint/2010/main" val="642635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60567DB5-40A3-D689-2A49-2F35E1661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MPA vs SPA, use cases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37A0327-C066-39FA-3EB7-0985D48AF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BE" sz="3200">
                <a:solidFill>
                  <a:schemeClr val="accent2"/>
                </a:solidFill>
              </a:rPr>
              <a:t>MPA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A1F8FF8-6C56-04E4-42D5-78D0BA8E41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BE"/>
              <a:t>app statique</a:t>
            </a:r>
          </a:p>
          <a:p>
            <a:r>
              <a:rPr lang="fr-BE"/>
              <a:t>services B2B</a:t>
            </a:r>
          </a:p>
          <a:p>
            <a:r>
              <a:rPr lang="fr-BE"/>
              <a:t>e-commerce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BC14CB71-9959-51E0-732D-43C5077BED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fr-BE" sz="3200">
                <a:solidFill>
                  <a:schemeClr val="accent2"/>
                </a:solidFill>
              </a:rPr>
              <a:t>SPA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EB175BB3-32CE-C415-3536-9E3113A203F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fr-BE"/>
              <a:t>app dynamique</a:t>
            </a:r>
          </a:p>
          <a:p>
            <a:r>
              <a:rPr lang="fr-BE"/>
              <a:t>social networks</a:t>
            </a:r>
          </a:p>
          <a:p>
            <a:r>
              <a:rPr lang="fr-BE"/>
              <a:t>streaming services</a:t>
            </a:r>
          </a:p>
          <a:p>
            <a:r>
              <a:rPr lang="fr-BE"/>
              <a:t>real-time location services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2506C64-A250-8371-EEAC-00B2AADD7EEE}"/>
              </a:ext>
            </a:extLst>
          </p:cNvPr>
          <p:cNvSpPr txBox="1"/>
          <p:nvPr/>
        </p:nvSpPr>
        <p:spPr>
          <a:xfrm>
            <a:off x="4626692" y="5666443"/>
            <a:ext cx="3802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>
                <a:hlinkClick r:id="rId2"/>
              </a:rPr>
              <a:t>discussion sur Reddit </a:t>
            </a:r>
            <a:endParaRPr lang="fr-BE" sz="2800"/>
          </a:p>
        </p:txBody>
      </p:sp>
    </p:spTree>
    <p:extLst>
      <p:ext uri="{BB962C8B-B14F-4D97-AF65-F5344CB8AC3E}">
        <p14:creationId xmlns:p14="http://schemas.microsoft.com/office/powerpoint/2010/main" val="2145867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Objectifs des formulaires</a:t>
            </a:r>
          </a:p>
        </p:txBody>
      </p:sp>
      <p:sp>
        <p:nvSpPr>
          <p:cNvPr id="45" name="Google Shape;45;p9"/>
          <p:cNvSpPr txBox="1"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>
                <a:sym typeface="Courier New"/>
              </a:rPr>
              <a:t>Approche MPA </a:t>
            </a:r>
          </a:p>
          <a:p>
            <a:pPr lvl="1"/>
            <a:r>
              <a:rPr lang="fr-BE">
                <a:sym typeface="Calibri"/>
              </a:rPr>
              <a:t>création d'un formulaire via la balise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&lt;form&gt;</a:t>
            </a:r>
          </a:p>
          <a:p>
            <a:r>
              <a:rPr lang="fr-BE">
                <a:sym typeface="Courier New"/>
              </a:rPr>
              <a:t>Approche SPA</a:t>
            </a:r>
          </a:p>
          <a:p>
            <a:pPr lvl="1"/>
            <a:r>
              <a:rPr lang="fr-BE">
                <a:sym typeface="Calibri"/>
              </a:rPr>
              <a:t>création d'un formulaire muni de requêtes AJAX/Fetch</a:t>
            </a:r>
            <a:endParaRPr lang="fr-BE">
              <a:sym typeface="Courier New"/>
            </a:endParaRPr>
          </a:p>
          <a:p>
            <a:r>
              <a:rPr lang="fr-BE">
                <a:sym typeface="Calibri"/>
              </a:rPr>
              <a:t>Les formulaires sont utilisés pour récolter des informations des utilisateurs.</a:t>
            </a:r>
          </a:p>
          <a:p>
            <a:r>
              <a:rPr lang="fr-BE">
                <a:sym typeface="Calibri"/>
              </a:rPr>
              <a:t>Deux problèmes:</a:t>
            </a:r>
          </a:p>
          <a:p>
            <a:pPr lvl="1"/>
            <a:r>
              <a:rPr lang="fr-BE">
                <a:sym typeface="Calibri"/>
              </a:rPr>
              <a:t>Comment envoyer les données au serveur ?</a:t>
            </a:r>
          </a:p>
          <a:p>
            <a:pPr lvl="1"/>
            <a:r>
              <a:rPr lang="fr-BE">
                <a:sym typeface="Calibri"/>
              </a:rPr>
              <a:t>Comment le serveur traite-t-il les données reçues?</a:t>
            </a:r>
          </a:p>
        </p:txBody>
      </p:sp>
    </p:spTree>
    <p:extLst>
      <p:ext uri="{BB962C8B-B14F-4D97-AF65-F5344CB8AC3E}">
        <p14:creationId xmlns:p14="http://schemas.microsoft.com/office/powerpoint/2010/main" val="2817179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Comment faire transiter les données?</a:t>
            </a:r>
          </a:p>
        </p:txBody>
      </p:sp>
      <p:sp>
        <p:nvSpPr>
          <p:cNvPr id="51" name="Google Shape;51;p10"/>
          <p:cNvSpPr txBox="1"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>
                <a:sym typeface="Calibri"/>
              </a:rPr>
              <a:t>Deux méthodes :</a:t>
            </a:r>
          </a:p>
          <a:p>
            <a:pPr lvl="1"/>
            <a:r>
              <a:rPr lang="fr-BE">
                <a:solidFill>
                  <a:schemeClr val="accent2"/>
                </a:solidFill>
                <a:sym typeface="Calibri"/>
              </a:rPr>
              <a:t>GET</a:t>
            </a:r>
            <a:r>
              <a:rPr lang="fr-BE">
                <a:sym typeface="Calibri"/>
              </a:rPr>
              <a:t>: envoie les données dans l'URL de la page</a:t>
            </a:r>
          </a:p>
          <a:p>
            <a:pPr lvl="2"/>
            <a:r>
              <a:rPr lang="fr-BE">
                <a:sym typeface="Courier New"/>
              </a:rPr>
              <a:t>https://www.google.com/search ? </a:t>
            </a:r>
            <a:r>
              <a:rPr lang="fr-BE">
                <a:solidFill>
                  <a:schemeClr val="accent2"/>
                </a:solidFill>
                <a:sym typeface="Courier New"/>
              </a:rPr>
              <a:t>q=</a:t>
            </a:r>
            <a:r>
              <a:rPr lang="fr-BE" err="1">
                <a:solidFill>
                  <a:schemeClr val="accent2"/>
                </a:solidFill>
                <a:sym typeface="Courier New"/>
              </a:rPr>
              <a:t>developpement+photo</a:t>
            </a:r>
            <a:endParaRPr lang="fr-BE">
              <a:solidFill>
                <a:schemeClr val="accent2"/>
              </a:solidFill>
              <a:sym typeface="Courier New"/>
            </a:endParaRPr>
          </a:p>
          <a:p>
            <a:pPr lvl="2"/>
            <a:r>
              <a:rPr lang="fr-BE">
                <a:sym typeface="Calibri"/>
              </a:rPr>
              <a:t>Limité à 255 caractères</a:t>
            </a:r>
          </a:p>
          <a:p>
            <a:pPr lvl="2"/>
            <a:r>
              <a:rPr lang="fr-BE">
                <a:sym typeface="Calibri"/>
              </a:rPr>
              <a:t>Paramètres visibles</a:t>
            </a:r>
          </a:p>
          <a:p>
            <a:pPr lvl="1"/>
            <a:r>
              <a:rPr lang="fr-BE">
                <a:solidFill>
                  <a:schemeClr val="accent2"/>
                </a:solidFill>
                <a:sym typeface="Calibri"/>
              </a:rPr>
              <a:t>POST</a:t>
            </a:r>
            <a:r>
              <a:rPr lang="fr-BE">
                <a:sym typeface="Calibri"/>
              </a:rPr>
              <a:t>: envoie les données via la requête HTTP</a:t>
            </a:r>
          </a:p>
          <a:p>
            <a:pPr lvl="2"/>
            <a:r>
              <a:rPr lang="fr-BE">
                <a:sym typeface="Calibri"/>
              </a:rPr>
              <a:t>Permet de faire transiter un plus gros nombre de caractères</a:t>
            </a:r>
          </a:p>
          <a:p>
            <a:pPr lvl="2"/>
            <a:r>
              <a:rPr lang="fr-BE">
                <a:sym typeface="Calibri"/>
              </a:rPr>
              <a:t>Paramètres invisibles</a:t>
            </a:r>
          </a:p>
          <a:p>
            <a:r>
              <a:rPr lang="fr-BE">
                <a:sym typeface="Calibri"/>
              </a:rPr>
              <a:t>Serveur, un script</a:t>
            </a:r>
          </a:p>
          <a:p>
            <a:pPr lvl="1"/>
            <a:r>
              <a:rPr lang="fr-BE">
                <a:sym typeface="Calibri"/>
              </a:rPr>
              <a:t>Les données du formulaire sont envoyées à un </a:t>
            </a:r>
            <a:r>
              <a:rPr lang="fr-BE">
                <a:solidFill>
                  <a:schemeClr val="accent2"/>
                </a:solidFill>
                <a:sym typeface="Calibri"/>
              </a:rPr>
              <a:t>script</a:t>
            </a:r>
            <a:r>
              <a:rPr lang="fr-BE">
                <a:sym typeface="Calibri"/>
              </a:rPr>
              <a:t> (ex. PHP) qui pourra les traiter.</a:t>
            </a:r>
          </a:p>
        </p:txBody>
      </p:sp>
    </p:spTree>
    <p:extLst>
      <p:ext uri="{BB962C8B-B14F-4D97-AF65-F5344CB8AC3E}">
        <p14:creationId xmlns:p14="http://schemas.microsoft.com/office/powerpoint/2010/main" val="1761849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C90D0E80-05BC-DB43-81B0-04D46D9D3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>
            <a:extLst>
              <a:ext uri="{FF2B5EF4-FFF2-40B4-BE49-F238E27FC236}">
                <a16:creationId xmlns:a16="http://schemas.microsoft.com/office/drawing/2014/main" id="{27B570CC-576D-9E8C-F7E1-AD3CFCFD61D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MPA : Déclaration d'un formulaire</a:t>
            </a:r>
          </a:p>
        </p:txBody>
      </p:sp>
      <p:sp>
        <p:nvSpPr>
          <p:cNvPr id="63" name="Google Shape;63;p12">
            <a:extLst>
              <a:ext uri="{FF2B5EF4-FFF2-40B4-BE49-F238E27FC236}">
                <a16:creationId xmlns:a16="http://schemas.microsoft.com/office/drawing/2014/main" id="{D295AA5B-3229-A62B-B782-074DC495E20E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>
                <a:sym typeface="Calibri"/>
              </a:rPr>
              <a:t>Balise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alibri"/>
              </a:rPr>
              <a:t>&lt;form&gt;</a:t>
            </a:r>
            <a:endParaRPr lang="fr-BE">
              <a:solidFill>
                <a:srgbClr val="996633"/>
              </a:solidFill>
              <a:latin typeface="Consolas" panose="020B0609020204030204" pitchFamily="49" charset="0"/>
              <a:sym typeface="Calibri"/>
            </a:endParaRPr>
          </a:p>
          <a:p>
            <a:r>
              <a:rPr lang="fr-BE">
                <a:sym typeface="Calibri"/>
              </a:rPr>
              <a:t>Transit défini avec l'attribut "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method</a:t>
            </a:r>
            <a:r>
              <a:rPr lang="fr-BE">
                <a:sym typeface="Courier New"/>
              </a:rPr>
              <a:t>"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alibri"/>
            </a:endParaRP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sym typeface="Calibri"/>
              </a:rPr>
              <a:t>method = "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  <a:sym typeface="Calibri"/>
              </a:rPr>
              <a:t>get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sym typeface="Calibri"/>
              </a:rPr>
              <a:t>"</a:t>
            </a:r>
            <a:r>
              <a:rPr lang="fr-BE">
                <a:sym typeface="Calibri"/>
              </a:rPr>
              <a:t> ou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sym typeface="Calibri"/>
              </a:rPr>
              <a:t>"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  <a:sym typeface="Calibri"/>
              </a:rPr>
              <a:t>post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sym typeface="Calibri"/>
              </a:rPr>
              <a:t>"</a:t>
            </a:r>
          </a:p>
          <a:p>
            <a:r>
              <a:rPr lang="fr-BE">
                <a:sym typeface="Calibri"/>
              </a:rPr>
              <a:t>Script défini avec l'attribut "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sym typeface="Calibri"/>
              </a:rPr>
              <a:t>action</a:t>
            </a:r>
            <a:r>
              <a:rPr lang="fr-BE">
                <a:sym typeface="Calibri"/>
              </a:rPr>
              <a:t>"</a:t>
            </a:r>
          </a:p>
          <a:p>
            <a:pPr lvl="1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  <a:sym typeface="Calibri"/>
              </a:rPr>
              <a:t>action =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  <a:sym typeface="Calibri"/>
              </a:rPr>
              <a:t>&lt;path du script&gt;</a:t>
            </a:r>
            <a:r>
              <a:rPr lang="fr-BE">
                <a:sym typeface="Calibri"/>
              </a:rPr>
              <a:t> (php ou autre)</a:t>
            </a:r>
          </a:p>
          <a:p>
            <a:endParaRPr lang="fr-BE">
              <a:sym typeface="Courier New"/>
            </a:endParaRPr>
          </a:p>
          <a:p>
            <a:pPr marL="0" indent="0">
              <a:buNone/>
            </a:pPr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&lt;form method="</a:t>
            </a:r>
            <a:r>
              <a:rPr lang="fr-BE" sz="3200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get</a:t>
            </a:r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 action="</a:t>
            </a:r>
            <a:r>
              <a:rPr lang="fr-BE" sz="32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./register.php</a:t>
            </a:r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"&gt;</a:t>
            </a:r>
          </a:p>
          <a:p>
            <a:pPr marL="0" indent="0">
              <a:buNone/>
            </a:pPr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	...</a:t>
            </a:r>
          </a:p>
          <a:p>
            <a:pPr marL="0" indent="0">
              <a:buNone/>
            </a:pPr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&lt;/form&gt;</a:t>
            </a:r>
          </a:p>
        </p:txBody>
      </p:sp>
    </p:spTree>
    <p:extLst>
      <p:ext uri="{BB962C8B-B14F-4D97-AF65-F5344CB8AC3E}">
        <p14:creationId xmlns:p14="http://schemas.microsoft.com/office/powerpoint/2010/main" val="446076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D716A0-9565-884B-3903-9939D39B4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SPA : Exemple de formulaire ? 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E84418-2024-8C2A-AF4A-153CEA529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Rendez-vous au chapitre 27 !</a:t>
            </a:r>
          </a:p>
          <a:p>
            <a:r>
              <a:rPr lang="fr-BE"/>
              <a:t>Programmation en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Javascript </a:t>
            </a:r>
            <a:r>
              <a:rPr lang="fr-BE"/>
              <a:t>requise.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85DE5C6-B48D-FA4D-71D6-84E9B0380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56C7F-9BDA-4AF1-B3C3-6DBDB7BE30D1}" type="datetime1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70647CF-46C0-A596-51B1-CFF4BF0F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74155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6BC2345B-F403-44E5-97C3-F5BDF024D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Balises HTML Form</a:t>
            </a:r>
            <a:endParaRPr lang="fr-BE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6FAA6F38-334B-E8B2-9E64-AE74E2D45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Rappel</a:t>
            </a:r>
          </a:p>
        </p:txBody>
      </p:sp>
      <p:pic>
        <p:nvPicPr>
          <p:cNvPr id="6" name="Google Shape;39;p8">
            <a:hlinkClick r:id="rId2"/>
            <a:extLst>
              <a:ext uri="{FF2B5EF4-FFF2-40B4-BE49-F238E27FC236}">
                <a16:creationId xmlns:a16="http://schemas.microsoft.com/office/drawing/2014/main" id="{F73F5139-A5C5-497C-AE5C-231EBB7AE61F}"/>
              </a:ext>
            </a:extLst>
          </p:cNvPr>
          <p:cNvPicPr preferRelativeResize="0">
            <a:picLocks noGrp="1"/>
          </p:cNvPicPr>
          <p:nvPr>
            <p:ph type="pic" sz="quarter" idx="10"/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" b="37"/>
          <a:stretch/>
        </p:blipFill>
        <p:spPr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540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La balise &lt;input&gt;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>
                <a:sym typeface="Calibri"/>
              </a:rPr>
              <a:t>L'élément le plus populaire d'un formulaire est la balise </a:t>
            </a:r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&lt;input&gt;</a:t>
            </a:r>
            <a:r>
              <a:rPr lang="fr-BE">
                <a:sym typeface="Courier New"/>
              </a:rPr>
              <a:t>.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pPr lvl="1"/>
            <a:r>
              <a:rPr lang="fr-BE">
                <a:sym typeface="Calibri"/>
              </a:rPr>
              <a:t>utilisé de nombreuses manières différentes </a:t>
            </a:r>
          </a:p>
          <a:p>
            <a:pPr lvl="1"/>
            <a:r>
              <a:rPr lang="fr-BE">
                <a:sym typeface="Calibri"/>
              </a:rPr>
              <a:t>en fonction de la valeur de son attribut </a:t>
            </a:r>
            <a:r>
              <a:rPr lang="fr-BE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type</a:t>
            </a:r>
            <a:r>
              <a:rPr lang="fr-BE">
                <a:sym typeface="Courier New"/>
              </a:rPr>
              <a:t>.</a:t>
            </a:r>
          </a:p>
          <a:p>
            <a:endParaRPr lang="fr-BE">
              <a:sym typeface="Courier New"/>
            </a:endParaRPr>
          </a:p>
        </p:txBody>
      </p:sp>
      <p:pic>
        <p:nvPicPr>
          <p:cNvPr id="2" name="Google Shape;85;p15">
            <a:extLst>
              <a:ext uri="{FF2B5EF4-FFF2-40B4-BE49-F238E27FC236}">
                <a16:creationId xmlns:a16="http://schemas.microsoft.com/office/drawing/2014/main" id="{BCC30021-91CF-4250-9BFF-80E4289A7D2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0913" y="5167311"/>
            <a:ext cx="1624211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76;p14">
            <a:extLst>
              <a:ext uri="{FF2B5EF4-FFF2-40B4-BE49-F238E27FC236}">
                <a16:creationId xmlns:a16="http://schemas.microsoft.com/office/drawing/2014/main" id="{F731EA1D-4F65-C8E5-D028-0B737517A8A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218" y="3933827"/>
            <a:ext cx="5225811" cy="643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0;p16">
            <a:extLst>
              <a:ext uri="{FF2B5EF4-FFF2-40B4-BE49-F238E27FC236}">
                <a16:creationId xmlns:a16="http://schemas.microsoft.com/office/drawing/2014/main" id="{6C7FA848-CAE6-D450-D281-9BF7BBF293D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8074"/>
          <a:stretch/>
        </p:blipFill>
        <p:spPr>
          <a:xfrm>
            <a:off x="3147837" y="4687395"/>
            <a:ext cx="2088457" cy="1805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1433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sym typeface="Calibri"/>
              </a:rPr>
              <a:t>Autres balises</a:t>
            </a:r>
          </a:p>
        </p:txBody>
      </p:sp>
      <p:sp>
        <p:nvSpPr>
          <p:cNvPr id="104" name="Google Shape;104;p18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&lt;textarea rows="10" cols="30"&gt;</a:t>
            </a:r>
          </a:p>
          <a:p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&lt;input list="browsers"&gt;</a:t>
            </a:r>
            <a:b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</a:br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&lt;datalist id="browsers"&gt;</a:t>
            </a:r>
          </a:p>
          <a:p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&lt;label for="male"&gt;Male&lt;/label&gt;</a:t>
            </a:r>
          </a:p>
          <a:p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&lt;input type="color"&gt;</a:t>
            </a:r>
          </a:p>
          <a:p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endParaRPr lang="fr-BE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Courier New"/>
            </a:endParaRPr>
          </a:p>
          <a:p>
            <a:endParaRPr lang="fr-BE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b="51013"/>
          <a:stretch/>
        </p:blipFill>
        <p:spPr>
          <a:xfrm>
            <a:off x="-190623" y="5625681"/>
            <a:ext cx="4888830" cy="12323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BF3DCBF-FE03-AB66-602E-A79ADF691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321" y="4770304"/>
            <a:ext cx="2521692" cy="2180522"/>
          </a:xfrm>
          <a:prstGeom prst="rect">
            <a:avLst/>
          </a:prstGeom>
        </p:spPr>
      </p:pic>
      <p:pic>
        <p:nvPicPr>
          <p:cNvPr id="3" name="Content Placeholder 8">
            <a:extLst>
              <a:ext uri="{FF2B5EF4-FFF2-40B4-BE49-F238E27FC236}">
                <a16:creationId xmlns:a16="http://schemas.microsoft.com/office/drawing/2014/main" id="{DBF4EEA7-97CC-156E-7BA5-8096A6C8CF1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58213" y="4245602"/>
            <a:ext cx="3633787" cy="261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9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Soumettre un formulaire </a:t>
            </a:r>
          </a:p>
        </p:txBody>
      </p:sp>
      <p:sp>
        <p:nvSpPr>
          <p:cNvPr id="135" name="Google Shape;135;p23"/>
          <p:cNvSpPr txBox="1"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>
                <a:sym typeface="Calibri"/>
              </a:rPr>
              <a:t>Une fois rempli, le formulaire est "soumis au serveur", càd que les données y sont envoyées.</a:t>
            </a:r>
          </a:p>
          <a:p>
            <a:r>
              <a:rPr lang="fr-BE">
                <a:sym typeface="Calibri"/>
              </a:rPr>
              <a:t>Bouton de type “</a:t>
            </a:r>
            <a:r>
              <a:rPr lang="fr-BE" err="1">
                <a:solidFill>
                  <a:schemeClr val="accent2"/>
                </a:solidFill>
                <a:sym typeface="Calibri"/>
              </a:rPr>
              <a:t>submit</a:t>
            </a:r>
            <a:r>
              <a:rPr lang="fr-BE">
                <a:sym typeface="Calibri"/>
              </a:rPr>
              <a:t>” </a:t>
            </a:r>
          </a:p>
          <a:p>
            <a:pPr marL="457189" lvl="1" indent="0">
              <a:buNone/>
            </a:pPr>
            <a:r>
              <a:rPr lang="fr-BE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</a:t>
            </a:r>
            <a:r>
              <a:rPr lang="fr-BE" sz="30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button</a:t>
            </a:r>
            <a:r>
              <a:rPr lang="fr-BE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type="</a:t>
            </a:r>
            <a:r>
              <a:rPr lang="fr-BE" sz="30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submit</a:t>
            </a:r>
            <a:r>
              <a:rPr lang="fr-BE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"&gt;S'inscrire&lt;/</a:t>
            </a:r>
            <a:r>
              <a:rPr lang="fr-BE" sz="30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button</a:t>
            </a:r>
            <a:r>
              <a:rPr lang="fr-BE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&gt;</a:t>
            </a:r>
            <a:endParaRPr lang="fr-BE" sz="30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  <a:sym typeface="Calibri"/>
            </a:endParaRPr>
          </a:p>
          <a:p>
            <a:pPr lvl="1"/>
            <a:r>
              <a:rPr lang="fr-BE">
                <a:sym typeface="Calibri"/>
              </a:rPr>
              <a:t>remarque : il existe un codage ancien</a:t>
            </a:r>
            <a:br>
              <a:rPr lang="fr-BE">
                <a:sym typeface="Calibri"/>
              </a:rPr>
            </a:br>
            <a:r>
              <a:rPr lang="fr-BE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&lt;input type="</a:t>
            </a:r>
            <a:r>
              <a:rPr lang="fr-BE" sz="30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submit</a:t>
            </a:r>
            <a:r>
              <a:rPr lang="fr-BE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" value="S'inscrire"&gt;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  <a:sym typeface="Courier New"/>
            </a:endParaRPr>
          </a:p>
          <a:p>
            <a:r>
              <a:rPr lang="fr-BE">
                <a:sym typeface="Calibri"/>
              </a:rPr>
              <a:t>Bouton de type “</a:t>
            </a:r>
            <a:r>
              <a:rPr lang="fr-BE" err="1">
                <a:solidFill>
                  <a:schemeClr val="accent2"/>
                </a:solidFill>
                <a:sym typeface="Calibri"/>
              </a:rPr>
              <a:t>button</a:t>
            </a:r>
            <a:r>
              <a:rPr lang="fr-BE">
                <a:sym typeface="Calibri"/>
              </a:rPr>
              <a:t>”</a:t>
            </a:r>
          </a:p>
          <a:p>
            <a:pPr lvl="1"/>
            <a:r>
              <a:rPr lang="fr-BE">
                <a:sym typeface="Calibri"/>
              </a:rPr>
              <a:t>appel d'un code JavaScript = programmation !</a:t>
            </a:r>
          </a:p>
          <a:p>
            <a:pPr lvl="1"/>
            <a:r>
              <a:rPr lang="fr-BE">
                <a:sym typeface="Calibri"/>
              </a:rPr>
              <a:t>formulaire non envoyé automatiquement au serveur</a:t>
            </a:r>
          </a:p>
          <a:p>
            <a:pPr lvl="1"/>
            <a:r>
              <a:rPr lang="fr-BE">
                <a:sym typeface="Calibri"/>
              </a:rPr>
              <a:t>exemple : un tel bouton peut valider les input, envoyer le </a:t>
            </a:r>
            <a:r>
              <a:rPr lang="fr-BE" err="1">
                <a:sym typeface="Calibri"/>
              </a:rPr>
              <a:t>form</a:t>
            </a:r>
            <a:r>
              <a:rPr lang="fr-BE">
                <a:sym typeface="Calibri"/>
              </a:rPr>
              <a:t> au serveur et afficher "veuillez patienter".</a:t>
            </a:r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3171" y="632668"/>
            <a:ext cx="2196375" cy="921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338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0BBCCE-1F42-461F-8A23-86524CC68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01 : Sample "Atomic" Form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5875B2-75BB-4B16-80B8-D47D82AD7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2181224"/>
          </a:xfrm>
        </p:spPr>
        <p:txBody>
          <a:bodyPr numCol="1">
            <a:normAutofit lnSpcReduction="10000"/>
          </a:bodyPr>
          <a:lstStyle/>
          <a:p>
            <a:r>
              <a:rPr lang="fr-BE"/>
              <a:t>Télécharger et placer dans le WAMP les deux fichiers </a:t>
            </a:r>
          </a:p>
          <a:p>
            <a:pPr lvl="1">
              <a:lnSpc>
                <a:spcPct val="100000"/>
              </a:lnSpc>
            </a:pP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exo01_sample_atomic_form.html</a:t>
            </a:r>
            <a:endParaRPr lang="fr-BE" sz="2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00000"/>
              </a:lnSpc>
            </a:pPr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exo01_sample_atomic_form.php</a:t>
            </a:r>
          </a:p>
          <a:p>
            <a:r>
              <a:rPr lang="fr-BE"/>
              <a:t>Démo de 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2F5B0D2-F4F6-4962-92C4-9372257CD4C0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3730625"/>
            <a:ext cx="10766425" cy="2747963"/>
          </a:xfrm>
        </p:spPr>
        <p:txBody>
          <a:bodyPr numCol="2">
            <a:normAutofit/>
          </a:bodyPr>
          <a:lstStyle/>
          <a:p>
            <a:pPr lvl="1"/>
            <a:r>
              <a:rPr lang="fr-BE"/>
              <a:t>Input type </a:t>
            </a:r>
            <a:r>
              <a:rPr lang="fr-BE" err="1"/>
              <a:t>text</a:t>
            </a:r>
            <a:endParaRPr lang="fr-BE"/>
          </a:p>
          <a:p>
            <a:pPr lvl="1"/>
            <a:r>
              <a:rPr lang="fr-BE"/>
              <a:t>Input type </a:t>
            </a:r>
            <a:r>
              <a:rPr lang="fr-BE" err="1"/>
              <a:t>password</a:t>
            </a:r>
            <a:endParaRPr lang="fr-BE"/>
          </a:p>
          <a:p>
            <a:pPr lvl="1"/>
            <a:r>
              <a:rPr lang="fr-BE"/>
              <a:t>Input type radio </a:t>
            </a:r>
          </a:p>
          <a:p>
            <a:pPr lvl="1"/>
            <a:r>
              <a:rPr lang="fr-BE"/>
              <a:t>Input type </a:t>
            </a:r>
            <a:r>
              <a:rPr lang="fr-BE" err="1"/>
              <a:t>checkbox</a:t>
            </a:r>
            <a:endParaRPr lang="fr-BE"/>
          </a:p>
          <a:p>
            <a:pPr lvl="1"/>
            <a:r>
              <a:rPr lang="fr-BE"/>
              <a:t>Select option</a:t>
            </a:r>
          </a:p>
          <a:p>
            <a:pPr lvl="1"/>
            <a:r>
              <a:rPr lang="fr-BE"/>
              <a:t>Input + Datalist</a:t>
            </a:r>
          </a:p>
          <a:p>
            <a:pPr lvl="1"/>
            <a:r>
              <a:rPr lang="fr-BE"/>
              <a:t>Input type color</a:t>
            </a:r>
          </a:p>
          <a:p>
            <a:pPr lvl="1"/>
            <a:r>
              <a:rPr lang="fr-BE"/>
              <a:t>Input type range</a:t>
            </a:r>
          </a:p>
          <a:p>
            <a:pPr lvl="1"/>
            <a:r>
              <a:rPr lang="fr-BE"/>
              <a:t>Button type </a:t>
            </a:r>
            <a:r>
              <a:rPr lang="fr-BE" err="1"/>
              <a:t>submit</a:t>
            </a:r>
            <a:endParaRPr lang="fr-BE"/>
          </a:p>
          <a:p>
            <a:pPr lvl="1"/>
            <a:r>
              <a:rPr lang="fr-BE"/>
              <a:t>Button type button</a:t>
            </a:r>
          </a:p>
        </p:txBody>
      </p:sp>
    </p:spTree>
    <p:extLst>
      <p:ext uri="{BB962C8B-B14F-4D97-AF65-F5344CB8AC3E}">
        <p14:creationId xmlns:p14="http://schemas.microsoft.com/office/powerpoint/2010/main" val="1033182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0BBCCE-1F42-461F-8A23-86524CC68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03 : Sample "Molecular" Form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5875B2-75BB-4B16-80B8-D47D82AD7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802186"/>
          </a:xfrm>
        </p:spPr>
        <p:txBody>
          <a:bodyPr numCol="1">
            <a:normAutofit/>
          </a:bodyPr>
          <a:lstStyle/>
          <a:p>
            <a:r>
              <a:rPr lang="fr-BE"/>
              <a:t>Télécharger et placer dans le WAMP les deux fichiers </a:t>
            </a:r>
          </a:p>
          <a:p>
            <a:pPr lvl="1"/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exo03_sample_atomic_form.html</a:t>
            </a:r>
            <a:endParaRPr lang="fr-BE" sz="28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2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exo03_sample_atomic_form.php</a:t>
            </a:r>
            <a:endParaRPr lang="en-US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fr-BE"/>
              <a:t>Démo de</a:t>
            </a:r>
          </a:p>
          <a:p>
            <a:pPr lvl="1"/>
            <a:r>
              <a:rPr lang="fr-BE"/>
              <a:t>Image Upload</a:t>
            </a:r>
          </a:p>
          <a:p>
            <a:pPr lvl="1"/>
            <a:r>
              <a:rPr lang="fr-BE"/>
              <a:t>File Upload</a:t>
            </a:r>
          </a:p>
        </p:txBody>
      </p:sp>
    </p:spTree>
    <p:extLst>
      <p:ext uri="{BB962C8B-B14F-4D97-AF65-F5344CB8AC3E}">
        <p14:creationId xmlns:p14="http://schemas.microsoft.com/office/powerpoint/2010/main" val="1419265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Exo 05 : Catalogue + </a:t>
            </a:r>
            <a:r>
              <a:rPr lang="fr-BE" err="1"/>
              <a:t>Form</a:t>
            </a:r>
            <a:r>
              <a:rPr lang="fr-BE"/>
              <a:t> Input</a:t>
            </a:r>
          </a:p>
        </p:txBody>
      </p:sp>
      <p:sp>
        <p:nvSpPr>
          <p:cNvPr id="162" name="Google Shape;162;p27"/>
          <p:cNvSpPr txBox="1"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Créer un formulaire qui permet d’ajouter des éléments dans le tableau HTML.</a:t>
            </a:r>
          </a:p>
          <a:p>
            <a:r>
              <a:rPr lang="fr-BE"/>
              <a:t>Ci-contre un exemple de formulaire.</a:t>
            </a:r>
          </a:p>
          <a:p>
            <a:r>
              <a:rPr lang="fr-BE"/>
              <a:t>fichiers exo :</a:t>
            </a:r>
          </a:p>
          <a:p>
            <a:pPr lvl="1"/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database_catalogue.csv</a:t>
            </a:r>
          </a:p>
          <a:p>
            <a:pPr lvl="1"/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exo05_reading_csv.php</a:t>
            </a:r>
          </a:p>
        </p:txBody>
      </p:sp>
      <p:pic>
        <p:nvPicPr>
          <p:cNvPr id="9" name="Google Shape;163;p27"/>
          <p:cNvPicPr preferRelativeResize="0">
            <a:picLocks noGrp="1"/>
          </p:cNvPicPr>
          <p:nvPr>
            <p:ph sz="half" idx="2"/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2863891"/>
            <a:ext cx="5181600" cy="2139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56;p26">
            <a:extLst>
              <a:ext uri="{FF2B5EF4-FFF2-40B4-BE49-F238E27FC236}">
                <a16:creationId xmlns:a16="http://schemas.microsoft.com/office/drawing/2014/main" id="{C6B25BE4-F46D-4286-874D-3AA1AB1ACA87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">
            <a:alphaModFix/>
          </a:blip>
          <a:srcRect r="18798" b="26254"/>
          <a:stretch/>
        </p:blipFill>
        <p:spPr>
          <a:xfrm>
            <a:off x="7390032" y="1401478"/>
            <a:ext cx="3673983" cy="28864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561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Super Globales : $_GET et $_POST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1F1FFBC-B412-2DC0-CC34-28465DACD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E580BD68-B2D7-CD7F-664C-0BDC3E6E39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13189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$_GET et $_POST</a:t>
            </a:r>
          </a:p>
        </p:txBody>
      </p:sp>
      <p:sp>
        <p:nvSpPr>
          <p:cNvPr id="188" name="Google Shape;188;p31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Les variables super globales </a:t>
            </a:r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$_GET</a:t>
            </a:r>
            <a:r>
              <a:rPr lang="fr-BE"/>
              <a:t> et </a:t>
            </a:r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$_POST</a:t>
            </a:r>
            <a:r>
              <a:rPr lang="fr-BE"/>
              <a:t> permettent de récupérer des données envoyées via l’url ou la requête HTTP</a:t>
            </a:r>
          </a:p>
          <a:p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$_GET</a:t>
            </a:r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		</a:t>
            </a:r>
            <a:r>
              <a:rPr lang="fr-BE"/>
              <a:t>: 	url</a:t>
            </a:r>
          </a:p>
          <a:p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$_POST	</a:t>
            </a:r>
            <a:r>
              <a:rPr lang="fr-BE" sz="3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	</a:t>
            </a:r>
            <a:r>
              <a:rPr lang="fr-BE"/>
              <a:t>:	http</a:t>
            </a:r>
          </a:p>
          <a:p>
            <a:endParaRPr lang="fr-BE"/>
          </a:p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02075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$_GET et $_POST</a:t>
            </a:r>
          </a:p>
        </p:txBody>
      </p:sp>
      <p:sp>
        <p:nvSpPr>
          <p:cNvPr id="194" name="Google Shape;194;p32"/>
          <p:cNvSpPr txBox="1"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>
                <a:sym typeface="Calibri"/>
              </a:rPr>
              <a:t>tableaux associatifs : éléments accessibles via une clé</a:t>
            </a:r>
          </a:p>
          <a:p>
            <a:r>
              <a:rPr lang="fr-BE">
                <a:sym typeface="Calibri"/>
              </a:rPr>
              <a:t>URL</a:t>
            </a:r>
          </a:p>
          <a:p>
            <a:pPr marL="914377" lvl="2" indent="0">
              <a:buNone/>
            </a:pPr>
            <a:r>
              <a:rPr lang="fr-BE">
                <a:sym typeface="Courier New"/>
              </a:rPr>
              <a:t>http://localhost/exercice.php?</a:t>
            </a:r>
            <a:r>
              <a:rPr lang="fr-BE" b="1">
                <a:solidFill>
                  <a:schemeClr val="accent2"/>
                </a:solidFill>
                <a:sym typeface="Courier New"/>
              </a:rPr>
              <a:t>name=jean&amp;age=23</a:t>
            </a:r>
          </a:p>
          <a:p>
            <a:r>
              <a:rPr lang="fr-BE">
                <a:sym typeface="Calibri"/>
              </a:rPr>
              <a:t>PHP</a:t>
            </a:r>
          </a:p>
          <a:p>
            <a:pPr marL="0" lvl="0" indent="0" defTabSz="91440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ts val="3000"/>
              <a:buNone/>
            </a:pPr>
            <a:r>
              <a:rPr lang="fr-BE" sz="2400" b="1" kern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fr-BE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&lt;?</a:t>
            </a:r>
            <a:r>
              <a:rPr lang="fr-BE" sz="30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php</a:t>
            </a:r>
            <a:endParaRPr lang="fr-BE" sz="30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  <a:sym typeface="Courier New"/>
            </a:endParaRPr>
          </a:p>
          <a:p>
            <a:pPr marL="0" lvl="0" indent="457200" defTabSz="91440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ts val="3000"/>
              <a:buNone/>
            </a:pPr>
            <a:r>
              <a:rPr lang="fr-BE" sz="3000" kern="0">
                <a:solidFill>
                  <a:srgbClr val="2388DB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	</a:t>
            </a:r>
            <a:r>
              <a:rPr lang="fr-BE" sz="30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echo</a:t>
            </a:r>
            <a:r>
              <a:rPr lang="fr-BE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$_GET['</a:t>
            </a:r>
            <a:r>
              <a:rPr lang="fr-BE" sz="30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name</a:t>
            </a:r>
            <a:r>
              <a:rPr lang="fr-BE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']; </a:t>
            </a:r>
            <a:r>
              <a:rPr lang="fr-BE" sz="3000" ker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// affiche </a:t>
            </a:r>
            <a:r>
              <a:rPr lang="fr-BE" sz="3000" kern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‘jean</a:t>
            </a:r>
            <a:r>
              <a:rPr lang="fr-BE" sz="3000" ker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’</a:t>
            </a:r>
          </a:p>
          <a:p>
            <a:pPr marL="0" lvl="0" indent="457200" defTabSz="91440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ts val="3000"/>
              <a:buNone/>
            </a:pPr>
            <a:r>
              <a:rPr lang="fr-BE" sz="3000" kern="0">
                <a:solidFill>
                  <a:srgbClr val="2388DB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	</a:t>
            </a:r>
            <a:r>
              <a:rPr lang="fr-BE" sz="30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echo</a:t>
            </a:r>
            <a:r>
              <a:rPr lang="fr-BE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 $_GET['</a:t>
            </a:r>
            <a:r>
              <a:rPr lang="fr-BE" sz="3000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age</a:t>
            </a:r>
            <a:r>
              <a:rPr lang="fr-BE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'];  </a:t>
            </a:r>
            <a:r>
              <a:rPr lang="fr-BE" sz="3000" kern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// affiche ‘23’</a:t>
            </a:r>
          </a:p>
          <a:p>
            <a:pPr marL="0" lvl="0" indent="457200" defTabSz="91440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ts val="3000"/>
              <a:buNone/>
            </a:pPr>
            <a:r>
              <a:rPr lang="fr-BE" sz="3000" kern="0">
                <a:solidFill>
                  <a:srgbClr val="00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	</a:t>
            </a:r>
            <a:r>
              <a:rPr lang="fr-BE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226827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06 : lire le </a:t>
            </a:r>
            <a:r>
              <a:rPr lang="fr-BE" err="1"/>
              <a:t>form</a:t>
            </a:r>
            <a:endParaRPr lang="fr-BE"/>
          </a:p>
        </p:txBody>
      </p:sp>
      <p:sp>
        <p:nvSpPr>
          <p:cNvPr id="200" name="Google Shape;200;p33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1339"/>
          </a:xfrm>
        </p:spPr>
        <p:txBody>
          <a:bodyPr>
            <a:noAutofit/>
          </a:bodyPr>
          <a:lstStyle/>
          <a:p>
            <a:pPr defTabSz="91440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ct val="100000"/>
            </a:pPr>
            <a:r>
              <a:rPr lang="fr-BE"/>
              <a:t>Comment parcourir les données reçues du formulaire ? </a:t>
            </a:r>
          </a:p>
          <a:p>
            <a:pPr marL="0" lvl="0" indent="0" defTabSz="91440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ts val="1100"/>
              <a:buNone/>
            </a:pPr>
            <a:r>
              <a:rPr lang="en-US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	</a:t>
            </a:r>
            <a:r>
              <a:rPr lang="en-US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foreach( </a:t>
            </a:r>
            <a:r>
              <a:rPr lang="en-US" sz="30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$_GET </a:t>
            </a:r>
            <a:r>
              <a:rPr lang="en-US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as $key =&gt; $val ) </a:t>
            </a:r>
          </a:p>
          <a:p>
            <a:pPr marL="0" lvl="0" indent="0" defTabSz="91440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ts val="1100"/>
              <a:buNone/>
            </a:pPr>
            <a:r>
              <a:rPr lang="en-US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	{</a:t>
            </a:r>
          </a:p>
          <a:p>
            <a:pPr marL="0" lvl="0" indent="0" defTabSz="91440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ts val="1100"/>
              <a:buNone/>
            </a:pPr>
            <a:r>
              <a:rPr lang="en-US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		echo "$key : $val&lt;</a:t>
            </a:r>
            <a:r>
              <a:rPr lang="en-US" sz="300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br</a:t>
            </a:r>
            <a:r>
              <a:rPr lang="en-US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/&gt;";</a:t>
            </a:r>
          </a:p>
          <a:p>
            <a:pPr marL="0" lvl="0" indent="0" defTabSz="91440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ts val="1100"/>
              <a:buNone/>
            </a:pPr>
            <a:r>
              <a:rPr lang="en-US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	}</a:t>
            </a:r>
          </a:p>
          <a:p>
            <a:pPr defTabSz="91440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ct val="100000"/>
            </a:pPr>
            <a:r>
              <a:rPr lang="en-US" err="1">
                <a:sym typeface="Courier New"/>
              </a:rPr>
              <a:t>ou</a:t>
            </a:r>
            <a:r>
              <a:rPr lang="en-US">
                <a:sym typeface="Courier New"/>
              </a:rPr>
              <a:t> </a:t>
            </a:r>
          </a:p>
          <a:p>
            <a:pPr marL="0" indent="0" defTabSz="91440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ts val="1100"/>
              <a:buNone/>
            </a:pPr>
            <a:r>
              <a:rPr lang="en-US" sz="30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	</a:t>
            </a:r>
            <a:r>
              <a:rPr lang="en-US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print_r</a:t>
            </a:r>
            <a:r>
              <a:rPr lang="en-US" sz="30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($_GET</a:t>
            </a:r>
            <a:r>
              <a:rPr lang="en-US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) ;</a:t>
            </a:r>
          </a:p>
          <a:p>
            <a:pPr marL="0" indent="0" defTabSz="914400">
              <a:lnSpc>
                <a:spcPct val="100000"/>
              </a:lnSpc>
              <a:spcBef>
                <a:spcPts val="600"/>
              </a:spcBef>
              <a:buClr>
                <a:srgbClr val="000000"/>
              </a:buClr>
              <a:buSzPts val="1100"/>
              <a:buNone/>
            </a:pPr>
            <a:r>
              <a:rPr lang="en-US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	var_dump</a:t>
            </a:r>
            <a:r>
              <a:rPr lang="en-US" sz="300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($_GET</a:t>
            </a:r>
            <a:r>
              <a:rPr lang="en-US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) ;</a:t>
            </a:r>
          </a:p>
        </p:txBody>
      </p:sp>
    </p:spTree>
    <p:extLst>
      <p:ext uri="{BB962C8B-B14F-4D97-AF65-F5344CB8AC3E}">
        <p14:creationId xmlns:p14="http://schemas.microsoft.com/office/powerpoint/2010/main" val="2987480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6BBC3E-496E-4F87-9848-839E97457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07 : login élémentaire et bibliothèque de fonction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538AFD-2AC4-4406-9BF8-39F4BCE877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857240" cy="3029717"/>
          </a:xfrm>
        </p:spPr>
        <p:txBody>
          <a:bodyPr>
            <a:normAutofit fontScale="85000" lnSpcReduction="20000"/>
          </a:bodyPr>
          <a:lstStyle/>
          <a:p>
            <a:r>
              <a:rPr lang="fr-BE"/>
              <a:t>Écrivez un programme qui</a:t>
            </a:r>
          </a:p>
          <a:p>
            <a:pPr lvl="1"/>
            <a:r>
              <a:rPr lang="fr-BE"/>
              <a:t>Lit un login entré par l'utilisateur </a:t>
            </a:r>
          </a:p>
          <a:p>
            <a:pPr lvl="1"/>
            <a:r>
              <a:rPr lang="fr-BE"/>
              <a:t>Évalue si ce login est correct (un seul login hard-codé)</a:t>
            </a:r>
          </a:p>
          <a:p>
            <a:pPr lvl="1"/>
            <a:r>
              <a:rPr lang="fr-BE"/>
              <a:t>Affiche en conséquence un message de bienvenue ou de rejet </a:t>
            </a:r>
          </a:p>
          <a:p>
            <a:pPr lvl="1"/>
            <a:r>
              <a:rPr lang="fr-BE"/>
              <a:t>Organisation du code en fonctions PHP </a:t>
            </a: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06CDB9FE-B339-4E7E-9BA8-828C0C254D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3348806"/>
            <a:ext cx="5181600" cy="1170038"/>
          </a:xfr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9E749FC1-0544-4023-ACA1-1FD588600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880" y="1882539"/>
            <a:ext cx="5247619" cy="130476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5F63018-231D-49C5-BA87-2C6420564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880" y="3315758"/>
            <a:ext cx="5228571" cy="127619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15AF670C-BE8C-D8BC-F53F-2C22E6C3CD70}"/>
              </a:ext>
            </a:extLst>
          </p:cNvPr>
          <p:cNvSpPr txBox="1"/>
          <p:nvPr/>
        </p:nvSpPr>
        <p:spPr>
          <a:xfrm>
            <a:off x="345440" y="4427369"/>
            <a:ext cx="7061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html_head($title="4IPDW")</a:t>
            </a:r>
          </a:p>
          <a:p>
            <a:pPr marL="0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html_welcome($text)</a:t>
            </a:r>
          </a:p>
          <a:p>
            <a:pPr marL="0" lvl="2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html_login_form($intro="", $value="")</a:t>
            </a:r>
          </a:p>
          <a:p>
            <a:pPr marL="0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html_welcome_user($people)</a:t>
            </a:r>
          </a:p>
          <a:p>
            <a:pPr marL="0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html_foot()</a:t>
            </a:r>
          </a:p>
        </p:txBody>
      </p:sp>
    </p:spTree>
    <p:extLst>
      <p:ext uri="{BB962C8B-B14F-4D97-AF65-F5344CB8AC3E}">
        <p14:creationId xmlns:p14="http://schemas.microsoft.com/office/powerpoint/2010/main" val="4269845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Exo 11 : Catalogue + Insertion CSV</a:t>
            </a:r>
          </a:p>
        </p:txBody>
      </p:sp>
      <p:sp>
        <p:nvSpPr>
          <p:cNvPr id="162" name="Google Shape;162;p27"/>
          <p:cNvSpPr txBox="1"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/>
              <a:t>A la suite des exercices précédents, écrivez le code PHP correspondant au formulaire. </a:t>
            </a:r>
          </a:p>
          <a:p>
            <a:r>
              <a:rPr lang="fr-BE"/>
              <a:t>Fonction : Le script PHP insère les données dans le fichier CSV, puis réaffiche le tableau.</a:t>
            </a:r>
          </a:p>
          <a:p>
            <a:r>
              <a:rPr lang="fr-BE"/>
              <a:t>fichiers exo :</a:t>
            </a:r>
          </a:p>
          <a:p>
            <a:pPr lvl="1"/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database_catalogue.csv</a:t>
            </a:r>
          </a:p>
          <a:p>
            <a:pPr lvl="1"/>
            <a:r>
              <a:rPr lang="fr-BE" sz="2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exo11_catalogue.php</a:t>
            </a:r>
          </a:p>
          <a:p>
            <a:endParaRPr lang="fr-BE"/>
          </a:p>
        </p:txBody>
      </p:sp>
      <p:pic>
        <p:nvPicPr>
          <p:cNvPr id="6" name="Google Shape;219;p36"/>
          <p:cNvPicPr preferRelativeResize="0">
            <a:picLocks noGrp="1"/>
          </p:cNvPicPr>
          <p:nvPr>
            <p:ph sz="half" idx="2"/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2200" y="1690689"/>
            <a:ext cx="5857240" cy="40067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5580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Super Globales : $_SESSION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99C89DA-3AB0-A457-F2E6-99A9BD32A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20A5EE0F-E680-2E4A-E09C-FD198E7171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91910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Définition</a:t>
            </a:r>
          </a:p>
        </p:txBody>
      </p:sp>
      <p:sp>
        <p:nvSpPr>
          <p:cNvPr id="244" name="Google Shape;244;p40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En informatique et en télécommunication, une </a:t>
            </a:r>
            <a:r>
              <a:rPr lang="fr-BE">
                <a:solidFill>
                  <a:schemeClr val="accent2"/>
                </a:solidFill>
              </a:rPr>
              <a:t>session</a:t>
            </a:r>
            <a:r>
              <a:rPr lang="fr-BE"/>
              <a:t> est une période délimitée pendant laquelle un système informatique ou "serveur" est en </a:t>
            </a:r>
            <a:r>
              <a:rPr lang="fr-BE">
                <a:solidFill>
                  <a:schemeClr val="accent2"/>
                </a:solidFill>
              </a:rPr>
              <a:t>communication</a:t>
            </a:r>
            <a:r>
              <a:rPr lang="fr-BE"/>
              <a:t> avec et réalise des </a:t>
            </a:r>
            <a:r>
              <a:rPr lang="fr-BE">
                <a:solidFill>
                  <a:schemeClr val="accent2"/>
                </a:solidFill>
              </a:rPr>
              <a:t>opérations</a:t>
            </a:r>
            <a:r>
              <a:rPr lang="fr-BE"/>
              <a:t> pour un "client" - un usager, un logiciel ou un autre système.</a:t>
            </a:r>
          </a:p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75379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latin typeface="Courier New" panose="02070309020205020404" pitchFamily="49" charset="0"/>
                <a:cs typeface="Courier New" panose="02070309020205020404" pitchFamily="49" charset="0"/>
              </a:rPr>
              <a:t>session_start()</a:t>
            </a:r>
          </a:p>
        </p:txBody>
      </p:sp>
      <p:sp>
        <p:nvSpPr>
          <p:cNvPr id="250" name="Google Shape;250;p41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Crée une session ou restaure celle trouvée sur le serveur, via l'identifiant de session passé dans une requête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GET</a:t>
            </a:r>
            <a:r>
              <a:rPr lang="fr-BE"/>
              <a:t>,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POST</a:t>
            </a:r>
            <a:r>
              <a:rPr lang="fr-BE"/>
              <a:t> ou par un cookie.</a:t>
            </a:r>
          </a:p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7790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latin typeface="Courier New" panose="02070309020205020404" pitchFamily="49" charset="0"/>
                <a:cs typeface="Courier New" panose="02070309020205020404" pitchFamily="49" charset="0"/>
              </a:rPr>
              <a:t>session_unset()</a:t>
            </a:r>
          </a:p>
        </p:txBody>
      </p:sp>
      <p:sp>
        <p:nvSpPr>
          <p:cNvPr id="256" name="Google Shape;256;p42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Détruit toutes les données associées à la session courante.</a:t>
            </a:r>
          </a:p>
          <a:p>
            <a:r>
              <a:rPr lang="fr-BE"/>
              <a:t>Si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session_unset()</a:t>
            </a:r>
            <a:r>
              <a:rPr lang="fr-BE"/>
              <a:t> n’est pas explicitement lancée, alors la session sera détruite automatiquement après un “time-out”.</a:t>
            </a:r>
          </a:p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03962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3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latin typeface="Courier New" panose="02070309020205020404" pitchFamily="49" charset="0"/>
                <a:cs typeface="Courier New" panose="02070309020205020404" pitchFamily="49" charset="0"/>
              </a:rPr>
              <a:t>$_SESSION</a:t>
            </a:r>
          </a:p>
        </p:txBody>
      </p:sp>
      <p:sp>
        <p:nvSpPr>
          <p:cNvPr id="262" name="Google Shape;262;p43"/>
          <p:cNvSpPr txBox="1"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La variable super globale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$_SESSION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/>
              <a:t>permet d’enregistrer des données coté serveur sur un utilisateur pendant une session</a:t>
            </a:r>
          </a:p>
          <a:p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  <a:sym typeface="Courier New"/>
              </a:rPr>
              <a:t>$_SESSION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/>
              <a:t>est </a:t>
            </a:r>
            <a:r>
              <a:rPr lang="fr-BE">
                <a:solidFill>
                  <a:schemeClr val="accent2"/>
                </a:solidFill>
              </a:rPr>
              <a:t>unique</a:t>
            </a:r>
            <a:r>
              <a:rPr lang="fr-BE"/>
              <a:t> pour chaque session</a:t>
            </a:r>
          </a:p>
          <a:p>
            <a:pPr lvl="1"/>
            <a:r>
              <a:rPr lang="fr-BE"/>
              <a:t>ne dure </a:t>
            </a:r>
            <a:r>
              <a:rPr lang="fr-BE">
                <a:solidFill>
                  <a:schemeClr val="accent2"/>
                </a:solidFill>
              </a:rPr>
              <a:t>que le temps </a:t>
            </a:r>
            <a:r>
              <a:rPr lang="fr-BE"/>
              <a:t>de la session</a:t>
            </a:r>
          </a:p>
          <a:p>
            <a:pPr lvl="1"/>
            <a:r>
              <a:rPr lang="fr-BE"/>
              <a:t>s’utilise comme un tableau associatif</a:t>
            </a:r>
          </a:p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41445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4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>
                <a:latin typeface="Courier New" panose="02070309020205020404" pitchFamily="49" charset="0"/>
                <a:cs typeface="Courier New" panose="02070309020205020404" pitchFamily="49" charset="0"/>
              </a:rPr>
              <a:t>isset($var)</a:t>
            </a:r>
          </a:p>
        </p:txBody>
      </p:sp>
      <p:sp>
        <p:nvSpPr>
          <p:cNvPr id="268" name="Google Shape;268;p44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Détermine si la variable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$var</a:t>
            </a:r>
            <a:r>
              <a:rPr lang="fr-BE"/>
              <a:t> est définie</a:t>
            </a:r>
          </a:p>
          <a:p>
            <a:r>
              <a:rPr lang="fr-BE"/>
              <a:t>return : boolean</a:t>
            </a:r>
          </a:p>
        </p:txBody>
      </p:sp>
    </p:spTree>
    <p:extLst>
      <p:ext uri="{BB962C8B-B14F-4D97-AF65-F5344CB8AC3E}">
        <p14:creationId xmlns:p14="http://schemas.microsoft.com/office/powerpoint/2010/main" val="3775770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6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21 : </a:t>
            </a:r>
            <a:r>
              <a:rPr lang="fr-BE" err="1"/>
              <a:t>log-in</a:t>
            </a:r>
            <a:r>
              <a:rPr lang="fr-BE"/>
              <a:t>, log-out</a:t>
            </a:r>
          </a:p>
        </p:txBody>
      </p:sp>
      <p:sp>
        <p:nvSpPr>
          <p:cNvPr id="280" name="Google Shape;280;p46"/>
          <p:cNvSpPr txBox="1">
            <a:spLocks noGrp="1"/>
          </p:cNvSpPr>
          <p:nvPr>
            <p:ph sz="half" idx="1"/>
          </p:nvPr>
        </p:nvSpPr>
        <p:spPr/>
        <p:txBody>
          <a:bodyPr numCol="1">
            <a:normAutofit fontScale="92500" lnSpcReduction="20000"/>
          </a:bodyPr>
          <a:lstStyle/>
          <a:p>
            <a:r>
              <a:rPr lang="fr-BE"/>
              <a:t>Ecrivez un programme </a:t>
            </a:r>
            <a:r>
              <a:rPr lang="fr-BE" err="1"/>
              <a:t>php</a:t>
            </a:r>
            <a:r>
              <a:rPr lang="fr-BE"/>
              <a:t> qui permet à  l’utilisateur de se </a:t>
            </a:r>
            <a:r>
              <a:rPr lang="fr-BE" err="1"/>
              <a:t>logguer</a:t>
            </a:r>
            <a:r>
              <a:rPr lang="fr-BE"/>
              <a:t>, en saisissant son nom dans un input </a:t>
            </a:r>
            <a:r>
              <a:rPr lang="fr-BE" err="1"/>
              <a:t>field</a:t>
            </a:r>
            <a:r>
              <a:rPr lang="fr-BE"/>
              <a:t>.</a:t>
            </a:r>
          </a:p>
          <a:p>
            <a:r>
              <a:rPr lang="fr-BE"/>
              <a:t>Ensuite, écrivez un programme </a:t>
            </a:r>
            <a:r>
              <a:rPr lang="fr-BE" err="1"/>
              <a:t>php</a:t>
            </a:r>
            <a:r>
              <a:rPr lang="fr-BE"/>
              <a:t> qui permet à  l’utilisateur de se </a:t>
            </a:r>
            <a:r>
              <a:rPr lang="fr-BE" err="1"/>
              <a:t>délogguer</a:t>
            </a:r>
            <a:r>
              <a:rPr lang="fr-BE"/>
              <a:t>.</a:t>
            </a:r>
          </a:p>
          <a:p>
            <a:r>
              <a:rPr lang="fr-BE"/>
              <a:t>Le login de l'utilisateur est enregistré dans une variable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$_SESSION</a:t>
            </a:r>
            <a:r>
              <a:rPr lang="fr-BE"/>
              <a:t>.</a:t>
            </a:r>
          </a:p>
        </p:txBody>
      </p:sp>
      <p:pic>
        <p:nvPicPr>
          <p:cNvPr id="281" name="Google Shape;28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1480" y="2689492"/>
            <a:ext cx="5916057" cy="739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1480" y="4080689"/>
            <a:ext cx="2392575" cy="1279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6226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7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/>
              <a:t>Exo 24 : </a:t>
            </a:r>
            <a:r>
              <a:rPr lang="fr-BE" err="1"/>
              <a:t>log-in</a:t>
            </a:r>
            <a:r>
              <a:rPr lang="fr-BE"/>
              <a:t> et identification</a:t>
            </a:r>
          </a:p>
        </p:txBody>
      </p:sp>
      <p:sp>
        <p:nvSpPr>
          <p:cNvPr id="288" name="Google Shape;288;p47"/>
          <p:cNvSpPr txBox="1"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Reprenez le formulaire HTML de l'exercice 06-21 et ajoutez-y un </a:t>
            </a:r>
            <a:r>
              <a:rPr lang="fr-BE">
                <a:solidFill>
                  <a:schemeClr val="accent2"/>
                </a:solidFill>
              </a:rPr>
              <a:t>mot de passe</a:t>
            </a:r>
            <a:r>
              <a:rPr lang="fr-BE"/>
              <a:t>.</a:t>
            </a:r>
          </a:p>
          <a:p>
            <a:r>
              <a:rPr lang="fr-BE"/>
              <a:t>Vérifier si le login et le mot de passe sont corrects et si l’utilisateur peut être </a:t>
            </a:r>
            <a:r>
              <a:rPr lang="fr-BE">
                <a:solidFill>
                  <a:schemeClr val="accent2"/>
                </a:solidFill>
              </a:rPr>
              <a:t>connecté</a:t>
            </a:r>
            <a:r>
              <a:rPr lang="fr-BE"/>
              <a:t>.</a:t>
            </a:r>
          </a:p>
          <a:p>
            <a:r>
              <a:rPr lang="fr-BE"/>
              <a:t>Tous les login et mot de passe sont stockés de manière non cryptée dans un </a:t>
            </a:r>
            <a:r>
              <a:rPr lang="fr-BE">
                <a:solidFill>
                  <a:schemeClr val="accent2"/>
                </a:solidFill>
              </a:rPr>
              <a:t>fichier CSV</a:t>
            </a:r>
            <a:r>
              <a:rPr lang="fr-BE"/>
              <a:t>.</a:t>
            </a:r>
          </a:p>
          <a:p>
            <a:r>
              <a:rPr lang="fr-BE"/>
              <a:t>fichiers exo :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database_login.csv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exo24_login_password_session.php</a:t>
            </a:r>
          </a:p>
        </p:txBody>
      </p:sp>
    </p:spTree>
    <p:extLst>
      <p:ext uri="{BB962C8B-B14F-4D97-AF65-F5344CB8AC3E}">
        <p14:creationId xmlns:p14="http://schemas.microsoft.com/office/powerpoint/2010/main" val="320666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Super Globales : $_COOKIE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9E7B575-B8E8-03A0-E2FC-82A833BDB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0B1065CE-9197-0C66-4E85-55CC793B09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42831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5DA5B29-5402-4F39-8FAE-057E93616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Qu'est-ce qu'un cookie?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8E05BFB-519C-4DA7-8D8F-058BDAD2D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Un petit fichier que le serveur web place sur l'ordinateur de l'utilisateur. </a:t>
            </a:r>
          </a:p>
          <a:p>
            <a:r>
              <a:rPr lang="fr-BE"/>
              <a:t>Application populaire:</a:t>
            </a:r>
          </a:p>
          <a:p>
            <a:pPr lvl="1"/>
            <a:r>
              <a:rPr lang="fr-BE"/>
              <a:t>Conserver l'identité d'un utilisateur de page en page</a:t>
            </a:r>
          </a:p>
          <a:p>
            <a:r>
              <a:rPr lang="fr-BE"/>
              <a:t>En PHP, vous créez, lisez, modifiez et supprimez vos propres cookies.</a:t>
            </a:r>
          </a:p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2109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EB4D1A-1C79-44E3-B12C-F5993958C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Créer des cookies avec PHP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255889-0074-4AF9-88AB-6C763349B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setcookie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 </a:t>
            </a:r>
            <a:r>
              <a:rPr lang="en-US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value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expire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path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b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   domain, secure, </a:t>
            </a:r>
            <a:r>
              <a:rPr lang="en-US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httponly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);</a:t>
            </a:r>
          </a:p>
          <a:p>
            <a:pPr lvl="1"/>
            <a:r>
              <a:rPr lang="en-US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fr-BE"/>
              <a:t> : nom du cookie</a:t>
            </a:r>
          </a:p>
          <a:p>
            <a:pPr lvl="1"/>
            <a:r>
              <a:rPr lang="en-US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value</a:t>
            </a:r>
            <a:r>
              <a:rPr lang="en-US"/>
              <a:t> : </a:t>
            </a:r>
            <a:r>
              <a:rPr lang="en-US" err="1"/>
              <a:t>valeur</a:t>
            </a:r>
            <a:r>
              <a:rPr lang="en-US"/>
              <a:t> du cookie </a:t>
            </a:r>
          </a:p>
          <a:p>
            <a:pPr lvl="1"/>
            <a:r>
              <a:rPr lang="en-US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expire</a:t>
            </a:r>
            <a:r>
              <a:rPr lang="en-US"/>
              <a:t> : date-</a:t>
            </a:r>
            <a:r>
              <a:rPr lang="en-US" err="1"/>
              <a:t>heure</a:t>
            </a:r>
            <a:r>
              <a:rPr lang="en-US"/>
              <a:t> </a:t>
            </a:r>
            <a:r>
              <a:rPr lang="en-US" err="1"/>
              <a:t>d'expiration</a:t>
            </a:r>
            <a:r>
              <a:rPr lang="en-US"/>
              <a:t> du cookie </a:t>
            </a:r>
          </a:p>
          <a:p>
            <a:pPr lvl="2"/>
            <a:r>
              <a:rPr lang="en-US"/>
              <a:t>souvent </a:t>
            </a:r>
            <a:r>
              <a:rPr lang="en-US" err="1"/>
              <a:t>calculé</a:t>
            </a:r>
            <a:r>
              <a:rPr lang="en-US"/>
              <a:t> </a:t>
            </a:r>
            <a:r>
              <a:rPr lang="en-US" err="1"/>
              <a:t>ainsi</a:t>
            </a:r>
            <a:r>
              <a:rPr lang="en-US"/>
              <a:t> : date-</a:t>
            </a:r>
            <a:r>
              <a:rPr lang="en-US" err="1"/>
              <a:t>heure</a:t>
            </a:r>
            <a:r>
              <a:rPr lang="en-US"/>
              <a:t> courante + durée de </a:t>
            </a:r>
            <a:r>
              <a:rPr lang="en-US" err="1"/>
              <a:t>validité</a:t>
            </a:r>
            <a:endParaRPr lang="en-US"/>
          </a:p>
          <a:p>
            <a:pPr lvl="2"/>
            <a:r>
              <a:rPr lang="en-US"/>
              <a:t>si </a:t>
            </a:r>
            <a:r>
              <a:rPr lang="en-US" i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expire</a:t>
            </a:r>
            <a:r>
              <a:rPr lang="en-US"/>
              <a:t> </a:t>
            </a:r>
            <a:r>
              <a:rPr lang="en-US" err="1"/>
              <a:t>vaut</a:t>
            </a:r>
            <a:r>
              <a:rPr lang="en-US"/>
              <a:t> </a:t>
            </a:r>
            <a:r>
              <a:rPr lang="en-US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omis</a:t>
            </a:r>
            <a:r>
              <a:rPr lang="en-US"/>
              <a:t>, </a:t>
            </a:r>
            <a:br>
              <a:rPr lang="en-US"/>
            </a:br>
            <a:r>
              <a:rPr lang="en-US"/>
              <a:t>alors le cookie </a:t>
            </a:r>
            <a:r>
              <a:rPr lang="en-US" err="1"/>
              <a:t>expirera</a:t>
            </a:r>
            <a:r>
              <a:rPr lang="en-US"/>
              <a:t> à la fin de la session.</a:t>
            </a:r>
          </a:p>
          <a:p>
            <a:pPr lvl="1"/>
            <a:r>
              <a:rPr lang="en-US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path = "/"</a:t>
            </a:r>
            <a:r>
              <a:rPr lang="en-US"/>
              <a:t> : le répertoire en dessous duquel le cookie est disponible</a:t>
            </a:r>
          </a:p>
          <a:p>
            <a:pPr lvl="2"/>
            <a:r>
              <a:rPr lang="en-US"/>
              <a:t>dans ce cours : à mettre à </a:t>
            </a:r>
            <a:r>
              <a:rPr lang="en-US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"/"</a:t>
            </a:r>
            <a:r>
              <a:rPr lang="en-US"/>
              <a:t> à des fins de test</a:t>
            </a:r>
          </a:p>
          <a:p>
            <a:r>
              <a:rPr lang="fr-BE"/>
              <a:t>A placer </a:t>
            </a:r>
            <a:r>
              <a:rPr lang="fr-BE" b="1">
                <a:solidFill>
                  <a:schemeClr val="accent2"/>
                </a:solidFill>
              </a:rPr>
              <a:t>AVANT</a:t>
            </a:r>
            <a:r>
              <a:rPr lang="fr-BE"/>
              <a:t> la balise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&lt;html&gt;</a:t>
            </a:r>
          </a:p>
        </p:txBody>
      </p:sp>
    </p:spTree>
    <p:extLst>
      <p:ext uri="{BB962C8B-B14F-4D97-AF65-F5344CB8AC3E}">
        <p14:creationId xmlns:p14="http://schemas.microsoft.com/office/powerpoint/2010/main" val="1112117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EB4D1A-1C79-44E3-B12C-F5993958C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Créer des cookies avec PHP : exemple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255889-0074-4AF9-88AB-6C763349B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$name = 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"user"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b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$value = 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"John Doe";</a:t>
            </a:r>
            <a:b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$expire = 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time() + (86400 * 30);</a:t>
            </a:r>
            <a:b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err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setcookie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 $name, $value, $expire, "/");</a:t>
            </a:r>
          </a:p>
          <a:p>
            <a:r>
              <a:rPr lang="fr-BE"/>
              <a:t>Ce code crée un cookie nommé "user" avec la valeur "John Doe", qui expirera après 30 jours (86400 * 30).</a:t>
            </a:r>
            <a:r>
              <a:rPr lang="en-US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br>
              <a:rPr lang="en-US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013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6B8AD4-8C16-4163-8CD2-EAA61E6FC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Lire un cookie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D63915-830C-40F4-B5AA-C359620B4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super globale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$_COOKIE</a:t>
            </a:r>
          </a:p>
          <a:p>
            <a:pPr lvl="1"/>
            <a:r>
              <a:rPr lang="fr-BE"/>
              <a:t>Lire la valeur du cookie, par ex. </a:t>
            </a:r>
          </a:p>
          <a:p>
            <a:pPr marL="914377" lvl="2" indent="0">
              <a:buNone/>
            </a:pPr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echo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$_COOKIE["user"];</a:t>
            </a:r>
          </a:p>
          <a:p>
            <a:pPr lvl="1"/>
            <a:r>
              <a:rPr lang="fr-BE"/>
              <a:t>Associative </a:t>
            </a:r>
            <a:r>
              <a:rPr lang="fr-BE" err="1"/>
              <a:t>array</a:t>
            </a:r>
            <a:r>
              <a:rPr lang="fr-BE"/>
              <a:t> !</a:t>
            </a:r>
          </a:p>
          <a:p>
            <a:r>
              <a:rPr lang="fr-BE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isset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fr-BE">
                <a:latin typeface="Consolas" panose="020B0609020204030204" pitchFamily="49" charset="0"/>
              </a:rPr>
              <a:t> </a:t>
            </a:r>
          </a:p>
          <a:p>
            <a:pPr lvl="1"/>
            <a:r>
              <a:rPr lang="fr-BE"/>
              <a:t>Savoir si le cookie est défini</a:t>
            </a:r>
          </a:p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33522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97FBD3-2CB1-458C-8CD3-8556940C4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Modifier un cookie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09CC87-D438-45CB-B0FA-36426B775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214"/>
            <a:ext cx="10515600" cy="4348165"/>
          </a:xfrm>
        </p:spPr>
        <p:txBody>
          <a:bodyPr>
            <a:normAutofit/>
          </a:bodyPr>
          <a:lstStyle/>
          <a:p>
            <a:r>
              <a:rPr lang="fr-BE"/>
              <a:t>On définit à nouveau le cookie avec les nouvelles valeurs.</a:t>
            </a:r>
          </a:p>
          <a:p>
            <a:pPr marL="0" indent="0">
              <a:buNone/>
            </a:pPr>
            <a:r>
              <a:rPr lang="en-US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setcookie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en-US" i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value</a:t>
            </a:r>
            <a:r>
              <a:rPr lang="en-US" i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expire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"/"</a:t>
            </a:r>
            <a:r>
              <a:rPr lang="en-US" i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lvl="1"/>
            <a:r>
              <a:rPr lang="en-US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</a:t>
            </a:r>
            <a:r>
              <a:rPr lang="fr-BE"/>
              <a:t> : nom du cookie (inchangé)</a:t>
            </a:r>
          </a:p>
          <a:p>
            <a:pPr lvl="1"/>
            <a:r>
              <a:rPr lang="en-US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value</a:t>
            </a:r>
            <a:r>
              <a:rPr lang="en-US"/>
              <a:t> : nouvelle </a:t>
            </a:r>
            <a:r>
              <a:rPr lang="en-US" err="1"/>
              <a:t>valeur</a:t>
            </a:r>
            <a:r>
              <a:rPr lang="en-US"/>
              <a:t> du cookie </a:t>
            </a:r>
          </a:p>
          <a:p>
            <a:pPr lvl="1"/>
            <a:r>
              <a:rPr lang="en-US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expire</a:t>
            </a:r>
            <a:r>
              <a:rPr lang="en-US"/>
              <a:t> : nouvelle date-</a:t>
            </a:r>
            <a:r>
              <a:rPr lang="en-US" err="1"/>
              <a:t>heure</a:t>
            </a:r>
            <a:r>
              <a:rPr lang="en-US"/>
              <a:t> </a:t>
            </a:r>
            <a:r>
              <a:rPr lang="en-US" err="1"/>
              <a:t>d'expiration</a:t>
            </a:r>
            <a:r>
              <a:rPr lang="en-US"/>
              <a:t> du cookie, etc.</a:t>
            </a:r>
          </a:p>
          <a:p>
            <a:r>
              <a:rPr lang="en-US" err="1"/>
              <a:t>Exemple</a:t>
            </a:r>
            <a:endParaRPr lang="en-US" b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189" lvl="1" indent="0">
              <a:buNone/>
            </a:pPr>
            <a:r>
              <a:rPr lang="en-US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setcookie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 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"user"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"Alex Porter"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);</a:t>
            </a:r>
          </a:p>
          <a:p>
            <a:endParaRPr lang="fr-BE" b="1" i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390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97FBD3-2CB1-458C-8CD3-8556940C4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Supprimer un cookie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09CC87-D438-45CB-B0FA-36426B775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On définit à nouveau le cookie, mais avec une date d'expiration dans le passé.</a:t>
            </a:r>
            <a:endParaRPr lang="en-US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setcookie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 </a:t>
            </a:r>
            <a:r>
              <a:rPr lang="en-US" i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name, value, </a:t>
            </a:r>
            <a:r>
              <a:rPr lang="en-US" i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expire</a:t>
            </a:r>
            <a:r>
              <a:rPr lang="en-US" i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"/" 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lvl="1"/>
            <a:r>
              <a:rPr lang="fr-BE" i="1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expire</a:t>
            </a:r>
            <a:r>
              <a:rPr lang="fr-BE"/>
              <a:t> : valeur </a:t>
            </a:r>
            <a:r>
              <a:rPr lang="fr-BE">
                <a:solidFill>
                  <a:schemeClr val="accent2"/>
                </a:solidFill>
              </a:rPr>
              <a:t>dans le passé</a:t>
            </a:r>
            <a:r>
              <a:rPr lang="fr-BE"/>
              <a:t>, par ex. </a:t>
            </a:r>
            <a:r>
              <a:rPr lang="fr-BE" i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err="1"/>
              <a:t>Exemple</a:t>
            </a:r>
            <a:endParaRPr lang="en-US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189" lvl="1" indent="0">
              <a:buNone/>
            </a:pPr>
            <a:r>
              <a:rPr lang="en-US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setcookie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 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"user"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"John Doe"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"/" );</a:t>
            </a:r>
          </a:p>
          <a:p>
            <a:endParaRPr lang="fr-BE" i="1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102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EBFC8E-6EB3-515B-588D-728359F5A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fr-BE"/>
              <a:t>Architecture des cookies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5118A1C-DDC3-C98E-AD9D-332F01179C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378" y="1690688"/>
            <a:ext cx="8841244" cy="4486275"/>
          </a:xfrm>
          <a:noFill/>
        </p:spPr>
      </p:pic>
    </p:spTree>
    <p:extLst>
      <p:ext uri="{BB962C8B-B14F-4D97-AF65-F5344CB8AC3E}">
        <p14:creationId xmlns:p14="http://schemas.microsoft.com/office/powerpoint/2010/main" val="4191489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6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27 : </a:t>
            </a:r>
            <a:r>
              <a:rPr lang="fr-BE" err="1"/>
              <a:t>log-in</a:t>
            </a:r>
            <a:r>
              <a:rPr lang="fr-BE"/>
              <a:t>, log-out</a:t>
            </a:r>
          </a:p>
        </p:txBody>
      </p:sp>
      <p:sp>
        <p:nvSpPr>
          <p:cNvPr id="280" name="Google Shape;280;p46"/>
          <p:cNvSpPr txBox="1">
            <a:spLocks noGrp="1"/>
          </p:cNvSpPr>
          <p:nvPr>
            <p:ph sz="half" idx="1"/>
          </p:nvPr>
        </p:nvSpPr>
        <p:spPr/>
        <p:txBody>
          <a:bodyPr numCol="1">
            <a:normAutofit fontScale="85000" lnSpcReduction="20000"/>
          </a:bodyPr>
          <a:lstStyle/>
          <a:p>
            <a:r>
              <a:rPr lang="fr-BE"/>
              <a:t>Ecrivez un programme </a:t>
            </a:r>
            <a:r>
              <a:rPr lang="fr-BE" err="1"/>
              <a:t>php</a:t>
            </a:r>
            <a:r>
              <a:rPr lang="fr-BE"/>
              <a:t> qui permet à  l’utilisateur de se </a:t>
            </a:r>
            <a:r>
              <a:rPr lang="fr-BE" err="1"/>
              <a:t>logguer</a:t>
            </a:r>
            <a:r>
              <a:rPr lang="fr-BE"/>
              <a:t>, en saisissant son nom dans un input </a:t>
            </a:r>
            <a:r>
              <a:rPr lang="fr-BE" err="1"/>
              <a:t>field</a:t>
            </a:r>
            <a:r>
              <a:rPr lang="fr-BE"/>
              <a:t>.</a:t>
            </a:r>
          </a:p>
          <a:p>
            <a:r>
              <a:rPr lang="fr-BE"/>
              <a:t>Ensuite, écrivez un programme </a:t>
            </a:r>
            <a:r>
              <a:rPr lang="fr-BE" err="1"/>
              <a:t>php</a:t>
            </a:r>
            <a:r>
              <a:rPr lang="fr-BE"/>
              <a:t> qui permet à  l’utilisateur de se </a:t>
            </a:r>
            <a:r>
              <a:rPr lang="fr-BE" err="1"/>
              <a:t>délogguer</a:t>
            </a:r>
            <a:r>
              <a:rPr lang="fr-BE"/>
              <a:t>.</a:t>
            </a:r>
          </a:p>
          <a:p>
            <a:r>
              <a:rPr lang="fr-BE"/>
              <a:t>Le login de l'utilisateur est enregistré dans une variable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$_COOKIE</a:t>
            </a:r>
            <a:r>
              <a:rPr lang="fr-BE"/>
              <a:t>.</a:t>
            </a:r>
          </a:p>
          <a:p>
            <a:r>
              <a:rPr lang="fr-BE"/>
              <a:t>fichier exo :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exo27_login_cookie.php</a:t>
            </a:r>
          </a:p>
          <a:p>
            <a:pPr lvl="1"/>
            <a:endParaRPr lang="fr-BE"/>
          </a:p>
        </p:txBody>
      </p:sp>
      <p:pic>
        <p:nvPicPr>
          <p:cNvPr id="281" name="Google Shape;28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1480" y="2689492"/>
            <a:ext cx="5916057" cy="739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1480" y="4080689"/>
            <a:ext cx="2392575" cy="1279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5251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urotix">
  <a:themeElements>
    <a:clrScheme name="Custom 4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DD3D1"/>
      </a:accent1>
      <a:accent2>
        <a:srgbClr val="1963A1"/>
      </a:accent2>
      <a:accent3>
        <a:srgbClr val="E5CBAD"/>
      </a:accent3>
      <a:accent4>
        <a:srgbClr val="5DF5F3"/>
      </a:accent4>
      <a:accent5>
        <a:srgbClr val="56A4E4"/>
      </a:accent5>
      <a:accent6>
        <a:srgbClr val="EFDFCD"/>
      </a:accent6>
      <a:hlink>
        <a:srgbClr val="000000"/>
      </a:hlink>
      <a:folHlink>
        <a:srgbClr val="3F3F3F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lides discret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rotix2025.potm" id="{9A679E22-159F-4468-BD25-5554C2F5C34C}" vid="{02412E46-CBBA-45C1-A7EE-8401C077A5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burotix2025</Template>
  <TotalTime>9058</TotalTime>
  <Words>1800</Words>
  <Application>Microsoft Office PowerPoint</Application>
  <PresentationFormat>Grand écran</PresentationFormat>
  <Paragraphs>260</Paragraphs>
  <Slides>40</Slides>
  <Notes>25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40</vt:i4>
      </vt:variant>
      <vt:variant>
        <vt:lpstr>Diaporamas personnalisés</vt:lpstr>
      </vt:variant>
      <vt:variant>
        <vt:i4>1</vt:i4>
      </vt:variant>
    </vt:vector>
  </HeadingPairs>
  <TitlesOfParts>
    <vt:vector size="48" baseType="lpstr">
      <vt:lpstr>Arial</vt:lpstr>
      <vt:lpstr>Calibri</vt:lpstr>
      <vt:lpstr>Consolas</vt:lpstr>
      <vt:lpstr>Courier New</vt:lpstr>
      <vt:lpstr>Garamond</vt:lpstr>
      <vt:lpstr>Wingdings</vt:lpstr>
      <vt:lpstr>burotix</vt:lpstr>
      <vt:lpstr>Bachelier en Informatique de Gestion  Web : principes de base Projet de Développement Web</vt:lpstr>
      <vt:lpstr>Table des matières</vt:lpstr>
      <vt:lpstr>22. Traitement du Formulaire</vt:lpstr>
      <vt:lpstr>Transit des données</vt:lpstr>
      <vt:lpstr>Single Page App. vs Multiple Page App.</vt:lpstr>
      <vt:lpstr>MPA vs SPA, use cases</vt:lpstr>
      <vt:lpstr>Objectifs des formulaires</vt:lpstr>
      <vt:lpstr>Comment faire transiter les données?</vt:lpstr>
      <vt:lpstr>MPA : Déclaration d'un formulaire</vt:lpstr>
      <vt:lpstr>SPA : Exemple de formulaire ? </vt:lpstr>
      <vt:lpstr>Balises HTML Form</vt:lpstr>
      <vt:lpstr>La balise &lt;input&gt;</vt:lpstr>
      <vt:lpstr>Autres balises</vt:lpstr>
      <vt:lpstr>Soumettre un formulaire </vt:lpstr>
      <vt:lpstr>Exo 01 : Sample "Atomic" Form</vt:lpstr>
      <vt:lpstr>Exo 03 : Sample "Molecular" Form</vt:lpstr>
      <vt:lpstr>Exo 05 : Catalogue + Form Input</vt:lpstr>
      <vt:lpstr>Super Globales : $_GET et $_POST</vt:lpstr>
      <vt:lpstr>$_GET et $_POST</vt:lpstr>
      <vt:lpstr>$_GET et $_POST</vt:lpstr>
      <vt:lpstr>Exo 06 : lire le form</vt:lpstr>
      <vt:lpstr>Exo 07 : login élémentaire et bibliothèque de fonction</vt:lpstr>
      <vt:lpstr>Exo 11 : Catalogue + Insertion CSV</vt:lpstr>
      <vt:lpstr>Super Globales : $_SESSION</vt:lpstr>
      <vt:lpstr>Définition</vt:lpstr>
      <vt:lpstr>session_start()</vt:lpstr>
      <vt:lpstr>session_unset()</vt:lpstr>
      <vt:lpstr>$_SESSION</vt:lpstr>
      <vt:lpstr>isset($var)</vt:lpstr>
      <vt:lpstr>Exo 21 : log-in, log-out</vt:lpstr>
      <vt:lpstr>Exo 24 : log-in et identification</vt:lpstr>
      <vt:lpstr>Super Globales : $_COOKIE</vt:lpstr>
      <vt:lpstr>Qu'est-ce qu'un cookie?</vt:lpstr>
      <vt:lpstr>Créer des cookies avec PHP</vt:lpstr>
      <vt:lpstr>Créer des cookies avec PHP : exemple</vt:lpstr>
      <vt:lpstr>Lire un cookie</vt:lpstr>
      <vt:lpstr>Modifier un cookie</vt:lpstr>
      <vt:lpstr>Supprimer un cookie</vt:lpstr>
      <vt:lpstr>Architecture des cookies</vt:lpstr>
      <vt:lpstr>Exo 27 : log-in, log-out</vt:lpstr>
      <vt:lpstr>cefora powerpoint 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Bachelier en Informatique de Gestion  Projet de Développement Web</dc:title>
  <dc:creator>Alain Wafflard</dc:creator>
  <cp:lastModifiedBy>Alain Wafflard</cp:lastModifiedBy>
  <cp:revision>133</cp:revision>
  <dcterms:created xsi:type="dcterms:W3CDTF">2020-03-25T16:55:22Z</dcterms:created>
  <dcterms:modified xsi:type="dcterms:W3CDTF">2026-09-07T12:04:09Z</dcterms:modified>
</cp:coreProperties>
</file>