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7" r:id="rId1"/>
  </p:sldMasterIdLst>
  <p:notesMasterIdLst>
    <p:notesMasterId r:id="rId13"/>
  </p:notesMasterIdLst>
  <p:sldIdLst>
    <p:sldId id="256" r:id="rId2"/>
    <p:sldId id="408" r:id="rId3"/>
    <p:sldId id="279" r:id="rId4"/>
    <p:sldId id="651" r:id="rId5"/>
    <p:sldId id="600" r:id="rId6"/>
    <p:sldId id="601" r:id="rId7"/>
    <p:sldId id="602" r:id="rId8"/>
    <p:sldId id="603" r:id="rId9"/>
    <p:sldId id="663" r:id="rId10"/>
    <p:sldId id="653" r:id="rId11"/>
    <p:sldId id="604" r:id="rId12"/>
  </p:sldIdLst>
  <p:sldSz cx="12192000" cy="6858000"/>
  <p:notesSz cx="6858000" cy="9144000"/>
  <p:custShowLst>
    <p:custShow name="cefora powerpoint base" id="0">
      <p:sldLst/>
    </p:custShow>
  </p:custShowLst>
  <p:defaultTextStyle>
    <a:defPPr>
      <a:defRPr lang="fr-FR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6. Format JSON" id="{3AD74A09-3F82-48D4-ABA8-C0F174C3295E}">
          <p14:sldIdLst>
            <p14:sldId id="256"/>
            <p14:sldId id="408"/>
            <p14:sldId id="279"/>
          </p14:sldIdLst>
        </p14:section>
        <p14:section name="JSON : description" id="{CFAD5EE3-10C3-4A90-AC51-4EE45F7ABD3B}">
          <p14:sldIdLst>
            <p14:sldId id="651"/>
            <p14:sldId id="600"/>
            <p14:sldId id="601"/>
            <p14:sldId id="602"/>
            <p14:sldId id="603"/>
            <p14:sldId id="663"/>
          </p14:sldIdLst>
        </p14:section>
        <p14:section name="JSON : références" id="{D7B728DA-1F55-4CBB-8045-2ABD611C80E3}">
          <p14:sldIdLst>
            <p14:sldId id="653"/>
            <p14:sldId id="6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ain Wafflard" initials="AW" lastIdx="1" clrIdx="0">
    <p:extLst>
      <p:ext uri="{19B8F6BF-5375-455C-9EA6-DF929625EA0E}">
        <p15:presenceInfo xmlns:p15="http://schemas.microsoft.com/office/powerpoint/2012/main" userId="76bb5ce92a207b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FF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4" autoAdjust="0"/>
    <p:restoredTop sz="86419" autoAdjust="0"/>
  </p:normalViewPr>
  <p:slideViewPr>
    <p:cSldViewPr snapToGrid="0">
      <p:cViewPr varScale="1">
        <p:scale>
          <a:sx n="58" d="100"/>
          <a:sy n="58" d="100"/>
        </p:scale>
        <p:origin x="102" y="9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355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9742F-4DAE-47F5-9244-6ACC3985DD6B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3842A0-1A3F-4998-8237-CE5EEE5DFDF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560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/>
              <a:t>1</a:t>
            </a:fld>
            <a:endParaRPr/>
          </a:p>
        </p:txBody>
      </p:sp>
      <p:sp>
        <p:nvSpPr>
          <p:cNvPr id="53" name="Google Shape;5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GESTIONNAIRE DE BASE DE DONNEES – NIVEAU ELEMENTAIRE - MS ACCESS</a:t>
            </a: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Professeur : Alain Wafflard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1b0d2e39_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1b0d2e39_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 algn="ctr"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EFA58-10A1-BAA7-B65E-A754A43B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4B8606-B65F-6EB2-899E-91B5C83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FA919-3ED3-80D3-E61B-53F97BE6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15705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8EF8D-0946-4672-F93D-1040FBC9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8A40D7-7FAD-432F-7B9F-71125A56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A3E5DF-3F32-A840-9AC0-4B04DF1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64727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D67B63-F450-35EF-442C-62311487D2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C20ED6-7274-FD2F-773B-9069D53732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282271-26EC-908B-2E9D-6EE95CFBEB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58333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BD7575-5E4D-B6F7-D511-002E7EBB1A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7AA542-0BD3-6896-CFBC-925661457E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1D4A95-E4A4-1574-4F11-DE8F196135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08294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3EE368-836F-D6B7-3720-94E515B8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0FC0D1-460C-5274-B67A-CADD301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5E82B2-87DB-8B8E-12FD-843E8135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2714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05DBAD-E815-DA9F-C843-1DE122AA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44211E-58E3-3B61-D18C-DCC7772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F2F6A2-3605-D138-CBD4-299C105E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11644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23E5C8-1D92-E25A-D482-9866759B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ACAADE-10AC-A5C6-B021-C668BC20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BD460E-C94D-0F17-7C77-D32F9CC1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47084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780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0"/>
            <a:ext cx="617220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3BACDB-1022-3581-CB46-1F85D702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8F4609-0312-F825-CC91-FAC10F3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F0E555-3A77-670E-9C69-DE1D8DE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2796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28AA8DD-8AD1-FA7A-BD96-C847EEE421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" b="37"/>
          <a:stretch>
            <a:fillRect/>
          </a:stretch>
        </p:blipFill>
        <p:spPr bwMode="auto">
          <a:xfrm>
            <a:off x="9002810" y="594931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1453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E8A9597-9B74-1C48-791F-894E514F67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" b="37"/>
          <a:stretch>
            <a:fillRect/>
          </a:stretch>
        </p:blipFill>
        <p:spPr bwMode="auto">
          <a:xfrm>
            <a:off x="9002810" y="594931"/>
            <a:ext cx="21600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9569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userDrawn="1">
  <p:cSld name="1_Compara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6"/>
          <p:cNvSpPr txBox="1">
            <a:spLocks noGrp="1"/>
          </p:cNvSpPr>
          <p:nvPr>
            <p:ph type="body" idx="3"/>
          </p:nvPr>
        </p:nvSpPr>
        <p:spPr>
          <a:xfrm>
            <a:off x="4394864" y="1677195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6"/>
          <p:cNvSpPr txBox="1">
            <a:spLocks noGrp="1"/>
          </p:cNvSpPr>
          <p:nvPr>
            <p:ph type="body" idx="4"/>
          </p:nvPr>
        </p:nvSpPr>
        <p:spPr>
          <a:xfrm>
            <a:off x="4394863" y="2501107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44;p146">
            <a:extLst>
              <a:ext uri="{FF2B5EF4-FFF2-40B4-BE49-F238E27FC236}">
                <a16:creationId xmlns:a16="http://schemas.microsoft.com/office/drawing/2014/main" id="{2E687717-1647-0388-990E-8851C964199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7949940" y="1690688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" name="Google Shape;45;p146">
            <a:extLst>
              <a:ext uri="{FF2B5EF4-FFF2-40B4-BE49-F238E27FC236}">
                <a16:creationId xmlns:a16="http://schemas.microsoft.com/office/drawing/2014/main" id="{D8C59DA1-11B0-4EEA-43AC-8402AF228130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7949937" y="2529543"/>
            <a:ext cx="3433923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611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3148E-CCCA-4F1F-A836-655D884BB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95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29B381-A1A5-FC30-27CA-947A26903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FB2116-0A00-B6AB-43FF-F23B8EB09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6287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8" r:id="rId10"/>
    <p:sldLayoutId id="2147483869" r:id="rId11"/>
    <p:sldLayoutId id="2147483870" r:id="rId12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son.org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fr-BE" dirty="0"/>
              <a:t>Bachelier en Informatique de Gestion</a:t>
            </a:r>
            <a:br>
              <a:rPr lang="fr-BE" dirty="0"/>
            </a:br>
            <a:br>
              <a:rPr lang="fr-BE"/>
            </a:br>
            <a:r>
              <a:rPr lang="fr-BE"/>
              <a:t>Web </a:t>
            </a:r>
            <a:r>
              <a:rPr lang="fr-BE" dirty="0"/>
              <a:t>: principes </a:t>
            </a:r>
            <a:r>
              <a:rPr lang="fr-BE"/>
              <a:t>de base</a:t>
            </a:r>
            <a:br>
              <a:rPr lang="fr-BE"/>
            </a:br>
            <a:r>
              <a:rPr lang="fr-BE"/>
              <a:t>Projet de Développement Web</a:t>
            </a:r>
            <a:endParaRPr lang="fr-BE" dirty="0"/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fr-BE" dirty="0"/>
              <a:t>Enseignement supérieur économique de type court</a:t>
            </a:r>
          </a:p>
          <a:p>
            <a:pPr lvl="0"/>
            <a:r>
              <a:rPr lang="fr-BE" dirty="0"/>
              <a:t>Code </a:t>
            </a:r>
            <a:r>
              <a:rPr lang="fr-BE" dirty="0" err="1"/>
              <a:t>FWB</a:t>
            </a:r>
            <a:r>
              <a:rPr lang="fr-BE"/>
              <a:t> : 7534 29 U32 D1, 7534 30 U32 D3</a:t>
            </a:r>
          </a:p>
          <a:p>
            <a:pPr lvl="0"/>
            <a:r>
              <a:rPr lang="fr-BE"/>
              <a:t>Code ISFCE : 4IWPB, 4IPW3</a:t>
            </a:r>
          </a:p>
          <a:p>
            <a:pPr lvl="0"/>
            <a:endParaRPr lang="fr-BE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6447" y="5094815"/>
            <a:ext cx="1674557" cy="167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Table des matières</a:t>
            </a:r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676143"/>
          </a:xfr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rmAutofit/>
          </a:bodyPr>
          <a:lstStyle/>
          <a:p>
            <a:pPr lvl="0"/>
            <a:r>
              <a:rPr lang="fr-FR"/>
              <a:t>Généralités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1162652-D4A8-152D-F88F-9B8516AF877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353338"/>
            <a:ext cx="3419999" cy="383632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BE" sz="2400"/>
              <a:t>01. Introduction au web</a:t>
            </a:r>
          </a:p>
          <a:p>
            <a:pPr marL="114300" indent="0">
              <a:buNone/>
            </a:pPr>
            <a:r>
              <a:rPr lang="fr-BE" sz="2400"/>
              <a:t>03. Outils</a:t>
            </a:r>
          </a:p>
          <a:p>
            <a:pPr marL="114300" indent="0">
              <a:buNone/>
            </a:pPr>
            <a:r>
              <a:rPr lang="fr-BE" sz="2400"/>
              <a:t>05. Format XML</a:t>
            </a:r>
          </a:p>
          <a:p>
            <a:pPr marL="114300" indent="0">
              <a:buNone/>
            </a:pPr>
            <a:r>
              <a:rPr lang="fr-BE" sz="2400">
                <a:solidFill>
                  <a:schemeClr val="accent2"/>
                </a:solidFill>
              </a:rPr>
              <a:t>06. Format JSON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6D5135-B8A1-9E24-38EE-4C72679CDE7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394864" y="1677195"/>
            <a:ext cx="3420000" cy="676143"/>
          </a:xfrm>
        </p:spPr>
        <p:txBody>
          <a:bodyPr anchor="t"/>
          <a:lstStyle/>
          <a:p>
            <a:pPr lvl="0"/>
            <a:r>
              <a:rPr lang="fr-FR"/>
              <a:t>Front-End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D87172-3FAF-5725-E789-9405D66598A7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394863" y="2357306"/>
            <a:ext cx="3419999" cy="3828389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12. Structure HTML </a:t>
            </a:r>
          </a:p>
          <a:p>
            <a:pPr marL="114300" indent="0">
              <a:buNone/>
            </a:pPr>
            <a:r>
              <a:rPr lang="fr-BE" sz="2400"/>
              <a:t>13. Formulaire HTML</a:t>
            </a:r>
          </a:p>
          <a:p>
            <a:pPr marL="114300" lvl="0" indent="0">
              <a:buNone/>
            </a:pPr>
            <a:r>
              <a:rPr lang="fr-BE" sz="2400"/>
              <a:t>14. Mise en forme CSS</a:t>
            </a:r>
          </a:p>
          <a:p>
            <a:pPr marL="114300" lvl="0" indent="0">
              <a:buNone/>
            </a:pPr>
            <a:r>
              <a:rPr lang="fr-BE" sz="2400"/>
              <a:t>15. Adaptabilité</a:t>
            </a:r>
          </a:p>
          <a:p>
            <a:pPr marL="114300" lvl="0" indent="0">
              <a:buNone/>
            </a:pPr>
            <a:r>
              <a:rPr lang="fr-BE" sz="2400"/>
              <a:t>17. Javascript</a:t>
            </a:r>
          </a:p>
          <a:p>
            <a:pPr marL="114300" lvl="0" indent="0">
              <a:buNone/>
            </a:pPr>
            <a:r>
              <a:rPr lang="fr-BE" sz="2400"/>
              <a:t>18. Bibliothèque jQuery</a:t>
            </a:r>
          </a:p>
          <a:p>
            <a:pPr marL="114300" lvl="0" indent="0">
              <a:buNone/>
            </a:pPr>
            <a:r>
              <a:rPr lang="fr-BE" sz="2400"/>
              <a:t>19. Composant Vue.js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5FC1231-1E2C-7231-4486-8114EAEE6AA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949940" y="1690688"/>
            <a:ext cx="3420000" cy="662650"/>
          </a:xfrm>
        </p:spPr>
        <p:txBody>
          <a:bodyPr anchor="t"/>
          <a:lstStyle/>
          <a:p>
            <a:r>
              <a:rPr lang="fr-BE"/>
              <a:t>Back-End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DB2CC52-B967-555D-C3A7-C4B10EB02D18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7949937" y="2377806"/>
            <a:ext cx="3433923" cy="3836325"/>
          </a:xfrm>
        </p:spPr>
        <p:txBody>
          <a:bodyPr>
            <a:normAutofit lnSpcReduction="10000"/>
          </a:bodyPr>
          <a:lstStyle/>
          <a:p>
            <a:pPr marL="114300" lvl="0" indent="0">
              <a:buNone/>
            </a:pPr>
            <a:r>
              <a:rPr lang="fr-BE" sz="2400"/>
              <a:t>21. Middleware PHP</a:t>
            </a:r>
          </a:p>
          <a:p>
            <a:pPr marL="114300" indent="0">
              <a:buNone/>
            </a:pPr>
            <a:r>
              <a:rPr lang="fr-BE" sz="2400"/>
              <a:t>22. Traitement du formulaire</a:t>
            </a:r>
          </a:p>
          <a:p>
            <a:pPr marL="114300" lvl="0" indent="0">
              <a:buNone/>
            </a:pPr>
            <a:r>
              <a:rPr lang="fr-BE" sz="2400"/>
              <a:t>23. Architecture MVC</a:t>
            </a:r>
          </a:p>
          <a:p>
            <a:pPr marL="114300" lvl="0" indent="0">
              <a:buNone/>
            </a:pPr>
            <a:r>
              <a:rPr lang="fr-BE" sz="2400"/>
              <a:t>24. Données SQL</a:t>
            </a:r>
          </a:p>
          <a:p>
            <a:pPr marL="114300" lvl="0" indent="0">
              <a:buNone/>
            </a:pPr>
            <a:r>
              <a:rPr lang="fr-BE" sz="2400"/>
              <a:t>25. Données NoSQL</a:t>
            </a:r>
          </a:p>
          <a:p>
            <a:pPr marL="114300" lvl="0" indent="0">
              <a:buNone/>
            </a:pPr>
            <a:endParaRPr lang="fr-BE" sz="2400"/>
          </a:p>
          <a:p>
            <a:pPr marL="114300" lvl="0" indent="0">
              <a:buNone/>
            </a:pPr>
            <a:endParaRPr lang="fr-BE" sz="2400"/>
          </a:p>
          <a:p>
            <a:pPr marL="114300" indent="0">
              <a:buNone/>
            </a:pPr>
            <a:r>
              <a:rPr lang="fr-BE" sz="2400"/>
              <a:t>31. Requête asynchrone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F7F80AB2-1A54-F3C7-63AD-635689291298}"/>
              </a:ext>
            </a:extLst>
          </p:cNvPr>
          <p:cNvSpPr txBox="1">
            <a:spLocks/>
          </p:cNvSpPr>
          <p:nvPr/>
        </p:nvSpPr>
        <p:spPr>
          <a:xfrm>
            <a:off x="7932738" y="5026572"/>
            <a:ext cx="3751261" cy="8239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22860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/>
              <a:t>Single Page Application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06. Données JSON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666B1C3-8FC2-4E56-98BC-8252E17FFC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Structure</a:t>
            </a:r>
          </a:p>
          <a:p>
            <a:r>
              <a:rPr lang="fr-BE"/>
              <a:t>JSON vs XML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91157-C70F-6C6A-FB1E-2E0E6B128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JSON : Structure</a:t>
            </a:r>
          </a:p>
        </p:txBody>
      </p:sp>
    </p:spTree>
    <p:extLst>
      <p:ext uri="{BB962C8B-B14F-4D97-AF65-F5344CB8AC3E}">
        <p14:creationId xmlns:p14="http://schemas.microsoft.com/office/powerpoint/2010/main" val="4053564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98FAB7-B2F7-4E48-A319-CC0E6775C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JSON en quelques mots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5D59EB-F054-4418-A43D-D2A9D3DBA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/>
              <a:t>JavaScript Object Notation = format d'échange de données</a:t>
            </a:r>
          </a:p>
          <a:p>
            <a:r>
              <a:rPr lang="fr-BE"/>
              <a:t>Facile à lire et à écrire pour les humains</a:t>
            </a:r>
          </a:p>
          <a:p>
            <a:r>
              <a:rPr lang="fr-BE"/>
              <a:t>Facile à analyser et à générer pour les machines</a:t>
            </a:r>
          </a:p>
          <a:p>
            <a:r>
              <a:rPr lang="fr-BE"/>
              <a:t>Basé sur JavaScript. </a:t>
            </a:r>
          </a:p>
          <a:p>
            <a:r>
              <a:rPr lang="fr-BE"/>
              <a:t>Format "texte" </a:t>
            </a:r>
          </a:p>
          <a:p>
            <a:r>
              <a:rPr lang="fr-BE"/>
              <a:t>Indépendant du langage, universel</a:t>
            </a:r>
          </a:p>
          <a:p>
            <a:r>
              <a:rPr lang="fr-BE"/>
              <a:t>Basé sur des conventions familières aux programmeurs de la famille "C" (C, C++, C#, Java, JavaScript, Perl, PHP, ...)</a:t>
            </a:r>
          </a:p>
          <a:p>
            <a:r>
              <a:rPr lang="fr-BE">
                <a:hlinkClick r:id="rId2"/>
              </a:rPr>
              <a:t>www.json.org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81295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98FAB7-B2F7-4E48-A319-CC0E6775C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JSON : deux structures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5D59EB-F054-4418-A43D-D2A9D3DBA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15136"/>
            <a:ext cx="4841240" cy="4380864"/>
          </a:xfrm>
        </p:spPr>
        <p:txBody>
          <a:bodyPr>
            <a:normAutofit fontScale="92500"/>
          </a:bodyPr>
          <a:lstStyle/>
          <a:p>
            <a:pPr marL="355600" indent="-355600">
              <a:lnSpc>
                <a:spcPct val="110000"/>
              </a:lnSpc>
              <a:buFont typeface="+mj-lt"/>
              <a:buAutoNum type="arabicPeriod"/>
            </a:pPr>
            <a:r>
              <a:rPr lang="fr-BE"/>
              <a:t>Une collection de paires </a:t>
            </a:r>
            <a:br>
              <a:rPr lang="fr-BE"/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&lt;nom&gt; / &lt;valeur&gt;</a:t>
            </a:r>
          </a:p>
          <a:p>
            <a:pPr lvl="1">
              <a:lnSpc>
                <a:spcPct val="110000"/>
              </a:lnSpc>
            </a:pPr>
            <a:r>
              <a:rPr lang="fr-BE"/>
              <a:t>// tableau associatif, dict.</a:t>
            </a:r>
          </a:p>
          <a:p>
            <a:pPr lvl="1">
              <a:lnSpc>
                <a:spcPct val="110000"/>
              </a:lnSpc>
            </a:pPr>
            <a:r>
              <a:rPr lang="fr-BE"/>
              <a:t>Début :  	</a:t>
            </a:r>
            <a:r>
              <a:rPr lang="fr-BE">
                <a:solidFill>
                  <a:schemeClr val="accent2"/>
                </a:solidFill>
              </a:rPr>
              <a:t>{</a:t>
            </a:r>
            <a:endParaRPr lang="fr-BE"/>
          </a:p>
          <a:p>
            <a:pPr lvl="1">
              <a:lnSpc>
                <a:spcPct val="110000"/>
              </a:lnSpc>
            </a:pPr>
            <a:r>
              <a:rPr lang="fr-BE"/>
              <a:t>Fin : 		</a:t>
            </a:r>
            <a:r>
              <a:rPr lang="fr-BE">
                <a:solidFill>
                  <a:schemeClr val="accent2"/>
                </a:solidFill>
              </a:rPr>
              <a:t>}</a:t>
            </a:r>
            <a:endParaRPr lang="fr-BE"/>
          </a:p>
          <a:p>
            <a:pPr lvl="1">
              <a:lnSpc>
                <a:spcPct val="110000"/>
              </a:lnSpc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&lt;nom&gt;</a:t>
            </a:r>
            <a:r>
              <a:rPr lang="fr-BE"/>
              <a:t>   </a:t>
            </a:r>
            <a:r>
              <a:rPr lang="fr-BE">
                <a:solidFill>
                  <a:schemeClr val="accent2"/>
                </a:solidFill>
              </a:rPr>
              <a:t>:</a:t>
            </a:r>
            <a:r>
              <a:rPr lang="fr-BE"/>
              <a:t>  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&lt;valeur&gt;</a:t>
            </a:r>
            <a:endParaRPr lang="fr-BE"/>
          </a:p>
          <a:p>
            <a:pPr lvl="1">
              <a:lnSpc>
                <a:spcPct val="110000"/>
              </a:lnSpc>
            </a:pPr>
            <a:r>
              <a:rPr lang="fr-BE"/>
              <a:t>Séparateur : 	</a:t>
            </a:r>
            <a:r>
              <a:rPr lang="fr-BE">
                <a:solidFill>
                  <a:schemeClr val="accent2"/>
                </a:solidFill>
              </a:rPr>
              <a:t>,</a:t>
            </a:r>
            <a:endParaRPr lang="fr-BE"/>
          </a:p>
        </p:txBody>
      </p:sp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B47437E5-F099-430A-A427-E29015BFAFC3}"/>
              </a:ext>
            </a:extLst>
          </p:cNvPr>
          <p:cNvSpPr txBox="1">
            <a:spLocks/>
          </p:cNvSpPr>
          <p:nvPr/>
        </p:nvSpPr>
        <p:spPr>
          <a:xfrm>
            <a:off x="8039741" y="2389336"/>
            <a:ext cx="2592164" cy="2367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fr-BE"/>
          </a:p>
          <a:p>
            <a:endParaRPr lang="fr-BE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C2B38A4-EA83-428A-B3F3-CC0778C39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7998" y="2269715"/>
            <a:ext cx="6099208" cy="2845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226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98FAB7-B2F7-4E48-A319-CC0E6775C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JSON : deux structures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5D59EB-F054-4418-A43D-D2A9D3DBAD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355600" indent="-355600">
              <a:lnSpc>
                <a:spcPct val="100000"/>
              </a:lnSpc>
              <a:buFont typeface="+mj-lt"/>
              <a:buAutoNum type="arabicPeriod" startAt="2"/>
            </a:pPr>
            <a:r>
              <a:rPr lang="fr-BE"/>
              <a:t>Une liste ordonnée de valeurs</a:t>
            </a:r>
          </a:p>
          <a:p>
            <a:pPr lvl="1">
              <a:lnSpc>
                <a:spcPct val="100000"/>
              </a:lnSpc>
            </a:pPr>
            <a:r>
              <a:rPr lang="fr-BE"/>
              <a:t>// tableau, liste</a:t>
            </a:r>
          </a:p>
          <a:p>
            <a:pPr lvl="1">
              <a:lnSpc>
                <a:spcPct val="100000"/>
              </a:lnSpc>
            </a:pPr>
            <a:r>
              <a:rPr lang="fr-BE"/>
              <a:t>Début : 	</a:t>
            </a:r>
            <a:r>
              <a:rPr lang="fr-BE">
                <a:solidFill>
                  <a:schemeClr val="accent2"/>
                </a:solidFill>
              </a:rPr>
              <a:t>[</a:t>
            </a:r>
          </a:p>
          <a:p>
            <a:pPr lvl="1">
              <a:lnSpc>
                <a:spcPct val="100000"/>
              </a:lnSpc>
            </a:pPr>
            <a:r>
              <a:rPr lang="fr-BE"/>
              <a:t>Fin : 		</a:t>
            </a:r>
            <a:r>
              <a:rPr lang="fr-BE">
                <a:solidFill>
                  <a:schemeClr val="accent2"/>
                </a:solidFill>
              </a:rPr>
              <a:t>]</a:t>
            </a:r>
          </a:p>
          <a:p>
            <a:pPr lvl="1">
              <a:lnSpc>
                <a:spcPct val="100000"/>
              </a:lnSpc>
            </a:pPr>
            <a:r>
              <a:rPr lang="fr-BE"/>
              <a:t>Séparateur : 	</a:t>
            </a:r>
            <a:r>
              <a:rPr lang="fr-BE">
                <a:solidFill>
                  <a:schemeClr val="accent2"/>
                </a:solidFill>
              </a:rPr>
              <a:t>,</a:t>
            </a:r>
          </a:p>
          <a:p>
            <a:pPr>
              <a:lnSpc>
                <a:spcPct val="100000"/>
              </a:lnSpc>
            </a:pPr>
            <a:endParaRPr lang="fr-BE"/>
          </a:p>
          <a:p>
            <a:pPr>
              <a:lnSpc>
                <a:spcPct val="100000"/>
              </a:lnSpc>
            </a:pPr>
            <a:endParaRPr lang="fr-BE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DE9AB03-DA78-44EB-BA21-81C2A845B1F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2510708"/>
            <a:ext cx="6041236" cy="1575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9930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6EF6BC-C7BB-497B-953C-F19B23A5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JSON vs. XML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F5D3411-D4B2-4787-AAB8-85235530786C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xfrm>
            <a:off x="838200" y="1445124"/>
            <a:ext cx="5181600" cy="5273310"/>
          </a:xfrm>
        </p:spPr>
        <p:txBody>
          <a:bodyPr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1800" b="1">
                <a:solidFill>
                  <a:srgbClr val="0000FF"/>
                </a:solidFill>
                <a:latin typeface="Courier New" pitchFamily="49"/>
              </a:rPr>
              <a:t>{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1800">
                <a:latin typeface="Courier New" pitchFamily="49"/>
              </a:rPr>
              <a:t> </a:t>
            </a:r>
            <a:r>
              <a:rPr lang="fr-BE" sz="1800">
                <a:solidFill>
                  <a:srgbClr val="FF3333"/>
                </a:solidFill>
                <a:latin typeface="Courier New" pitchFamily="49"/>
              </a:rPr>
              <a:t>Menu</a:t>
            </a:r>
            <a:r>
              <a:rPr lang="fr-BE" sz="1800">
                <a:latin typeface="Courier New" pitchFamily="49"/>
              </a:rPr>
              <a:t> : </a:t>
            </a:r>
            <a:r>
              <a:rPr lang="fr-BE" sz="1800" b="1">
                <a:solidFill>
                  <a:srgbClr val="0000FF"/>
                </a:solidFill>
                <a:latin typeface="Courier New" pitchFamily="49"/>
              </a:rPr>
              <a:t>{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1800">
                <a:latin typeface="Courier New" pitchFamily="49"/>
              </a:rPr>
              <a:t>  </a:t>
            </a:r>
            <a:r>
              <a:rPr lang="fr-BE" sz="1800">
                <a:solidFill>
                  <a:srgbClr val="FF3333"/>
                </a:solidFill>
                <a:latin typeface="Courier New" pitchFamily="49"/>
              </a:rPr>
              <a:t>id</a:t>
            </a:r>
            <a:r>
              <a:rPr lang="fr-BE" sz="1800">
                <a:latin typeface="Courier New" pitchFamily="49"/>
              </a:rPr>
              <a:t> : "file",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1800">
                <a:latin typeface="Courier New" pitchFamily="49"/>
              </a:rPr>
              <a:t>  </a:t>
            </a:r>
            <a:r>
              <a:rPr lang="fr-BE" sz="1800">
                <a:solidFill>
                  <a:srgbClr val="FF3333"/>
                </a:solidFill>
                <a:latin typeface="Courier New" pitchFamily="49"/>
              </a:rPr>
              <a:t>Value</a:t>
            </a:r>
            <a:r>
              <a:rPr lang="fr-BE" sz="1800">
                <a:latin typeface="Courier New" pitchFamily="49"/>
              </a:rPr>
              <a:t> : "File",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1800">
                <a:latin typeface="Courier New" pitchFamily="49"/>
              </a:rPr>
              <a:t>  </a:t>
            </a:r>
            <a:r>
              <a:rPr lang="fr-BE" sz="1800">
                <a:solidFill>
                  <a:srgbClr val="FF3333"/>
                </a:solidFill>
                <a:latin typeface="Courier New" pitchFamily="49"/>
              </a:rPr>
              <a:t>Popup</a:t>
            </a:r>
            <a:r>
              <a:rPr lang="fr-BE" sz="1800">
                <a:latin typeface="Courier New" pitchFamily="49"/>
              </a:rPr>
              <a:t> : </a:t>
            </a:r>
            <a:r>
              <a:rPr lang="fr-BE" sz="1800" b="1">
                <a:solidFill>
                  <a:srgbClr val="0000FF"/>
                </a:solidFill>
                <a:latin typeface="Courier New" pitchFamily="49"/>
              </a:rPr>
              <a:t>{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1800">
                <a:latin typeface="Courier New" pitchFamily="49"/>
              </a:rPr>
              <a:t>   </a:t>
            </a:r>
            <a:r>
              <a:rPr lang="fr-BE" sz="1800" err="1">
                <a:solidFill>
                  <a:srgbClr val="00CC00"/>
                </a:solidFill>
                <a:latin typeface="Courier New" pitchFamily="49"/>
              </a:rPr>
              <a:t>menuitem</a:t>
            </a:r>
            <a:r>
              <a:rPr lang="fr-BE" sz="1800">
                <a:solidFill>
                  <a:srgbClr val="00CC00"/>
                </a:solidFill>
                <a:latin typeface="Courier New" pitchFamily="49"/>
              </a:rPr>
              <a:t>: </a:t>
            </a:r>
            <a:r>
              <a:rPr lang="fr-BE" sz="1800" b="1">
                <a:solidFill>
                  <a:srgbClr val="00CC00"/>
                </a:solidFill>
                <a:latin typeface="Courier New" pitchFamily="49"/>
              </a:rPr>
              <a:t>[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1800">
                <a:latin typeface="Courier New" pitchFamily="49"/>
              </a:rPr>
              <a:t>   </a:t>
            </a:r>
            <a:r>
              <a:rPr lang="fr-BE" sz="1800" b="1">
                <a:solidFill>
                  <a:srgbClr val="0000FF"/>
                </a:solidFill>
                <a:latin typeface="Courier New" pitchFamily="49"/>
              </a:rPr>
              <a:t>{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1800">
                <a:latin typeface="Courier New" pitchFamily="49"/>
              </a:rPr>
              <a:t>    </a:t>
            </a:r>
            <a:r>
              <a:rPr lang="fr-BE" sz="1800">
                <a:solidFill>
                  <a:srgbClr val="FF3333"/>
                </a:solidFill>
                <a:latin typeface="Courier New" pitchFamily="49"/>
              </a:rPr>
              <a:t>value</a:t>
            </a:r>
            <a:r>
              <a:rPr lang="fr-BE" sz="1800">
                <a:latin typeface="Courier New" pitchFamily="49"/>
              </a:rPr>
              <a:t>: "New",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1800">
                <a:latin typeface="Courier New" pitchFamily="49"/>
              </a:rPr>
              <a:t>    </a:t>
            </a:r>
            <a:r>
              <a:rPr lang="fr-BE" sz="1800" err="1">
                <a:solidFill>
                  <a:srgbClr val="FF3333"/>
                </a:solidFill>
                <a:latin typeface="Courier New" pitchFamily="49"/>
              </a:rPr>
              <a:t>onclick</a:t>
            </a:r>
            <a:r>
              <a:rPr lang="fr-BE" sz="1800">
                <a:latin typeface="Courier New" pitchFamily="49"/>
              </a:rPr>
              <a:t>:"</a:t>
            </a:r>
            <a:r>
              <a:rPr lang="fr-BE" sz="1800" err="1">
                <a:latin typeface="Courier New" pitchFamily="49"/>
              </a:rPr>
              <a:t>CreateNewDoc</a:t>
            </a:r>
            <a:r>
              <a:rPr lang="fr-BE" sz="1800">
                <a:latin typeface="Courier New" pitchFamily="49"/>
              </a:rPr>
              <a:t>()"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1800">
                <a:latin typeface="Courier New" pitchFamily="49"/>
              </a:rPr>
              <a:t>   </a:t>
            </a:r>
            <a:r>
              <a:rPr lang="fr-BE" sz="1800" b="1">
                <a:solidFill>
                  <a:srgbClr val="0000FF"/>
                </a:solidFill>
                <a:latin typeface="Courier New" pitchFamily="49"/>
              </a:rPr>
              <a:t>}</a:t>
            </a:r>
            <a:r>
              <a:rPr lang="fr-BE" sz="1800">
                <a:latin typeface="Courier New" pitchFamily="49"/>
              </a:rPr>
              <a:t>,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1800">
                <a:latin typeface="Courier New" pitchFamily="49"/>
              </a:rPr>
              <a:t>   </a:t>
            </a:r>
            <a:r>
              <a:rPr lang="fr-BE" sz="1800" b="1">
                <a:solidFill>
                  <a:srgbClr val="0000FF"/>
                </a:solidFill>
                <a:latin typeface="Courier New" pitchFamily="49"/>
              </a:rPr>
              <a:t>{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1800">
                <a:latin typeface="Courier New" pitchFamily="49"/>
              </a:rPr>
              <a:t>    </a:t>
            </a:r>
            <a:r>
              <a:rPr lang="fr-BE" sz="1800">
                <a:solidFill>
                  <a:srgbClr val="FF3333"/>
                </a:solidFill>
                <a:latin typeface="Courier New" pitchFamily="49"/>
              </a:rPr>
              <a:t>value</a:t>
            </a:r>
            <a:r>
              <a:rPr lang="fr-BE" sz="1800">
                <a:latin typeface="Courier New" pitchFamily="49"/>
              </a:rPr>
              <a:t>: "Open",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1800">
                <a:latin typeface="Courier New" pitchFamily="49"/>
              </a:rPr>
              <a:t>    </a:t>
            </a:r>
            <a:r>
              <a:rPr lang="fr-BE" sz="1800" err="1">
                <a:solidFill>
                  <a:srgbClr val="FF3333"/>
                </a:solidFill>
                <a:latin typeface="Courier New" pitchFamily="49"/>
              </a:rPr>
              <a:t>onclick</a:t>
            </a:r>
            <a:r>
              <a:rPr lang="fr-BE" sz="1800">
                <a:latin typeface="Courier New" pitchFamily="49"/>
              </a:rPr>
              <a:t>: "</a:t>
            </a:r>
            <a:r>
              <a:rPr lang="fr-BE" sz="1800" err="1">
                <a:latin typeface="Courier New" pitchFamily="49"/>
              </a:rPr>
              <a:t>OpenDoc</a:t>
            </a:r>
            <a:r>
              <a:rPr lang="fr-BE" sz="1800">
                <a:latin typeface="Courier New" pitchFamily="49"/>
              </a:rPr>
              <a:t>()"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1800">
                <a:latin typeface="Courier New" pitchFamily="49"/>
              </a:rPr>
              <a:t>   </a:t>
            </a:r>
            <a:r>
              <a:rPr lang="fr-BE" sz="1800" b="1">
                <a:solidFill>
                  <a:srgbClr val="0000FF"/>
                </a:solidFill>
                <a:latin typeface="Courier New" pitchFamily="49"/>
              </a:rPr>
              <a:t>}</a:t>
            </a:r>
            <a:r>
              <a:rPr lang="fr-BE" sz="1800">
                <a:latin typeface="Courier New" pitchFamily="49"/>
              </a:rPr>
              <a:t>,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1800">
                <a:latin typeface="Courier New" pitchFamily="49"/>
              </a:rPr>
              <a:t>   </a:t>
            </a:r>
            <a:r>
              <a:rPr lang="fr-BE" sz="1800" b="1">
                <a:solidFill>
                  <a:srgbClr val="0000FF"/>
                </a:solidFill>
                <a:latin typeface="Courier New" pitchFamily="49"/>
              </a:rPr>
              <a:t>{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1800">
                <a:latin typeface="Courier New" pitchFamily="49"/>
              </a:rPr>
              <a:t>    </a:t>
            </a:r>
            <a:r>
              <a:rPr lang="fr-BE" sz="1800">
                <a:solidFill>
                  <a:srgbClr val="FF3333"/>
                </a:solidFill>
                <a:latin typeface="Courier New" pitchFamily="49"/>
              </a:rPr>
              <a:t>value</a:t>
            </a:r>
            <a:r>
              <a:rPr lang="fr-BE" sz="1800">
                <a:latin typeface="Courier New" pitchFamily="49"/>
              </a:rPr>
              <a:t>: "Close",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1800">
                <a:latin typeface="Courier New" pitchFamily="49"/>
              </a:rPr>
              <a:t>    </a:t>
            </a:r>
            <a:r>
              <a:rPr lang="fr-BE" sz="1800" err="1">
                <a:solidFill>
                  <a:srgbClr val="FF3333"/>
                </a:solidFill>
                <a:latin typeface="Courier New" pitchFamily="49"/>
              </a:rPr>
              <a:t>onclick</a:t>
            </a:r>
            <a:r>
              <a:rPr lang="fr-BE" sz="1800">
                <a:latin typeface="Courier New" pitchFamily="49"/>
              </a:rPr>
              <a:t>: "</a:t>
            </a:r>
            <a:r>
              <a:rPr lang="fr-BE" sz="1800" err="1">
                <a:latin typeface="Courier New" pitchFamily="49"/>
              </a:rPr>
              <a:t>CloseDoc</a:t>
            </a:r>
            <a:r>
              <a:rPr lang="fr-BE" sz="1800">
                <a:latin typeface="Courier New" pitchFamily="49"/>
              </a:rPr>
              <a:t>()"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1800">
                <a:latin typeface="Courier New" pitchFamily="49"/>
              </a:rPr>
              <a:t>   </a:t>
            </a:r>
            <a:r>
              <a:rPr lang="fr-BE" sz="1800" b="1">
                <a:solidFill>
                  <a:srgbClr val="0000FF"/>
                </a:solidFill>
                <a:latin typeface="Courier New" pitchFamily="49"/>
              </a:rPr>
              <a:t>}</a:t>
            </a:r>
            <a:r>
              <a:rPr lang="fr-BE" sz="1800" b="1">
                <a:solidFill>
                  <a:srgbClr val="00CC00"/>
                </a:solidFill>
                <a:latin typeface="Courier New" pitchFamily="49"/>
              </a:rPr>
              <a:t>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1800">
                <a:latin typeface="Courier New" pitchFamily="49"/>
              </a:rPr>
              <a:t>  </a:t>
            </a:r>
            <a:r>
              <a:rPr lang="fr-BE" sz="1800" b="1">
                <a:solidFill>
                  <a:srgbClr val="0000FF"/>
                </a:solidFill>
                <a:latin typeface="Courier New" pitchFamily="49"/>
              </a:rPr>
              <a:t>}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1800">
                <a:latin typeface="Courier New" pitchFamily="49"/>
              </a:rPr>
              <a:t> </a:t>
            </a:r>
            <a:r>
              <a:rPr lang="fr-BE" sz="1800" b="1">
                <a:solidFill>
                  <a:srgbClr val="0000FF"/>
                </a:solidFill>
                <a:latin typeface="Courier New" pitchFamily="49"/>
              </a:rPr>
              <a:t>}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1800" b="1">
                <a:solidFill>
                  <a:srgbClr val="0000FF"/>
                </a:solidFill>
                <a:latin typeface="Courier New" pitchFamily="49"/>
              </a:rPr>
              <a:t>}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703A4A22-35D6-4897-A3C9-167F2090F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445125"/>
            <a:ext cx="5846805" cy="5273309"/>
          </a:xfrm>
        </p:spPr>
        <p:txBody>
          <a:bodyPr>
            <a:normAutofit fontScale="92500" lnSpcReduction="10000"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rgbClr val="0000FF"/>
                </a:solidFill>
                <a:latin typeface="Courier New" pitchFamily="49"/>
              </a:rPr>
              <a:t>&lt;menu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rgbClr val="000000"/>
                </a:solidFill>
                <a:latin typeface="Courier New" pitchFamily="49"/>
              </a:rPr>
              <a:t>  </a:t>
            </a:r>
            <a:r>
              <a:rPr lang="fr-BE" sz="2400">
                <a:solidFill>
                  <a:srgbClr val="FF0000"/>
                </a:solidFill>
                <a:latin typeface="Courier New" pitchFamily="49"/>
              </a:rPr>
              <a:t>id</a:t>
            </a:r>
            <a:r>
              <a:rPr lang="fr-BE" sz="2400">
                <a:solidFill>
                  <a:srgbClr val="000000"/>
                </a:solidFill>
                <a:latin typeface="Courier New" pitchFamily="49"/>
              </a:rPr>
              <a:t>=</a:t>
            </a:r>
            <a:r>
              <a:rPr lang="fr-BE" sz="2400">
                <a:solidFill>
                  <a:srgbClr val="8000FF"/>
                </a:solidFill>
                <a:latin typeface="Courier New" pitchFamily="49"/>
              </a:rPr>
              <a:t>"file"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rgbClr val="000000"/>
                </a:solidFill>
                <a:latin typeface="Courier New" pitchFamily="49"/>
              </a:rPr>
              <a:t>  </a:t>
            </a:r>
            <a:r>
              <a:rPr lang="fr-BE" sz="2400">
                <a:solidFill>
                  <a:srgbClr val="FF0000"/>
                </a:solidFill>
                <a:latin typeface="Courier New" pitchFamily="49"/>
              </a:rPr>
              <a:t>value</a:t>
            </a:r>
            <a:r>
              <a:rPr lang="fr-BE" sz="2400">
                <a:solidFill>
                  <a:srgbClr val="000000"/>
                </a:solidFill>
                <a:latin typeface="Courier New" pitchFamily="49"/>
              </a:rPr>
              <a:t>=</a:t>
            </a:r>
            <a:r>
              <a:rPr lang="fr-BE" sz="2400">
                <a:solidFill>
                  <a:srgbClr val="8000FF"/>
                </a:solidFill>
                <a:latin typeface="Courier New" pitchFamily="49"/>
              </a:rPr>
              <a:t>"File"</a:t>
            </a:r>
            <a:r>
              <a:rPr lang="fr-BE" sz="2400">
                <a:solidFill>
                  <a:srgbClr val="0000FF"/>
                </a:solidFill>
                <a:latin typeface="Courier New" pitchFamily="49"/>
              </a:rPr>
              <a:t>&gt;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rgbClr val="000000"/>
                </a:solidFill>
                <a:latin typeface="Courier New" pitchFamily="49"/>
              </a:rPr>
              <a:t>    </a:t>
            </a:r>
            <a:r>
              <a:rPr lang="fr-BE" sz="2400">
                <a:solidFill>
                  <a:srgbClr val="0000FF"/>
                </a:solidFill>
                <a:latin typeface="Courier New" pitchFamily="49"/>
              </a:rPr>
              <a:t>&lt;popup&gt;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rgbClr val="000000"/>
                </a:solidFill>
                <a:latin typeface="Courier New" pitchFamily="49"/>
              </a:rPr>
              <a:t>      </a:t>
            </a:r>
            <a:r>
              <a:rPr lang="fr-BE" sz="2400">
                <a:solidFill>
                  <a:srgbClr val="0000FF"/>
                </a:solidFill>
                <a:latin typeface="Courier New" pitchFamily="49"/>
              </a:rPr>
              <a:t>&lt;</a:t>
            </a:r>
            <a:r>
              <a:rPr lang="fr-BE" sz="2400" err="1">
                <a:solidFill>
                  <a:srgbClr val="00CC00"/>
                </a:solidFill>
                <a:latin typeface="Courier New" pitchFamily="49"/>
              </a:rPr>
              <a:t>menuitem</a:t>
            </a:r>
            <a:endParaRPr lang="fr-BE" sz="2400">
              <a:solidFill>
                <a:srgbClr val="00CC00"/>
              </a:solidFill>
              <a:latin typeface="Courier New" pitchFamily="49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rgbClr val="000000"/>
                </a:solidFill>
                <a:latin typeface="Courier New" pitchFamily="49"/>
              </a:rPr>
              <a:t>        </a:t>
            </a:r>
            <a:r>
              <a:rPr lang="fr-BE" sz="2400">
                <a:solidFill>
                  <a:srgbClr val="FF0000"/>
                </a:solidFill>
                <a:latin typeface="Courier New" pitchFamily="49"/>
              </a:rPr>
              <a:t>value</a:t>
            </a:r>
            <a:r>
              <a:rPr lang="fr-BE" sz="2400">
                <a:solidFill>
                  <a:srgbClr val="000000"/>
                </a:solidFill>
                <a:latin typeface="Courier New" pitchFamily="49"/>
              </a:rPr>
              <a:t>=</a:t>
            </a:r>
            <a:r>
              <a:rPr lang="fr-BE" sz="2400">
                <a:solidFill>
                  <a:srgbClr val="8000FF"/>
                </a:solidFill>
                <a:latin typeface="Courier New" pitchFamily="49"/>
              </a:rPr>
              <a:t>"New"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rgbClr val="000000"/>
                </a:solidFill>
                <a:latin typeface="Courier New" pitchFamily="49"/>
              </a:rPr>
              <a:t>        </a:t>
            </a:r>
            <a:r>
              <a:rPr lang="fr-BE" sz="2400" err="1">
                <a:solidFill>
                  <a:srgbClr val="FF0000"/>
                </a:solidFill>
                <a:latin typeface="Courier New" pitchFamily="49"/>
              </a:rPr>
              <a:t>onclick</a:t>
            </a:r>
            <a:r>
              <a:rPr lang="fr-BE" sz="2400">
                <a:solidFill>
                  <a:srgbClr val="000000"/>
                </a:solidFill>
                <a:latin typeface="Courier New" pitchFamily="49"/>
              </a:rPr>
              <a:t>=</a:t>
            </a:r>
            <a:r>
              <a:rPr lang="fr-BE" sz="2400">
                <a:solidFill>
                  <a:srgbClr val="8000FF"/>
                </a:solidFill>
                <a:latin typeface="Courier New" pitchFamily="49"/>
              </a:rPr>
              <a:t>"</a:t>
            </a:r>
            <a:r>
              <a:rPr lang="fr-BE" sz="2400" err="1">
                <a:solidFill>
                  <a:srgbClr val="8000FF"/>
                </a:solidFill>
                <a:latin typeface="Courier New" pitchFamily="49"/>
              </a:rPr>
              <a:t>CreateNewDoc</a:t>
            </a:r>
            <a:r>
              <a:rPr lang="fr-BE" sz="2400">
                <a:solidFill>
                  <a:srgbClr val="8000FF"/>
                </a:solidFill>
                <a:latin typeface="Courier New" pitchFamily="49"/>
              </a:rPr>
              <a:t>()"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rgbClr val="000000"/>
                </a:solidFill>
                <a:latin typeface="Courier New" pitchFamily="49"/>
              </a:rPr>
              <a:t>      </a:t>
            </a:r>
            <a:r>
              <a:rPr lang="fr-BE" sz="2400">
                <a:solidFill>
                  <a:srgbClr val="0000FF"/>
                </a:solidFill>
                <a:latin typeface="Courier New" pitchFamily="49"/>
              </a:rPr>
              <a:t>/&gt;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rgbClr val="000000"/>
                </a:solidFill>
                <a:latin typeface="Courier New" pitchFamily="49"/>
              </a:rPr>
              <a:t>      </a:t>
            </a:r>
            <a:r>
              <a:rPr lang="fr-BE" sz="2400">
                <a:solidFill>
                  <a:srgbClr val="0000FF"/>
                </a:solidFill>
                <a:latin typeface="Courier New" pitchFamily="49"/>
              </a:rPr>
              <a:t>&lt;</a:t>
            </a:r>
            <a:r>
              <a:rPr lang="fr-BE" sz="2400" err="1">
                <a:solidFill>
                  <a:srgbClr val="00CC00"/>
                </a:solidFill>
                <a:latin typeface="Courier New" pitchFamily="49"/>
              </a:rPr>
              <a:t>menuitem</a:t>
            </a:r>
            <a:endParaRPr lang="fr-BE" sz="2400">
              <a:solidFill>
                <a:srgbClr val="00CC00"/>
              </a:solidFill>
              <a:latin typeface="Courier New" pitchFamily="49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rgbClr val="000000"/>
                </a:solidFill>
                <a:latin typeface="Courier New" pitchFamily="49"/>
              </a:rPr>
              <a:t>         </a:t>
            </a:r>
            <a:r>
              <a:rPr lang="fr-BE" sz="2400">
                <a:solidFill>
                  <a:srgbClr val="FF0000"/>
                </a:solidFill>
                <a:latin typeface="Courier New" pitchFamily="49"/>
              </a:rPr>
              <a:t>value</a:t>
            </a:r>
            <a:r>
              <a:rPr lang="fr-BE" sz="2400">
                <a:solidFill>
                  <a:srgbClr val="000000"/>
                </a:solidFill>
                <a:latin typeface="Courier New" pitchFamily="49"/>
              </a:rPr>
              <a:t>=</a:t>
            </a:r>
            <a:r>
              <a:rPr lang="fr-BE" sz="2400">
                <a:solidFill>
                  <a:srgbClr val="8000FF"/>
                </a:solidFill>
                <a:latin typeface="Courier New" pitchFamily="49"/>
              </a:rPr>
              <a:t>"Open"</a:t>
            </a:r>
            <a:r>
              <a:rPr lang="fr-BE" sz="2400">
                <a:solidFill>
                  <a:srgbClr val="000000"/>
                </a:solidFill>
                <a:latin typeface="Courier New" pitchFamily="49"/>
              </a:rPr>
              <a:t>            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rgbClr val="000000"/>
                </a:solidFill>
                <a:latin typeface="Courier New" pitchFamily="49"/>
              </a:rPr>
              <a:t>         </a:t>
            </a:r>
            <a:r>
              <a:rPr lang="fr-BE" sz="2400" err="1">
                <a:solidFill>
                  <a:srgbClr val="FF0000"/>
                </a:solidFill>
                <a:latin typeface="Courier New" pitchFamily="49"/>
              </a:rPr>
              <a:t>onclick</a:t>
            </a:r>
            <a:r>
              <a:rPr lang="fr-BE" sz="2400">
                <a:solidFill>
                  <a:srgbClr val="000000"/>
                </a:solidFill>
                <a:latin typeface="Courier New" pitchFamily="49"/>
              </a:rPr>
              <a:t>=</a:t>
            </a:r>
            <a:r>
              <a:rPr lang="fr-BE" sz="2400">
                <a:solidFill>
                  <a:srgbClr val="8000FF"/>
                </a:solidFill>
                <a:latin typeface="Courier New" pitchFamily="49"/>
              </a:rPr>
              <a:t>"</a:t>
            </a:r>
            <a:r>
              <a:rPr lang="fr-BE" sz="2400" err="1">
                <a:solidFill>
                  <a:srgbClr val="8000FF"/>
                </a:solidFill>
                <a:latin typeface="Courier New" pitchFamily="49"/>
              </a:rPr>
              <a:t>OpenDoc</a:t>
            </a:r>
            <a:r>
              <a:rPr lang="fr-BE" sz="2400">
                <a:solidFill>
                  <a:srgbClr val="8000FF"/>
                </a:solidFill>
                <a:latin typeface="Courier New" pitchFamily="49"/>
              </a:rPr>
              <a:t>()"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rgbClr val="000000"/>
                </a:solidFill>
                <a:latin typeface="Courier New" pitchFamily="49"/>
              </a:rPr>
              <a:t>      </a:t>
            </a:r>
            <a:r>
              <a:rPr lang="fr-BE" sz="2400">
                <a:solidFill>
                  <a:srgbClr val="0000FF"/>
                </a:solidFill>
                <a:latin typeface="Courier New" pitchFamily="49"/>
              </a:rPr>
              <a:t>/&gt;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rgbClr val="000000"/>
                </a:solidFill>
                <a:latin typeface="Courier New" pitchFamily="49"/>
              </a:rPr>
              <a:t>      </a:t>
            </a:r>
            <a:r>
              <a:rPr lang="fr-BE" sz="2400">
                <a:solidFill>
                  <a:srgbClr val="0000FF"/>
                </a:solidFill>
                <a:latin typeface="Courier New" pitchFamily="49"/>
              </a:rPr>
              <a:t>&lt;</a:t>
            </a:r>
            <a:r>
              <a:rPr lang="fr-BE" sz="2400" err="1">
                <a:solidFill>
                  <a:srgbClr val="00CC00"/>
                </a:solidFill>
                <a:latin typeface="Courier New" pitchFamily="49"/>
              </a:rPr>
              <a:t>menuitem</a:t>
            </a:r>
            <a:endParaRPr lang="fr-BE" sz="2400">
              <a:solidFill>
                <a:srgbClr val="00CC00"/>
              </a:solidFill>
              <a:latin typeface="Courier New" pitchFamily="49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rgbClr val="000000"/>
                </a:solidFill>
                <a:latin typeface="Courier New" pitchFamily="49"/>
              </a:rPr>
              <a:t>        </a:t>
            </a:r>
            <a:r>
              <a:rPr lang="fr-BE" sz="2400">
                <a:solidFill>
                  <a:srgbClr val="FF0000"/>
                </a:solidFill>
                <a:latin typeface="Courier New" pitchFamily="49"/>
              </a:rPr>
              <a:t>value</a:t>
            </a:r>
            <a:r>
              <a:rPr lang="fr-BE" sz="2400">
                <a:solidFill>
                  <a:srgbClr val="000000"/>
                </a:solidFill>
                <a:latin typeface="Courier New" pitchFamily="49"/>
              </a:rPr>
              <a:t>=</a:t>
            </a:r>
            <a:r>
              <a:rPr lang="fr-BE" sz="2400">
                <a:solidFill>
                  <a:srgbClr val="8000FF"/>
                </a:solidFill>
                <a:latin typeface="Courier New" pitchFamily="49"/>
              </a:rPr>
              <a:t>"Close"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rgbClr val="000000"/>
                </a:solidFill>
                <a:latin typeface="Courier New" pitchFamily="49"/>
              </a:rPr>
              <a:t>        </a:t>
            </a:r>
            <a:r>
              <a:rPr lang="fr-BE" sz="2400" err="1">
                <a:solidFill>
                  <a:srgbClr val="FF0000"/>
                </a:solidFill>
                <a:latin typeface="Courier New" pitchFamily="49"/>
              </a:rPr>
              <a:t>onclick</a:t>
            </a:r>
            <a:r>
              <a:rPr lang="fr-BE" sz="2400">
                <a:solidFill>
                  <a:srgbClr val="000000"/>
                </a:solidFill>
                <a:latin typeface="Courier New" pitchFamily="49"/>
              </a:rPr>
              <a:t>=</a:t>
            </a:r>
            <a:r>
              <a:rPr lang="fr-BE" sz="2400">
                <a:solidFill>
                  <a:srgbClr val="8000FF"/>
                </a:solidFill>
                <a:latin typeface="Courier New" pitchFamily="49"/>
              </a:rPr>
              <a:t>"</a:t>
            </a:r>
            <a:r>
              <a:rPr lang="fr-BE" sz="2400" err="1">
                <a:solidFill>
                  <a:srgbClr val="8000FF"/>
                </a:solidFill>
                <a:latin typeface="Courier New" pitchFamily="49"/>
              </a:rPr>
              <a:t>CloseDoc</a:t>
            </a:r>
            <a:r>
              <a:rPr lang="fr-BE" sz="2400">
                <a:solidFill>
                  <a:srgbClr val="8000FF"/>
                </a:solidFill>
                <a:latin typeface="Courier New" pitchFamily="49"/>
              </a:rPr>
              <a:t>()"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rgbClr val="000000"/>
                </a:solidFill>
                <a:latin typeface="Courier New" pitchFamily="49"/>
              </a:rPr>
              <a:t>      </a:t>
            </a:r>
            <a:r>
              <a:rPr lang="fr-BE" sz="2400">
                <a:solidFill>
                  <a:srgbClr val="0000FF"/>
                </a:solidFill>
                <a:latin typeface="Courier New" pitchFamily="49"/>
              </a:rPr>
              <a:t>/&gt;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rgbClr val="000000"/>
                </a:solidFill>
                <a:latin typeface="Courier New" pitchFamily="49"/>
              </a:rPr>
              <a:t>    </a:t>
            </a:r>
            <a:r>
              <a:rPr lang="fr-BE" sz="2400">
                <a:solidFill>
                  <a:srgbClr val="0000FF"/>
                </a:solidFill>
                <a:latin typeface="Courier New" pitchFamily="49"/>
              </a:rPr>
              <a:t>&lt;/popup&gt;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rgbClr val="0000FF"/>
                </a:solidFill>
                <a:latin typeface="Courier New" pitchFamily="49"/>
              </a:rPr>
              <a:t>&lt;/menu&gt;</a:t>
            </a:r>
          </a:p>
          <a:p>
            <a:pPr marL="0" indent="0">
              <a:spcBef>
                <a:spcPts val="0"/>
              </a:spcBef>
              <a:buNone/>
            </a:pPr>
            <a:endParaRPr lang="fr-BE" sz="2400"/>
          </a:p>
        </p:txBody>
      </p:sp>
      <p:pic>
        <p:nvPicPr>
          <p:cNvPr id="1026" name="Picture 2" descr="json logo">
            <a:extLst>
              <a:ext uri="{FF2B5EF4-FFF2-40B4-BE49-F238E27FC236}">
                <a16:creationId xmlns:a16="http://schemas.microsoft.com/office/drawing/2014/main" id="{E9E8C23D-8B2E-4E13-815D-C9633D0C8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3768" y="1445123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 10" descr="Une image contenant signe, dessin&#10;&#10;Description générée automatiquement">
            <a:extLst>
              <a:ext uri="{FF2B5EF4-FFF2-40B4-BE49-F238E27FC236}">
                <a16:creationId xmlns:a16="http://schemas.microsoft.com/office/drawing/2014/main" id="{89241260-D56A-4912-8083-4F63E2291E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573" y="1352043"/>
            <a:ext cx="906162" cy="90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858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3B8689-9D5A-AA06-917A-8405170C4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Autre exemple : exo05_cantine.json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C0D35D-A234-F134-C0AB-6B42E869F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0DFD-572F-4F9D-9D6D-F3F6D444EEB7}" type="datetime1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97AE549-8F76-6185-9482-5A12A1EBB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9</a:t>
            </a:fld>
            <a:endParaRPr lang="fr-BE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8070C24-512A-71C8-BB1C-22D6397C49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94671"/>
            <a:ext cx="10822193" cy="50783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"semaine"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37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"année"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2025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"nomCantine"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"Les Délices de Tante Gertrude (approuvé par 3 élèves sur 10)"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"menus"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 [</a:t>
            </a: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{</a:t>
            </a: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"jour"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"lundi"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"platPrincipal"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 {</a:t>
            </a: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"nom"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"Mystère en sauce brune"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"description"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"Un plat avec une sauce. Toujours une sauce."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"noteMoyenne"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 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2.5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"commentaires"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 [</a:t>
            </a: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     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"Goût de carton... mais c'est peut-être DU carton ? — Jean-Michel (5ème)"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     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"La sauce a sauvé ma vie. — Marie (Terminale, désespérée)"</a:t>
            </a: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],</a:t>
            </a: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"accompagnement"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 [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"frites molles"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"haricots verts (théoriquement)"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],</a:t>
            </a: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FR" altLang="fr-FR" sz="1800">
                <a:solidFill>
                  <a:srgbClr val="08080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},</a:t>
            </a: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}, …    </a:t>
            </a:r>
            <a:endParaRPr kumimoji="0" lang="fr-FR" altLang="fr-FR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479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34C6B-E93B-92B3-8551-0B4192609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5C549A-8321-1823-721B-03D646A87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JSON : Références</a:t>
            </a:r>
          </a:p>
        </p:txBody>
      </p:sp>
    </p:spTree>
    <p:extLst>
      <p:ext uri="{BB962C8B-B14F-4D97-AF65-F5344CB8AC3E}">
        <p14:creationId xmlns:p14="http://schemas.microsoft.com/office/powerpoint/2010/main" val="140588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578D39-F97E-4E77-B040-0BD0B2402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Références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9FD436BB-AC3C-40A6-AB8B-E0E1A75F4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Général</a:t>
            </a:r>
          </a:p>
          <a:p>
            <a:pPr lvl="1"/>
            <a:r>
              <a:rPr lang="fr-BE"/>
              <a:t>https://www.json.org/json-fr.html</a:t>
            </a:r>
          </a:p>
          <a:p>
            <a:pPr lvl="1"/>
            <a:r>
              <a:rPr lang="fr-BE"/>
              <a:t>https://www.w3schools.com/js/js_json_intro.asp</a:t>
            </a:r>
          </a:p>
          <a:p>
            <a:r>
              <a:rPr lang="fr-BE"/>
              <a:t>API</a:t>
            </a:r>
          </a:p>
          <a:p>
            <a:pPr lvl="1"/>
            <a:r>
              <a:rPr lang="fr-BE"/>
              <a:t>https://itds.fr/creer-une-api-rest-en-php/ </a:t>
            </a:r>
          </a:p>
          <a:p>
            <a:pPr lvl="1"/>
            <a:r>
              <a:rPr lang="fr-BE"/>
              <a:t>https://blog.nicolashachet.com/developpement-php/larchitecture-rest-expliquee-en-5-regles/</a:t>
            </a:r>
          </a:p>
          <a:p>
            <a:pPr lvl="1"/>
            <a:r>
              <a:rPr lang="fr-BE"/>
              <a:t>https://blog.nicolashachet.com/developpement-php/exemples-api-rest-en-php/</a:t>
            </a:r>
          </a:p>
        </p:txBody>
      </p:sp>
    </p:spTree>
    <p:extLst>
      <p:ext uri="{BB962C8B-B14F-4D97-AF65-F5344CB8AC3E}">
        <p14:creationId xmlns:p14="http://schemas.microsoft.com/office/powerpoint/2010/main" val="1324967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urotix">
  <a:themeElements>
    <a:clrScheme name="Custom 4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DD3D1"/>
      </a:accent1>
      <a:accent2>
        <a:srgbClr val="1963A1"/>
      </a:accent2>
      <a:accent3>
        <a:srgbClr val="E5CBAD"/>
      </a:accent3>
      <a:accent4>
        <a:srgbClr val="5DF5F3"/>
      </a:accent4>
      <a:accent5>
        <a:srgbClr val="56A4E4"/>
      </a:accent5>
      <a:accent6>
        <a:srgbClr val="EFDFCD"/>
      </a:accent6>
      <a:hlink>
        <a:srgbClr val="000000"/>
      </a:hlink>
      <a:folHlink>
        <a:srgbClr val="3F3F3F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lides discret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rotix2025.potm" id="{9A679E22-159F-4468-BD25-5554C2F5C34C}" vid="{02412E46-CBBA-45C1-A7EE-8401C077A5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burotix2025</Template>
  <TotalTime>11892</TotalTime>
  <Words>674</Words>
  <Application>Microsoft Office PowerPoint</Application>
  <PresentationFormat>Grand écran</PresentationFormat>
  <Paragraphs>110</Paragraphs>
  <Slides>11</Slides>
  <Notes>3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  <vt:variant>
        <vt:lpstr>Diaporamas personnalisés</vt:lpstr>
      </vt:variant>
      <vt:variant>
        <vt:i4>1</vt:i4>
      </vt:variant>
    </vt:vector>
  </HeadingPairs>
  <TitlesOfParts>
    <vt:vector size="19" baseType="lpstr">
      <vt:lpstr>Arial</vt:lpstr>
      <vt:lpstr>Calibri</vt:lpstr>
      <vt:lpstr>Consolas</vt:lpstr>
      <vt:lpstr>Courier New</vt:lpstr>
      <vt:lpstr>Garamond</vt:lpstr>
      <vt:lpstr>Wingdings</vt:lpstr>
      <vt:lpstr>burotix</vt:lpstr>
      <vt:lpstr>Bachelier en Informatique de Gestion  Web : principes de base Projet de Développement Web</vt:lpstr>
      <vt:lpstr>Table des matières</vt:lpstr>
      <vt:lpstr>06. Données JSON</vt:lpstr>
      <vt:lpstr>JSON : Structure</vt:lpstr>
      <vt:lpstr>JSON en quelques mots</vt:lpstr>
      <vt:lpstr>JSON : deux structures </vt:lpstr>
      <vt:lpstr>JSON : deux structures </vt:lpstr>
      <vt:lpstr>JSON vs. XML</vt:lpstr>
      <vt:lpstr>Autre exemple : exo05_cantine.json</vt:lpstr>
      <vt:lpstr>JSON : Références</vt:lpstr>
      <vt:lpstr>Références</vt:lpstr>
      <vt:lpstr>cefora powerpoint 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Bachelier en Informatique de Gestion  Projet de Développement Web</dc:title>
  <dc:creator>Alain Wafflard</dc:creator>
  <cp:lastModifiedBy>Alain Wafflard</cp:lastModifiedBy>
  <cp:revision>146</cp:revision>
  <dcterms:created xsi:type="dcterms:W3CDTF">2020-03-25T16:55:22Z</dcterms:created>
  <dcterms:modified xsi:type="dcterms:W3CDTF">2026-09-07T12:07:42Z</dcterms:modified>
</cp:coreProperties>
</file>