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63"/>
  </p:notesMasterIdLst>
  <p:sldIdLst>
    <p:sldId id="256" r:id="rId2"/>
    <p:sldId id="650" r:id="rId3"/>
    <p:sldId id="524" r:id="rId4"/>
    <p:sldId id="597" r:id="rId5"/>
    <p:sldId id="568" r:id="rId6"/>
    <p:sldId id="647" r:id="rId7"/>
    <p:sldId id="567" r:id="rId8"/>
    <p:sldId id="569" r:id="rId9"/>
    <p:sldId id="570" r:id="rId10"/>
    <p:sldId id="601" r:id="rId11"/>
    <p:sldId id="599" r:id="rId12"/>
    <p:sldId id="600" r:id="rId13"/>
    <p:sldId id="598" r:id="rId14"/>
    <p:sldId id="596" r:id="rId15"/>
    <p:sldId id="574" r:id="rId16"/>
    <p:sldId id="577" r:id="rId17"/>
    <p:sldId id="572" r:id="rId18"/>
    <p:sldId id="578" r:id="rId19"/>
    <p:sldId id="575" r:id="rId20"/>
    <p:sldId id="579" r:id="rId21"/>
    <p:sldId id="576" r:id="rId22"/>
    <p:sldId id="586" r:id="rId23"/>
    <p:sldId id="581" r:id="rId24"/>
    <p:sldId id="584" r:id="rId25"/>
    <p:sldId id="585" r:id="rId26"/>
    <p:sldId id="580" r:id="rId27"/>
    <p:sldId id="589" r:id="rId28"/>
    <p:sldId id="582" r:id="rId29"/>
    <p:sldId id="590" r:id="rId30"/>
    <p:sldId id="593" r:id="rId31"/>
    <p:sldId id="594" r:id="rId32"/>
    <p:sldId id="595" r:id="rId33"/>
    <p:sldId id="602" r:id="rId34"/>
    <p:sldId id="603" r:id="rId35"/>
    <p:sldId id="604" r:id="rId36"/>
    <p:sldId id="605" r:id="rId37"/>
    <p:sldId id="606" r:id="rId38"/>
    <p:sldId id="607" r:id="rId39"/>
    <p:sldId id="608" r:id="rId40"/>
    <p:sldId id="648" r:id="rId41"/>
    <p:sldId id="649" r:id="rId42"/>
    <p:sldId id="609" r:id="rId43"/>
    <p:sldId id="610" r:id="rId44"/>
    <p:sldId id="632" r:id="rId45"/>
    <p:sldId id="617" r:id="rId46"/>
    <p:sldId id="615" r:id="rId47"/>
    <p:sldId id="611" r:id="rId48"/>
    <p:sldId id="612" r:id="rId49"/>
    <p:sldId id="614" r:id="rId50"/>
    <p:sldId id="616" r:id="rId51"/>
    <p:sldId id="613" r:id="rId52"/>
    <p:sldId id="618" r:id="rId53"/>
    <p:sldId id="621" r:id="rId54"/>
    <p:sldId id="622" r:id="rId55"/>
    <p:sldId id="624" r:id="rId56"/>
    <p:sldId id="625" r:id="rId57"/>
    <p:sldId id="626" r:id="rId58"/>
    <p:sldId id="631" r:id="rId59"/>
    <p:sldId id="627" r:id="rId60"/>
    <p:sldId id="630" r:id="rId61"/>
    <p:sldId id="573" r:id="rId62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7. requête asynchrone" id="{D299A532-5D46-436A-8B5D-9B7B7802B7B6}">
          <p14:sldIdLst>
            <p14:sldId id="256"/>
            <p14:sldId id="650"/>
            <p14:sldId id="524"/>
          </p14:sldIdLst>
        </p14:section>
        <p14:section name="principes" id="{F76EAED4-24CA-4EB7-A1D1-AFA8DD1ABFE2}">
          <p14:sldIdLst>
            <p14:sldId id="597"/>
            <p14:sldId id="568"/>
            <p14:sldId id="647"/>
            <p14:sldId id="567"/>
            <p14:sldId id="569"/>
            <p14:sldId id="570"/>
            <p14:sldId id="601"/>
            <p14:sldId id="599"/>
            <p14:sldId id="600"/>
            <p14:sldId id="598"/>
          </p14:sldIdLst>
        </p14:section>
        <p14:section name="AJAX" id="{487AD1CE-9F4C-43B4-A35F-E9C998BF8331}">
          <p14:sldIdLst>
            <p14:sldId id="596"/>
            <p14:sldId id="574"/>
            <p14:sldId id="577"/>
            <p14:sldId id="572"/>
            <p14:sldId id="578"/>
            <p14:sldId id="575"/>
            <p14:sldId id="579"/>
            <p14:sldId id="576"/>
            <p14:sldId id="586"/>
            <p14:sldId id="581"/>
            <p14:sldId id="584"/>
            <p14:sldId id="585"/>
            <p14:sldId id="580"/>
            <p14:sldId id="589"/>
            <p14:sldId id="582"/>
            <p14:sldId id="590"/>
            <p14:sldId id="593"/>
            <p14:sldId id="594"/>
            <p14:sldId id="595"/>
          </p14:sldIdLst>
        </p14:section>
        <p14:section name="Fetch" id="{9AEDFEA5-12DC-42DD-9DEE-B4F93E35EBCE}">
          <p14:sldIdLst>
            <p14:sldId id="602"/>
            <p14:sldId id="603"/>
            <p14:sldId id="604"/>
            <p14:sldId id="605"/>
            <p14:sldId id="606"/>
            <p14:sldId id="607"/>
            <p14:sldId id="608"/>
            <p14:sldId id="648"/>
            <p14:sldId id="649"/>
          </p14:sldIdLst>
        </p14:section>
        <p14:section name="Fetch + MVC" id="{1129707E-EE94-44A7-8E4E-5941D23A4362}">
          <p14:sldIdLst>
            <p14:sldId id="609"/>
            <p14:sldId id="610"/>
            <p14:sldId id="632"/>
            <p14:sldId id="617"/>
            <p14:sldId id="615"/>
            <p14:sldId id="611"/>
            <p14:sldId id="612"/>
            <p14:sldId id="614"/>
            <p14:sldId id="616"/>
            <p14:sldId id="613"/>
            <p14:sldId id="618"/>
          </p14:sldIdLst>
        </p14:section>
        <p14:section name="Fetch + MVC + Vue.js" id="{F32BDAE4-C2C3-489C-9F33-EE6616379B23}">
          <p14:sldIdLst>
            <p14:sldId id="621"/>
            <p14:sldId id="622"/>
            <p14:sldId id="624"/>
            <p14:sldId id="625"/>
            <p14:sldId id="626"/>
            <p14:sldId id="631"/>
            <p14:sldId id="627"/>
            <p14:sldId id="630"/>
          </p14:sldIdLst>
        </p14:section>
        <p14:section name="Explicit liber" id="{E8BF3C49-F8B6-4327-B3CF-C72145FC2FD0}">
          <p14:sldIdLst>
            <p14:sldId id="5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50" autoAdjust="0"/>
    <p:restoredTop sz="96318" autoAdjust="0"/>
  </p:normalViewPr>
  <p:slideViewPr>
    <p:cSldViewPr snapToGrid="0">
      <p:cViewPr varScale="1">
        <p:scale>
          <a:sx n="113" d="100"/>
          <a:sy n="113" d="100"/>
        </p:scale>
        <p:origin x="516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1302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16576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38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10075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EF968-1691-42BB-BB5B-07DEA077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682AC8A-5E28-BF24-C4CA-FB769DAE5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62BB412-CE18-800E-7BE4-69B48C221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51F252-9B82-5B75-41D7-AD4377F3AF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39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2597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61</a:t>
            </a:fld>
            <a:endParaRPr lang="fr-BE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fr-BE" dirty="0"/>
              <a:t>GESTIONNAIRE DE BASE DE DONNEES – NIVEAU ELEMENTAIRE - MS ACCESS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BE" dirty="0"/>
              <a:t>Professeur : Alain Wafflard</a:t>
            </a:r>
          </a:p>
        </p:txBody>
      </p:sp>
    </p:spTree>
    <p:extLst>
      <p:ext uri="{BB962C8B-B14F-4D97-AF65-F5344CB8AC3E}">
        <p14:creationId xmlns:p14="http://schemas.microsoft.com/office/powerpoint/2010/main" val="187828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3241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506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2064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8191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916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5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lang="fr-FR" sz="2800" b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09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662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18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0672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34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74595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53" r:id="rId10"/>
    <p:sldLayoutId id="2147483852" r:id="rId11"/>
    <p:sldLayoutId id="2147483866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\\commons.wikimedia.org\wiki\User:Manuel_Strehl" TargetMode="External"/><Relationship Id="rId7" Type="http://schemas.openxmlformats.org/officeDocument/2006/relationships/hyperlink" Target="https://commons.wikimedia.org/w/index.php?curid=15546510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2.5" TargetMode="External"/><Relationship Id="rId5" Type="http://schemas.openxmlformats.org/officeDocument/2006/relationships/hyperlink" Target="https://commons.wikimedia.org/wiki/File:Ajax-modell.svg" TargetMode="External"/><Relationship Id="rId4" Type="http://schemas.openxmlformats.org/officeDocument/2006/relationships/hyperlink" Target="file:///\\commons.wikimedia.org\w\index.php%3ftitle=User:MattF&amp;action=edit&amp;redlink=1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zonebourse.com/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url.haxx.se/" TargetMode="External"/><Relationship Id="rId2" Type="http://schemas.openxmlformats.org/officeDocument/2006/relationships/hyperlink" Target="https://financialmodelingprep.com/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32A32823-6B09-4952-8407-F2D0C5D6BD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31. Requête Asychrone</a:t>
            </a:r>
            <a:endParaRPr lang="fr-BE" dirty="0"/>
          </a:p>
        </p:txBody>
      </p:sp>
      <p:sp>
        <p:nvSpPr>
          <p:cNvPr id="2" name="Sous-titre 1">
            <a:extLst>
              <a:ext uri="{FF2B5EF4-FFF2-40B4-BE49-F238E27FC236}">
                <a16:creationId xmlns:a16="http://schemas.microsoft.com/office/drawing/2014/main" id="{B2088E9E-E6C9-971C-056D-2F413B16F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/>
              <a:t>Asynchronous JavaScript and XML (AJAX)</a:t>
            </a:r>
          </a:p>
          <a:p>
            <a:r>
              <a:rPr lang="fr-BE"/>
              <a:t>Vanilla JavaScript : Fetch </a:t>
            </a:r>
          </a:p>
          <a:p>
            <a:r>
              <a:rPr lang="fr-BE"/>
              <a:t>Application Programming Interface (API)</a:t>
            </a:r>
          </a:p>
        </p:txBody>
      </p:sp>
    </p:spTree>
    <p:extLst>
      <p:ext uri="{BB962C8B-B14F-4D97-AF65-F5344CB8AC3E}">
        <p14:creationId xmlns:p14="http://schemas.microsoft.com/office/powerpoint/2010/main" val="38012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307B5-AF3E-B49E-B7E2-8705B29E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Principe de la requête asynchrone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CADADA-E7E5-1EDA-2F8E-799FC571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79C15DD2-83EC-8CE2-FFA2-E28F17B817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15758-6DFA-E0D5-3E17-0E9D370587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3F1EAC-2519-4A97-BA21-1B73D8FEBD2F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825EFB-3BEB-3FF2-C698-D98CE8B16C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6485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5927C-8035-432C-B818-D4EAA92A7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Principe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3584C0-7D08-416C-9833-4780CAA9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BE" dirty="0"/>
              <a:t>En un mot : rafraichir dynamiquement une partie de la </a:t>
            </a:r>
            <a:r>
              <a:rPr lang="fr-BE"/>
              <a:t>page web avec une info venant du serveur web</a:t>
            </a:r>
          </a:p>
          <a:p>
            <a:pPr lvl="1"/>
            <a:r>
              <a:rPr lang="fr-BE"/>
              <a:t>En route vers la </a:t>
            </a:r>
            <a:r>
              <a:rPr lang="fr-BE">
                <a:solidFill>
                  <a:schemeClr val="accent2"/>
                </a:solidFill>
              </a:rPr>
              <a:t>Single Page Application</a:t>
            </a:r>
            <a:endParaRPr lang="fr-BE" dirty="0">
              <a:solidFill>
                <a:schemeClr val="accent2"/>
              </a:solidFill>
            </a:endParaRPr>
          </a:p>
          <a:p>
            <a:r>
              <a:rPr lang="fr-BE" dirty="0"/>
              <a:t>Côté serveur : </a:t>
            </a:r>
          </a:p>
          <a:p>
            <a:pPr lvl="1"/>
            <a:r>
              <a:rPr lang="fr-BE" dirty="0"/>
              <a:t>Requête http(s) classique, rien à signaler</a:t>
            </a:r>
          </a:p>
          <a:p>
            <a:r>
              <a:rPr lang="fr-BE" dirty="0"/>
              <a:t>Côté client :</a:t>
            </a:r>
          </a:p>
          <a:p>
            <a:pPr lvl="1"/>
            <a:r>
              <a:rPr lang="fr-BE" dirty="0"/>
              <a:t>Une fonction JS envoie une requête au serveur.</a:t>
            </a:r>
          </a:p>
          <a:p>
            <a:pPr lvl="1"/>
            <a:r>
              <a:rPr lang="fr-BE" dirty="0"/>
              <a:t>Le serveur retourne des données.</a:t>
            </a:r>
          </a:p>
          <a:p>
            <a:pPr lvl="2"/>
            <a:r>
              <a:rPr lang="fr-BE" dirty="0"/>
              <a:t>HTML, CSS, XML, JSON, …</a:t>
            </a:r>
          </a:p>
          <a:p>
            <a:pPr lvl="1"/>
            <a:r>
              <a:rPr lang="fr-BE" dirty="0"/>
              <a:t>Une fonction JS traite ces données retournées et les affiche à un endroit précis de la page.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Le nom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AJAX</a:t>
            </a:r>
            <a:r>
              <a:rPr lang="fr-BE"/>
              <a:t> "</a:t>
            </a:r>
            <a:r>
              <a:rPr lang="fr-BE" dirty="0" err="1"/>
              <a:t>Asynchronous</a:t>
            </a:r>
            <a:r>
              <a:rPr lang="fr-BE" dirty="0"/>
              <a:t> JavaScript and XML" </a:t>
            </a:r>
            <a:r>
              <a:rPr lang="fr-BE"/>
              <a:t>est obsolète </a:t>
            </a:r>
            <a:r>
              <a:rPr lang="fr-BE" dirty="0"/>
              <a:t>car JSON est plus souvent utilisé que </a:t>
            </a:r>
            <a:r>
              <a:rPr lang="fr-BE"/>
              <a:t>XML.</a:t>
            </a:r>
          </a:p>
          <a:p>
            <a:pPr lvl="1"/>
            <a:r>
              <a:rPr lang="fr-BE"/>
              <a:t>La technologie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AJAX</a:t>
            </a:r>
            <a:r>
              <a:rPr lang="fr-BE"/>
              <a:t> est moins utilisée de nos jours.</a:t>
            </a:r>
          </a:p>
          <a:p>
            <a:pPr lvl="1"/>
            <a:r>
              <a:rPr lang="fr-BE"/>
              <a:t>La technologie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(Vanilla JS) est préférée. </a:t>
            </a:r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6607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4A5A39-B674-EF53-040B-C0C074F19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/>
          <a:lstStyle/>
          <a:p>
            <a:r>
              <a:rPr lang="fr-BE"/>
              <a:t>Rappel : Single Page App vs Mult. Page App</a:t>
            </a:r>
          </a:p>
        </p:txBody>
      </p:sp>
      <p:pic>
        <p:nvPicPr>
          <p:cNvPr id="1026" name="Picture 2" descr="SPA vs MPA user experience comparison - SPA is only updating the relevant parts of the page">
            <a:extLst>
              <a:ext uri="{FF2B5EF4-FFF2-40B4-BE49-F238E27FC236}">
                <a16:creationId xmlns:a16="http://schemas.microsoft.com/office/drawing/2014/main" id="{8E2AACD6-13DF-EC45-3257-A94F0D9BE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DFF0F0"/>
              </a:clrFrom>
              <a:clrTo>
                <a:srgbClr val="DF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4593" y="1690688"/>
            <a:ext cx="6345509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3729AB-B542-54F9-0CA0-C38CE94C7DEA}"/>
              </a:ext>
            </a:extLst>
          </p:cNvPr>
          <p:cNvSpPr txBox="1"/>
          <p:nvPr/>
        </p:nvSpPr>
        <p:spPr>
          <a:xfrm>
            <a:off x="9565858" y="2235175"/>
            <a:ext cx="162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&lt;form&gt;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CD49B6-9686-BA3C-E252-B090D501E3ED}"/>
              </a:ext>
            </a:extLst>
          </p:cNvPr>
          <p:cNvSpPr txBox="1"/>
          <p:nvPr/>
        </p:nvSpPr>
        <p:spPr>
          <a:xfrm>
            <a:off x="431988" y="3710805"/>
            <a:ext cx="19376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strike="sngStrik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$.ajax()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fetch()</a:t>
            </a:r>
          </a:p>
          <a:p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60C94B-9822-6519-593A-334C3BAA6F05}"/>
              </a:ext>
            </a:extLst>
          </p:cNvPr>
          <p:cNvSpPr txBox="1"/>
          <p:nvPr/>
        </p:nvSpPr>
        <p:spPr>
          <a:xfrm>
            <a:off x="256478" y="4661212"/>
            <a:ext cx="4226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SPA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une seule page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seules les parties pertinentes sont modifiées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449FF9-E953-FDDA-36C8-90AF0FF5ED65}"/>
              </a:ext>
            </a:extLst>
          </p:cNvPr>
          <p:cNvSpPr txBox="1"/>
          <p:nvPr/>
        </p:nvSpPr>
        <p:spPr>
          <a:xfrm>
            <a:off x="8688893" y="2771520"/>
            <a:ext cx="3376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MPA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plusieurs pages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page entièrement rechargée</a:t>
            </a:r>
          </a:p>
        </p:txBody>
      </p:sp>
    </p:spTree>
    <p:extLst>
      <p:ext uri="{BB962C8B-B14F-4D97-AF65-F5344CB8AC3E}">
        <p14:creationId xmlns:p14="http://schemas.microsoft.com/office/powerpoint/2010/main" val="64263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116EB47-28C2-4E9C-BB82-EEA81594B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Principe</a:t>
            </a:r>
            <a:endParaRPr lang="fr-BE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809A55D0-BFD9-4C54-B524-7FC7490D0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20126" y="79712"/>
            <a:ext cx="7478829" cy="6698575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8C0757-2C8F-4B18-8E5B-78E4EE43423D}"/>
              </a:ext>
            </a:extLst>
          </p:cNvPr>
          <p:cNvSpPr/>
          <p:nvPr/>
        </p:nvSpPr>
        <p:spPr>
          <a:xfrm>
            <a:off x="189296" y="6066989"/>
            <a:ext cx="44308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Par </a:t>
            </a:r>
            <a:r>
              <a:rPr lang="fr-BE" sz="1200" dirty="0" err="1">
                <a:latin typeface="Times New Roman" panose="02020603050405020304" pitchFamily="18" charset="0"/>
                <a:hlinkClick r:id="rId3" action="ppaction://hlinkfile" tooltip="User:Manuel Strehl"/>
              </a:rPr>
              <a:t>User:Manuel</a:t>
            </a:r>
            <a:r>
              <a:rPr lang="fr-BE" sz="1200" dirty="0">
                <a:latin typeface="Times New Roman" panose="02020603050405020304" pitchFamily="18" charset="0"/>
                <a:hlinkClick r:id="rId3" action="ppaction://hlinkfile" tooltip="User:Manuel Strehl"/>
              </a:rPr>
              <a:t> </a:t>
            </a:r>
            <a:r>
              <a:rPr lang="fr-BE" sz="1200" dirty="0" err="1">
                <a:latin typeface="Times New Roman" panose="02020603050405020304" pitchFamily="18" charset="0"/>
                <a:hlinkClick r:id="rId3" action="ppaction://hlinkfile" tooltip="User:Manuel Strehl"/>
              </a:rPr>
              <a:t>Strehl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, </a:t>
            </a:r>
            <a:r>
              <a:rPr lang="fr-BE" sz="1200" dirty="0" err="1">
                <a:latin typeface="Times New Roman" panose="02020603050405020304" pitchFamily="18" charset="0"/>
                <a:hlinkClick r:id="rId4" action="ppaction://hlinkfile" tooltip="User:MattF (page does not exist)"/>
              </a:rPr>
              <a:t>User:MattF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 (translation)</a:t>
            </a:r>
            <a:b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fr-BE" sz="1200" dirty="0">
                <a:latin typeface="Times New Roman" panose="02020603050405020304" pitchFamily="18" charset="0"/>
                <a:hlinkClick r:id="rId5"/>
              </a:rPr>
              <a:t>http://commons.wikimedia.org/wiki/File:Ajax-modell.svg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, </a:t>
            </a:r>
            <a:b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fr-BE" sz="1200" dirty="0">
                <a:latin typeface="Times New Roman" panose="02020603050405020304" pitchFamily="18" charset="0"/>
                <a:hlinkClick r:id="rId6" tooltip="Creative Commons Attribution 2.5"/>
              </a:rPr>
              <a:t>CC BY 2.5</a:t>
            </a:r>
            <a:r>
              <a:rPr lang="fr-BE" sz="1200" dirty="0">
                <a:solidFill>
                  <a:srgbClr val="000000"/>
                </a:solidFill>
                <a:latin typeface="Times New Roman" panose="02020603050405020304" pitchFamily="18" charset="0"/>
              </a:rPr>
              <a:t>, </a:t>
            </a:r>
            <a:r>
              <a:rPr lang="fr-BE" sz="1200" dirty="0">
                <a:latin typeface="Times New Roman" panose="02020603050405020304" pitchFamily="18" charset="0"/>
                <a:hlinkClick r:id="rId7"/>
              </a:rPr>
              <a:t>Lien</a:t>
            </a:r>
            <a:endParaRPr lang="fr-BE" sz="1200" dirty="0"/>
          </a:p>
        </p:txBody>
      </p:sp>
    </p:spTree>
    <p:extLst>
      <p:ext uri="{BB962C8B-B14F-4D97-AF65-F5344CB8AC3E}">
        <p14:creationId xmlns:p14="http://schemas.microsoft.com/office/powerpoint/2010/main" val="372587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BE83E-DBC9-4F25-8069-0F90F849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Motivation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D67165-CE8B-42BD-9E85-F73D1601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Dynamisation du rafraîchissement de la page</a:t>
            </a:r>
          </a:p>
          <a:p>
            <a:pPr lvl="1"/>
            <a:r>
              <a:rPr lang="fr-BE" dirty="0"/>
              <a:t>Page dynamique</a:t>
            </a:r>
          </a:p>
          <a:p>
            <a:r>
              <a:rPr lang="fr-BE" dirty="0"/>
              <a:t>Amélioration des performances</a:t>
            </a:r>
          </a:p>
          <a:p>
            <a:pPr lvl="1"/>
            <a:r>
              <a:rPr lang="fr-BE" dirty="0"/>
              <a:t>Vitesse de rafraichissement</a:t>
            </a:r>
          </a:p>
          <a:p>
            <a:pPr lvl="1"/>
            <a:r>
              <a:rPr lang="fr-BE" dirty="0"/>
              <a:t>Lisibilité accrue</a:t>
            </a:r>
          </a:p>
          <a:p>
            <a:pPr lvl="1"/>
            <a:r>
              <a:rPr lang="fr-BE" dirty="0"/>
              <a:t>Économie de données transférées</a:t>
            </a:r>
          </a:p>
        </p:txBody>
      </p:sp>
    </p:spTree>
    <p:extLst>
      <p:ext uri="{BB962C8B-B14F-4D97-AF65-F5344CB8AC3E}">
        <p14:creationId xmlns:p14="http://schemas.microsoft.com/office/powerpoint/2010/main" val="331316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522314-260C-46D7-9166-60132BC49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Exemple d'application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406C5E3-3383-43DB-92E0-65934B80F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3666067" cy="4486276"/>
          </a:xfrm>
        </p:spPr>
        <p:txBody>
          <a:bodyPr/>
          <a:lstStyle/>
          <a:p>
            <a:r>
              <a:rPr lang="fr-BE"/>
              <a:t>la Bourse </a:t>
            </a:r>
            <a:endParaRPr lang="fr-BE" dirty="0"/>
          </a:p>
          <a:p>
            <a:pPr lvl="1"/>
            <a:r>
              <a:rPr lang="fr-BE"/>
              <a:t>Exemple sur </a:t>
            </a:r>
            <a:r>
              <a:rPr lang="fr-BE">
                <a:hlinkClick r:id="rId2"/>
              </a:rPr>
              <a:t>ZoneBourse</a:t>
            </a:r>
            <a:endParaRPr lang="fr-BE" dirty="0"/>
          </a:p>
          <a:p>
            <a:pPr lvl="1"/>
            <a:r>
              <a:rPr lang="fr-BE" dirty="0"/>
              <a:t>Mise à jour chaque minute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E6799913-8679-A90B-1127-EE34E052CE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2A464C-A022-EB29-8F37-C1ACB3383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267" y="2986920"/>
            <a:ext cx="7687733" cy="3871080"/>
          </a:xfrm>
          <a:prstGeom prst="rect">
            <a:avLst/>
          </a:prstGeom>
        </p:spPr>
      </p:pic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24078543-D77C-60DF-AC98-8318856379D0}"/>
              </a:ext>
            </a:extLst>
          </p:cNvPr>
          <p:cNvCxnSpPr>
            <a:cxnSpLocks/>
          </p:cNvCxnSpPr>
          <p:nvPr/>
        </p:nvCxnSpPr>
        <p:spPr>
          <a:xfrm>
            <a:off x="3877733" y="3615267"/>
            <a:ext cx="6256867" cy="1676400"/>
          </a:xfrm>
          <a:prstGeom prst="curvedConnector3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86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9E612-808E-A6EE-B86F-BBCFAA9F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JS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XMLHttpRequest</a:t>
            </a:r>
            <a:r>
              <a:rPr lang="fr-BE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CF4CDB-7FD3-B57D-663B-810AB866A9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Rôle</a:t>
            </a:r>
          </a:p>
          <a:p>
            <a:pPr lvl="1"/>
            <a:r>
              <a:rPr lang="fr-BE"/>
              <a:t>effectuer des requêtes HTTP asynchrones depuis le navigateur vers un serveur.</a:t>
            </a:r>
          </a:p>
          <a:p>
            <a:r>
              <a:rPr lang="fr-BE"/>
              <a:t>Gestion de tout type de données</a:t>
            </a:r>
          </a:p>
          <a:p>
            <a:pPr lvl="1"/>
            <a:r>
              <a:rPr lang="fr-BE"/>
              <a:t>JSON, texte, HTML, etc.</a:t>
            </a:r>
          </a:p>
          <a:p>
            <a:r>
              <a:rPr lang="fr-BE"/>
              <a:t>Utilisation</a:t>
            </a:r>
          </a:p>
          <a:p>
            <a:pPr lvl="1"/>
            <a:r>
              <a:rPr lang="fr-BE"/>
              <a:t>base de l'AJAX traditionnel</a:t>
            </a:r>
          </a:p>
          <a:p>
            <a:r>
              <a:rPr lang="fr-BE"/>
              <a:t>Inconvénients</a:t>
            </a:r>
          </a:p>
          <a:p>
            <a:pPr lvl="1"/>
            <a:r>
              <a:rPr lang="fr-BE"/>
              <a:t>Syntaxe verbeuse et peu intuitive </a:t>
            </a:r>
          </a:p>
          <a:p>
            <a:pPr lvl="1"/>
            <a:r>
              <a:rPr lang="fr-BE"/>
              <a:t>Gestion des erreurs moins pratique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D181DC-EF5F-B7B7-A95B-44DA8EDD2E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Événements</a:t>
            </a:r>
          </a:p>
          <a:p>
            <a:pPr lvl="1"/>
            <a:r>
              <a:rPr lang="fr-BE"/>
              <a:t>pour gérer les différentes étapes de la requête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.onload, .onerror, .onprogress</a:t>
            </a:r>
          </a:p>
          <a:p>
            <a:r>
              <a:rPr lang="fr-BE"/>
              <a:t>Quelques propriétés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.responseText</a:t>
            </a:r>
          </a:p>
          <a:p>
            <a:pPr lvl="2"/>
            <a:r>
              <a:rPr lang="fr-BE"/>
              <a:t>réponse du serveur (texte)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.status</a:t>
            </a:r>
          </a:p>
          <a:p>
            <a:pPr lvl="2"/>
            <a:r>
              <a:rPr lang="fr-BE"/>
              <a:t>Code HTTP de la réponse</a:t>
            </a:r>
          </a:p>
          <a:p>
            <a:pPr lvl="2"/>
            <a:r>
              <a:rPr lang="fr-BE"/>
              <a:t>ex : 200, 404, …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.readyState</a:t>
            </a:r>
          </a:p>
          <a:p>
            <a:pPr lvl="2"/>
            <a:r>
              <a:rPr lang="fr-BE"/>
              <a:t>état de la requête (0 à 4)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6AD18C-C62F-DC95-697E-AEA527F6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F2A6-70B6-40A7-989A-34759E4806B0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4D6544-6AB0-B6A9-BECA-65FD7746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5014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16E17FE-43C8-99EB-573E-246935B4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JS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Promises</a:t>
            </a:r>
            <a:r>
              <a:rPr lang="fr-BE"/>
              <a:t> (promesses)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42BBC0FD-1159-8406-A8DA-8A8791A60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objet JavaScript moderne représentant la valeur future d’une opération asynchrone</a:t>
            </a:r>
          </a:p>
          <a:p>
            <a:pPr lvl="1"/>
            <a:r>
              <a:rPr lang="fr-BE"/>
              <a:t>natif dans les navigateurs modernes</a:t>
            </a:r>
          </a:p>
          <a:p>
            <a:r>
              <a:rPr lang="fr-BE">
                <a:solidFill>
                  <a:schemeClr val="accent2"/>
                </a:solidFill>
              </a:rPr>
              <a:t>contrat </a:t>
            </a:r>
            <a:r>
              <a:rPr lang="fr-BE"/>
              <a:t>entre </a:t>
            </a:r>
          </a:p>
          <a:p>
            <a:pPr lvl="1"/>
            <a:r>
              <a:rPr lang="fr-BE"/>
              <a:t>le code qui lance l’opération asynchrone et </a:t>
            </a:r>
          </a:p>
          <a:p>
            <a:pPr lvl="1"/>
            <a:r>
              <a:rPr lang="fr-BE"/>
              <a:t>le code qui utilise son résultat.</a:t>
            </a:r>
          </a:p>
          <a:p>
            <a:r>
              <a:rPr lang="fr-BE"/>
              <a:t>analogie :</a:t>
            </a:r>
          </a:p>
          <a:p>
            <a:pPr lvl="1"/>
            <a:r>
              <a:rPr lang="fr-BE"/>
              <a:t>Vous commandez un café dans un bar.</a:t>
            </a:r>
          </a:p>
          <a:p>
            <a:pPr lvl="1"/>
            <a:r>
              <a:rPr lang="fr-BE"/>
              <a:t>Le serveur vous </a:t>
            </a:r>
            <a:r>
              <a:rPr lang="fr-BE">
                <a:solidFill>
                  <a:schemeClr val="accent2"/>
                </a:solidFill>
              </a:rPr>
              <a:t>promet </a:t>
            </a:r>
            <a:r>
              <a:rPr lang="fr-BE"/>
              <a:t>de vous apporter un café.</a:t>
            </a:r>
          </a:p>
          <a:p>
            <a:pPr lvl="1"/>
            <a:r>
              <a:rPr lang="fr-BE"/>
              <a:t>Pendant que le café est préparé (opération asynchrone), vous continuez à discuter.</a:t>
            </a:r>
          </a:p>
          <a:p>
            <a:pPr lvl="1"/>
            <a:r>
              <a:rPr lang="fr-BE"/>
              <a:t>Une fois prêt, le serveur vous </a:t>
            </a:r>
            <a:r>
              <a:rPr lang="fr-BE">
                <a:solidFill>
                  <a:schemeClr val="accent2"/>
                </a:solidFill>
              </a:rPr>
              <a:t>livre</a:t>
            </a:r>
            <a:r>
              <a:rPr lang="fr-BE"/>
              <a:t> le café (la promesse est "résolue") </a:t>
            </a:r>
          </a:p>
          <a:p>
            <a:pPr lvl="2"/>
            <a:r>
              <a:rPr lang="fr-BE"/>
              <a:t>ou vous dit qu’il n’y a plus de café (la promesse est "rejetée")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EF127C-9D92-A73B-66DE-6DF19A69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8C02-2470-452C-8FD7-48D2369607DA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02F0C5-8D45-D2D1-F7E9-DD677F2F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016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EE4E6-01E1-3BC3-BE46-517F7577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Objet JS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Promises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604B5F4F-2AF0-DAD5-46B3-9892C03CE4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838200" y="2479874"/>
            <a:ext cx="5181600" cy="290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D3B59B3-AC5A-076A-9D1B-855DC94A5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5030786"/>
          </a:xfrm>
        </p:spPr>
        <p:txBody>
          <a:bodyPr>
            <a:normAutofit fontScale="77500" lnSpcReduction="20000"/>
          </a:bodyPr>
          <a:lstStyle/>
          <a:p>
            <a:r>
              <a:rPr lang="fr-BE"/>
              <a:t>Une promesse peut être dans un seul des trois états suivants</a:t>
            </a:r>
          </a:p>
          <a:p>
            <a:pPr lvl="1"/>
            <a:r>
              <a:rPr lang="fr-BE">
                <a:solidFill>
                  <a:schemeClr val="accent2"/>
                </a:solidFill>
                <a:highlight>
                  <a:srgbClr val="FFFF00"/>
                </a:highlight>
              </a:rPr>
              <a:t>pending</a:t>
            </a:r>
          </a:p>
          <a:p>
            <a:pPr lvl="2"/>
            <a:r>
              <a:rPr lang="fr-BE"/>
              <a:t>l’opération asynchrone n’est pas encore terminée</a:t>
            </a:r>
          </a:p>
          <a:p>
            <a:pPr lvl="1"/>
            <a:r>
              <a:rPr lang="fr-BE">
                <a:solidFill>
                  <a:schemeClr val="accent2"/>
                </a:solidFill>
                <a:highlight>
                  <a:srgbClr val="00FF00"/>
                </a:highlight>
              </a:rPr>
              <a:t>resolved</a:t>
            </a:r>
          </a:p>
          <a:p>
            <a:pPr lvl="2"/>
            <a:r>
              <a:rPr lang="fr-BE"/>
              <a:t>l’opération a réussi</a:t>
            </a:r>
          </a:p>
          <a:p>
            <a:pPr lvl="2"/>
            <a:r>
              <a:rPr lang="fr-BE"/>
              <a:t>la promesse retourne une valeur</a:t>
            </a:r>
          </a:p>
          <a:p>
            <a:pPr lvl="1"/>
            <a:r>
              <a:rPr lang="fr-BE">
                <a:solidFill>
                  <a:schemeClr val="accent2"/>
                </a:solidFill>
                <a:highlight>
                  <a:srgbClr val="FF0000"/>
                </a:highlight>
              </a:rPr>
              <a:t>rejected</a:t>
            </a:r>
          </a:p>
          <a:p>
            <a:pPr lvl="2"/>
            <a:r>
              <a:rPr lang="fr-BE"/>
              <a:t>l’opération a échoué</a:t>
            </a:r>
          </a:p>
          <a:p>
            <a:pPr lvl="2"/>
            <a:r>
              <a:rPr lang="fr-BE"/>
              <a:t>la promesse retourne une erreur.</a:t>
            </a:r>
          </a:p>
          <a:p>
            <a:r>
              <a:rPr lang="fr-BE"/>
              <a:t>Les promesses permettent </a:t>
            </a:r>
            <a:r>
              <a:rPr lang="fr-BE">
                <a:solidFill>
                  <a:schemeClr val="accent2"/>
                </a:solidFill>
              </a:rPr>
              <a:t>d’enchaîner</a:t>
            </a:r>
            <a:r>
              <a:rPr lang="fr-BE"/>
              <a:t> des opérations asynchrones.</a:t>
            </a:r>
          </a:p>
          <a:p>
            <a:pPr lvl="1"/>
            <a:r>
              <a:rPr lang="fr-BE"/>
              <a:t>lisibilité accrue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01F757-56D8-388C-1AA0-8AA2DC26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E6BF1-684C-4CDC-B855-2D4466F5C157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479014-F289-B2EE-C4EA-9795F2D4C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44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724AA418-BC34-DC49-DA7A-64408203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Implantation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AA3593D-0FEE-6A43-135F-9A35207D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AJAX (Jquery)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D6600C96-D7D0-7E1B-4A81-AEEA8F34D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/>
              <a:t>Basé sur l'objet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XMLHttpRequest</a:t>
            </a:r>
            <a:endParaRPr lang="fr-BE"/>
          </a:p>
          <a:p>
            <a:pPr lvl="1"/>
            <a:r>
              <a:rPr lang="fr-BE"/>
              <a:t>callbacks exécutés en fonction du résultat de la requête</a:t>
            </a:r>
          </a:p>
          <a:p>
            <a:pPr lvl="1"/>
            <a:r>
              <a:rPr lang="fr-BE"/>
              <a:t>success, error, complete</a:t>
            </a:r>
          </a:p>
          <a:p>
            <a:r>
              <a:rPr lang="fr-BE"/>
              <a:t>Vanilla JS  : syntaxe verbeuse</a:t>
            </a:r>
          </a:p>
          <a:p>
            <a:r>
              <a:rPr lang="fr-BE"/>
              <a:t>Jquery  : syntaxe intuitive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$.ajax( … )</a:t>
            </a:r>
          </a:p>
          <a:p>
            <a:pPr lvl="1"/>
            <a:r>
              <a:rPr lang="fr-BE"/>
              <a:t>gestion automatique des erreurs</a:t>
            </a:r>
          </a:p>
          <a:p>
            <a:r>
              <a:rPr lang="fr-BE"/>
              <a:t>Compatibilité avec tous les navigateurs</a:t>
            </a:r>
          </a:p>
          <a:p>
            <a:r>
              <a:rPr lang="fr-BE"/>
              <a:t>Vintage 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DE5BE89-42B9-F106-36D1-D4E1D6B00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BE"/>
              <a:t>Fetch (Vanilla JS)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8808726-27D6-5750-7362-500D737215F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BE"/>
              <a:t>Basé sur les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Promises</a:t>
            </a:r>
          </a:p>
          <a:p>
            <a:pPr lvl="1"/>
            <a:r>
              <a:rPr lang="fr-BE"/>
              <a:t>enchaînement clair avec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.then()</a:t>
            </a:r>
            <a:r>
              <a:rPr lang="fr-BE"/>
              <a:t> 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.catch()</a:t>
            </a:r>
          </a:p>
          <a:p>
            <a:pPr lvl="1"/>
            <a:r>
              <a:rPr lang="fr-BE"/>
              <a:t>plus flexible pour les requêtes complexes</a:t>
            </a:r>
          </a:p>
          <a:p>
            <a:r>
              <a:rPr lang="fr-BE"/>
              <a:t>Vanilla JS  : natif et syntaxe concise</a:t>
            </a:r>
          </a:p>
          <a:p>
            <a:r>
              <a:rPr lang="fr-BE"/>
              <a:t>Nécessité de vérifier les responses</a:t>
            </a:r>
          </a:p>
          <a:p>
            <a:pPr lvl="1"/>
            <a:r>
              <a:rPr lang="fr-BE"/>
              <a:t>Pas de gestion automatique des erreurs HTTP</a:t>
            </a:r>
          </a:p>
          <a:p>
            <a:r>
              <a:rPr lang="fr-BE"/>
              <a:t>Compatibilité avec tous les navigateurs</a:t>
            </a:r>
          </a:p>
          <a:p>
            <a:r>
              <a:rPr lang="fr-BE"/>
              <a:t>Moderne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chaînage de requête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2B8AA4-2C08-2006-2585-55A32A20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A901-155B-4352-AD5E-7C239337D48D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ECD170-C7E7-D307-A90A-FD3EF3C5C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651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F77F35-20FF-6147-816C-7BC78463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Asynchronous JavaScript and XML (AJAX)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6F7A14-CB31-D4D9-A602-85FB641B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JQuery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DB2B4E-2EA3-8BD2-7CEE-245995FE0B7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C3398C-9904-F1E5-AF2B-E9B4076339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14</a:t>
            </a:fld>
            <a:endParaRPr lang="fr-BE"/>
          </a:p>
        </p:txBody>
      </p:sp>
      <p:pic>
        <p:nvPicPr>
          <p:cNvPr id="1026" name="Picture 2" descr="AJAX">
            <a:extLst>
              <a:ext uri="{FF2B5EF4-FFF2-40B4-BE49-F238E27FC236}">
                <a16:creationId xmlns:a16="http://schemas.microsoft.com/office/drawing/2014/main" id="{121CD45F-C3B2-45B8-9D76-8A282E12CD73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8164812" y="720725"/>
            <a:ext cx="3553691" cy="188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92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54A944C-135E-4315-AC92-B8079FFF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DE406F-6ED0-4199-9CA9-22254D6D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Pour définir complètement une requête AJAX, on spécifie  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Le sélecteur et l'évènement déclenchant l'appel AJAX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L'élément éventuel à mettre à jour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L'URL à charger</a:t>
            </a:r>
          </a:p>
          <a:p>
            <a:pPr lvl="2"/>
            <a:r>
              <a:rPr lang="fr-BE" dirty="0"/>
              <a:t>avec des paramètres éventuels, sous format JSON</a:t>
            </a:r>
          </a:p>
          <a:p>
            <a:pPr lvl="2"/>
            <a:r>
              <a:rPr lang="fr-BE" dirty="0"/>
              <a:t>à l'aide de méthodes jQuery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fr-BE" dirty="0">
                <a:solidFill>
                  <a:schemeClr val="accent2"/>
                </a:solidFill>
              </a:rPr>
              <a:t>d'autres méthodes (Javascript) existent, non vues dans ce cours.  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 dirty="0"/>
              <a:t>Le code de retour ou "callback" éventuel</a:t>
            </a:r>
          </a:p>
          <a:p>
            <a:pPr lvl="2"/>
            <a:r>
              <a:rPr lang="fr-BE" dirty="0"/>
              <a:t>traitement des données retournées</a:t>
            </a:r>
          </a:p>
          <a:p>
            <a:r>
              <a:rPr lang="fr-BE" dirty="0"/>
              <a:t>Serveur web indispensable (p.ex. WAMP)</a:t>
            </a:r>
          </a:p>
        </p:txBody>
      </p:sp>
    </p:spTree>
    <p:extLst>
      <p:ext uri="{BB962C8B-B14F-4D97-AF65-F5344CB8AC3E}">
        <p14:creationId xmlns:p14="http://schemas.microsoft.com/office/powerpoint/2010/main" val="2650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C437B-D052-4CCE-B708-C624B23B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01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F8F87-762A-42AD-9336-9A52F2E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Fichier </a:t>
            </a:r>
            <a:r>
              <a:rPr lang="fr-BE"/>
              <a:t>: exo0X</a:t>
            </a:r>
            <a:r>
              <a:rPr lang="fr-BE" dirty="0"/>
              <a:t>_main.html</a:t>
            </a:r>
          </a:p>
          <a:p>
            <a:r>
              <a:rPr lang="fr-BE" dirty="0"/>
              <a:t>Chargement d'un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</a:rPr>
              <a:t>contenu HTML statique </a:t>
            </a:r>
            <a:r>
              <a:rPr lang="fr-BE" dirty="0"/>
              <a:t>(fichier HTML)</a:t>
            </a:r>
          </a:p>
          <a:p>
            <a:pPr lvl="1"/>
            <a:r>
              <a:rPr lang="fr-BE" dirty="0"/>
              <a:t>Même si tous les fichiers sont HTML, il faut malgré tout un serveur web</a:t>
            </a:r>
          </a:p>
          <a:p>
            <a:pPr lvl="1"/>
            <a:r>
              <a:rPr lang="fr-BE"/>
              <a:t>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$(selector).load(…)</a:t>
            </a:r>
            <a:r>
              <a:rPr lang="fr-BE"/>
              <a:t> 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 dirty="0"/>
              <a:t>Code de rappel ou </a:t>
            </a:r>
            <a:r>
              <a:rPr lang="fr-BE" i="1" dirty="0"/>
              <a:t>callback</a:t>
            </a:r>
            <a:r>
              <a:rPr lang="fr-BE" dirty="0"/>
              <a:t> (</a:t>
            </a:r>
            <a:r>
              <a:rPr lang="fr-BE"/>
              <a:t>optionnel)</a:t>
            </a:r>
            <a:endParaRPr lang="fr-BE" dirty="0"/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0096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7B0E25E-B733-4B14-8AAE-B887BB4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01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70382-9BA1-4748-90B5-F35461499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</a:rPr>
              <a:t>$('#maj').click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$('#div1')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load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 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'exo.</a:t>
            </a:r>
            <a:r>
              <a:rPr lang="fr-BE" u="sng" dirty="0">
                <a:solidFill>
                  <a:schemeClr val="accent5"/>
                </a:solidFill>
                <a:latin typeface="Consolas" panose="020B0609020204030204" pitchFamily="49" charset="0"/>
              </a:rPr>
              <a:t>html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',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1"/>
                </a:solidFill>
                <a:latin typeface="Consolas" panose="020B0609020204030204" pitchFamily="49" charset="0"/>
              </a:rPr>
              <a:t>      </a:t>
            </a:r>
            <a:r>
              <a:rPr lang="fr-BE" dirty="0" err="1">
                <a:solidFill>
                  <a:schemeClr val="accent1"/>
                </a:solidFill>
                <a:latin typeface="Consolas" panose="020B0609020204030204" pitchFamily="49" charset="0"/>
              </a:rPr>
              <a:t>alert</a:t>
            </a:r>
            <a:r>
              <a:rPr lang="fr-BE" dirty="0">
                <a:solidFill>
                  <a:schemeClr val="accent1"/>
                </a:solidFill>
                <a:latin typeface="Consolas" panose="020B0609020204030204" pitchFamily="49" charset="0"/>
              </a:rPr>
              <a:t>('zone mise à jour');</a:t>
            </a:r>
            <a:br>
              <a:rPr lang="fr-BE" dirty="0">
                <a:solidFill>
                  <a:schemeClr val="accent1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});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8870F4-62FF-461B-B9E2-D3F93CDF51C0}"/>
              </a:ext>
            </a:extLst>
          </p:cNvPr>
          <p:cNvSpPr txBox="1"/>
          <p:nvPr/>
        </p:nvSpPr>
        <p:spPr>
          <a:xfrm>
            <a:off x="3439885" y="5004018"/>
            <a:ext cx="79139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2"/>
                </a:solidFill>
              </a:rPr>
              <a:t>Sélecteur et évènement déclenchant l'appel AJAX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6">
                    <a:lumMod val="10000"/>
                  </a:schemeClr>
                </a:solidFill>
              </a:rPr>
              <a:t>Élément à mettre à jour 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5"/>
                </a:solidFill>
              </a:rPr>
              <a:t>URL à charger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1"/>
                </a:solidFill>
              </a:rPr>
              <a:t>code de rappel (</a:t>
            </a:r>
            <a:r>
              <a:rPr lang="fr-BE" sz="2800" i="1" dirty="0">
                <a:solidFill>
                  <a:schemeClr val="accent1"/>
                </a:solidFill>
              </a:rPr>
              <a:t>callback</a:t>
            </a:r>
            <a:r>
              <a:rPr lang="fr-BE" sz="28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903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C437B-D052-4CCE-B708-C624B23B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F8F87-762A-42AD-9336-9A52F2E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Fichier </a:t>
            </a:r>
            <a:r>
              <a:rPr lang="fr-BE"/>
              <a:t>: exo0X</a:t>
            </a:r>
            <a:r>
              <a:rPr lang="fr-BE" dirty="0"/>
              <a:t>_main.html</a:t>
            </a:r>
          </a:p>
          <a:p>
            <a:r>
              <a:rPr lang="fr-BE" dirty="0"/>
              <a:t>Chargement d'un </a:t>
            </a:r>
            <a:r>
              <a:rPr lang="fr-BE" dirty="0">
                <a:solidFill>
                  <a:schemeClr val="accent2"/>
                </a:solidFill>
              </a:rPr>
              <a:t>contenu HTML dynamique </a:t>
            </a:r>
            <a:r>
              <a:rPr lang="fr-BE" dirty="0"/>
              <a:t>(fichier PHP)</a:t>
            </a:r>
          </a:p>
          <a:p>
            <a:pPr lvl="1"/>
            <a:r>
              <a:rPr lang="fr-BE" dirty="0"/>
              <a:t>Fichier PHP appelé (avec params)</a:t>
            </a:r>
          </a:p>
          <a:p>
            <a:pPr lvl="1"/>
            <a:r>
              <a:rPr lang="fr-BE" dirty="0"/>
              <a:t>Méthode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selector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(…)</a:t>
            </a:r>
            <a:r>
              <a:rPr lang="fr-BE" dirty="0"/>
              <a:t> </a:t>
            </a:r>
            <a:r>
              <a:rPr lang="fr-BE"/>
              <a:t>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 dirty="0"/>
              <a:t>Paramètres de l'URL (optionnel)</a:t>
            </a:r>
          </a:p>
          <a:p>
            <a:pPr lvl="2"/>
            <a:r>
              <a:rPr lang="fr-BE" dirty="0"/>
              <a:t>Callback (optionnel)</a:t>
            </a:r>
          </a:p>
        </p:txBody>
      </p:sp>
    </p:spTree>
    <p:extLst>
      <p:ext uri="{BB962C8B-B14F-4D97-AF65-F5344CB8AC3E}">
        <p14:creationId xmlns:p14="http://schemas.microsoft.com/office/powerpoint/2010/main" val="167494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7B0E25E-B733-4B14-8AAE-B887BB4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fr-BE" b="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load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</a:t>
            </a:r>
            <a:r>
              <a:rPr lang="fr-BE"/>
              <a:t>: exo 02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70382-9BA1-4748-90B5-F3546149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353800" cy="44862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</a:rPr>
              <a:t>$('#maj').click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var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param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= { 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number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: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1234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</a:rPr>
              <a:t>$('#div1')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load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exo.</a:t>
            </a:r>
            <a:r>
              <a:rPr lang="fr-BE" u="sng" dirty="0" err="1">
                <a:solidFill>
                  <a:schemeClr val="accent5"/>
                </a:solidFill>
                <a:latin typeface="Consolas" panose="020B0609020204030204" pitchFamily="49" charset="0"/>
              </a:rPr>
              <a:t>php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', 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param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);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8870F4-62FF-461B-B9E2-D3F93CDF51C0}"/>
              </a:ext>
            </a:extLst>
          </p:cNvPr>
          <p:cNvSpPr txBox="1"/>
          <p:nvPr/>
        </p:nvSpPr>
        <p:spPr>
          <a:xfrm>
            <a:off x="4484914" y="5042118"/>
            <a:ext cx="75329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2"/>
                </a:solidFill>
              </a:rPr>
              <a:t>Sélecteur et évènement déclenchant l'appel AJAX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6">
                    <a:lumMod val="10000"/>
                  </a:schemeClr>
                </a:solidFill>
              </a:rPr>
              <a:t>Élément à mettre à jour 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5"/>
                </a:solidFill>
              </a:rPr>
              <a:t>URL à charger avec params JSON</a:t>
            </a:r>
          </a:p>
        </p:txBody>
      </p:sp>
    </p:spTree>
    <p:extLst>
      <p:ext uri="{BB962C8B-B14F-4D97-AF65-F5344CB8AC3E}">
        <p14:creationId xmlns:p14="http://schemas.microsoft.com/office/powerpoint/2010/main" val="297136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C437B-D052-4CCE-B708-C624B23B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$.post()</a:t>
            </a:r>
            <a:r>
              <a:rPr lang="fr-BE" dirty="0"/>
              <a:t> </a:t>
            </a:r>
            <a:r>
              <a:rPr lang="fr-BE"/>
              <a:t>: exo 03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F8F87-762A-42AD-9336-9A52F2E8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 dirty="0"/>
              <a:t>Fichier </a:t>
            </a:r>
            <a:r>
              <a:rPr lang="fr-BE"/>
              <a:t>: exo0X</a:t>
            </a:r>
            <a:r>
              <a:rPr lang="fr-BE" dirty="0"/>
              <a:t>_main.html</a:t>
            </a:r>
          </a:p>
          <a:p>
            <a:r>
              <a:rPr lang="fr-BE" dirty="0"/>
              <a:t>Chargement et traitement de </a:t>
            </a:r>
            <a:r>
              <a:rPr lang="fr-BE" dirty="0">
                <a:solidFill>
                  <a:schemeClr val="accent2"/>
                </a:solidFill>
              </a:rPr>
              <a:t>données</a:t>
            </a:r>
            <a:r>
              <a:rPr lang="fr-BE" dirty="0"/>
              <a:t> par AJAX </a:t>
            </a:r>
          </a:p>
          <a:p>
            <a:pPr lvl="1"/>
            <a:r>
              <a:rPr lang="fr-BE" dirty="0"/>
              <a:t>Fichier PHP appelé (avec params)</a:t>
            </a:r>
          </a:p>
          <a:p>
            <a:pPr lvl="1"/>
            <a:r>
              <a:rPr lang="fr-BE" dirty="0"/>
              <a:t>Il n'y a plus nécessairement d'élément à mettre à jour</a:t>
            </a:r>
          </a:p>
          <a:p>
            <a:pPr lvl="2"/>
            <a:r>
              <a:rPr lang="fr-BE" dirty="0"/>
              <a:t>Puisqu'on veut traiter des données …</a:t>
            </a:r>
          </a:p>
          <a:p>
            <a:pPr lvl="1"/>
            <a:r>
              <a:rPr lang="fr-BE" dirty="0"/>
              <a:t>Méthode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$.post(…)</a:t>
            </a:r>
            <a:r>
              <a:rPr lang="fr-BE" dirty="0"/>
              <a:t> </a:t>
            </a:r>
            <a:r>
              <a:rPr lang="fr-BE"/>
              <a:t>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 dirty="0"/>
              <a:t>Paramètres de l'URL (optionnel)</a:t>
            </a:r>
          </a:p>
          <a:p>
            <a:pPr lvl="2"/>
            <a:r>
              <a:rPr lang="fr-BE" dirty="0"/>
              <a:t>Callback, ramenant les données en paramètre</a:t>
            </a:r>
          </a:p>
          <a:p>
            <a:pPr lvl="2"/>
            <a:r>
              <a:rPr lang="fr-BE" dirty="0"/>
              <a:t>Type de données retournées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6A0366-53C6-434A-AC2D-6313EF1A1CBE}"/>
              </a:ext>
            </a:extLst>
          </p:cNvPr>
          <p:cNvSpPr/>
          <p:nvPr/>
        </p:nvSpPr>
        <p:spPr>
          <a:xfrm>
            <a:off x="3782784" y="6132744"/>
            <a:ext cx="8055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BE" dirty="0"/>
              <a:t>https://www.w3schools.com/jquery/ajax_post.asp</a:t>
            </a:r>
          </a:p>
        </p:txBody>
      </p:sp>
    </p:spTree>
    <p:extLst>
      <p:ext uri="{BB962C8B-B14F-4D97-AF65-F5344CB8AC3E}">
        <p14:creationId xmlns:p14="http://schemas.microsoft.com/office/powerpoint/2010/main" val="159748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87B0E25E-B733-4B14-8AAE-B887BB43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Fonction </a:t>
            </a:r>
            <a:r>
              <a:rPr lang="fr-BE" b="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$.post()</a:t>
            </a:r>
            <a:r>
              <a:rPr lang="fr-BE" dirty="0"/>
              <a:t> </a:t>
            </a:r>
            <a:r>
              <a:rPr lang="fr-BE"/>
              <a:t>: exo 03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3D70382-9BA1-4748-90B5-F35461499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1353800" cy="44862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dirty="0">
                <a:solidFill>
                  <a:schemeClr val="accent2"/>
                </a:solidFill>
                <a:latin typeface="Consolas" panose="020B0609020204030204" pitchFamily="49" charset="0"/>
              </a:rPr>
              <a:t>$('#maj').click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$.post(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exo.</a:t>
            </a:r>
            <a:r>
              <a:rPr lang="fr-BE" u="sng" dirty="0" err="1">
                <a:solidFill>
                  <a:schemeClr val="accent5"/>
                </a:solidFill>
                <a:latin typeface="Consolas" panose="020B0609020204030204" pitchFamily="49" charset="0"/>
              </a:rPr>
              <a:t>php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', 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{ </a:t>
            </a:r>
            <a:r>
              <a:rPr lang="fr-BE" dirty="0" err="1">
                <a:solidFill>
                  <a:schemeClr val="accent5"/>
                </a:solidFill>
                <a:latin typeface="Consolas" panose="020B0609020204030204" pitchFamily="49" charset="0"/>
              </a:rPr>
              <a:t>number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 1234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  <a:t>,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 {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      </a:t>
            </a:r>
            <a:r>
              <a:rPr lang="fr-BE" dirty="0" err="1">
                <a:solidFill>
                  <a:schemeClr val="accent4"/>
                </a:solidFill>
                <a:latin typeface="Consolas" panose="020B0609020204030204" pitchFamily="49" charset="0"/>
              </a:rPr>
              <a:t>alert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);</a:t>
            </a:r>
            <a:b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      $('#</a:t>
            </a:r>
            <a:r>
              <a:rPr lang="fr-BE" dirty="0" err="1">
                <a:solidFill>
                  <a:schemeClr val="accent4"/>
                </a:solidFill>
                <a:latin typeface="Consolas" panose="020B0609020204030204" pitchFamily="49" charset="0"/>
              </a:rPr>
              <a:t>troisieme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').html(</a:t>
            </a: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  <a:t>);</a:t>
            </a:r>
            <a:br>
              <a:rPr lang="fr-BE" dirty="0">
                <a:solidFill>
                  <a:schemeClr val="accent4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},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"html" </a:t>
            </a:r>
            <a:b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fr-BE" dirty="0">
                <a:solidFill>
                  <a:schemeClr val="accent5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8870F4-62FF-461B-B9E2-D3F93CDF51C0}"/>
              </a:ext>
            </a:extLst>
          </p:cNvPr>
          <p:cNvSpPr txBox="1"/>
          <p:nvPr/>
        </p:nvSpPr>
        <p:spPr>
          <a:xfrm>
            <a:off x="4484914" y="5004018"/>
            <a:ext cx="75329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2"/>
                </a:solidFill>
              </a:rPr>
              <a:t>Sélecteur et évènement déclenchant l'appel AJAX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5"/>
                </a:solidFill>
              </a:rPr>
              <a:t>URL à charger avec </a:t>
            </a:r>
            <a:r>
              <a:rPr lang="fr-BE" sz="2800" b="1" dirty="0">
                <a:solidFill>
                  <a:schemeClr val="accent5"/>
                </a:solidFill>
              </a:rPr>
              <a:t>params JSON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dirty="0">
                <a:solidFill>
                  <a:schemeClr val="accent1"/>
                </a:solidFill>
              </a:rPr>
              <a:t>Callback avec </a:t>
            </a:r>
            <a:r>
              <a:rPr lang="fr-BE" sz="2800" b="1" dirty="0">
                <a:solidFill>
                  <a:schemeClr val="accent1">
                    <a:lumMod val="75000"/>
                  </a:schemeClr>
                </a:solidFill>
              </a:rPr>
              <a:t>données retournées </a:t>
            </a:r>
          </a:p>
          <a:p>
            <a:pPr marL="457200" lvl="1" indent="-457200">
              <a:buFont typeface="+mj-lt"/>
              <a:buAutoNum type="arabicPeriod"/>
            </a:pPr>
            <a:r>
              <a:rPr lang="fr-BE" sz="2800" b="1" dirty="0">
                <a:solidFill>
                  <a:schemeClr val="accent6">
                    <a:lumMod val="25000"/>
                  </a:schemeClr>
                </a:solidFill>
              </a:rPr>
              <a:t>Format des données retournées</a:t>
            </a:r>
          </a:p>
        </p:txBody>
      </p:sp>
    </p:spTree>
    <p:extLst>
      <p:ext uri="{BB962C8B-B14F-4D97-AF65-F5344CB8AC3E}">
        <p14:creationId xmlns:p14="http://schemas.microsoft.com/office/powerpoint/2010/main" val="294125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35077-B487-4220-909F-28A76947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$.ajax()</a:t>
            </a:r>
            <a:endParaRPr lang="fr-BE" b="0" dirty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Espace réservé du contenu 24">
            <a:extLst>
              <a:ext uri="{FF2B5EF4-FFF2-40B4-BE49-F238E27FC236}">
                <a16:creationId xmlns:a16="http://schemas.microsoft.com/office/drawing/2014/main" id="{9E10B5E1-AC2B-48A7-85A4-9AF194C1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BE"/>
              <a:t>la fonction Jquery la plus élaborée …</a:t>
            </a:r>
          </a:p>
          <a:p>
            <a:pPr marL="0" indent="0">
              <a:buNone/>
            </a:pPr>
            <a:r>
              <a:rPr lang="fr-BE" sz="370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</a:t>
            </a:r>
            <a:r>
              <a:rPr lang="fr-BE" sz="37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ajax( {options} );</a:t>
            </a:r>
          </a:p>
          <a:p>
            <a:pPr lvl="1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options</a:t>
            </a:r>
            <a:r>
              <a:rPr lang="fr-BE" i="1" dirty="0"/>
              <a:t> :</a:t>
            </a:r>
          </a:p>
          <a:p>
            <a:pPr lvl="2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type</a:t>
            </a:r>
            <a:r>
              <a:rPr lang="fr-BE" dirty="0"/>
              <a:t> : type de la requête, GET ou POST (GET par défaut).</a:t>
            </a:r>
          </a:p>
          <a:p>
            <a:pPr lvl="2"/>
            <a:r>
              <a:rPr lang="fr-BE" sz="29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url</a:t>
            </a:r>
            <a:r>
              <a:rPr lang="fr-BE" dirty="0"/>
              <a:t> : adresse à laquelle la requête doit être envoyée.</a:t>
            </a:r>
          </a:p>
          <a:p>
            <a:pPr lvl="2"/>
            <a:r>
              <a:rPr lang="fr-BE" sz="29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fr-BE" dirty="0"/>
              <a:t> : données à envoyer au serveur.</a:t>
            </a:r>
          </a:p>
          <a:p>
            <a:pPr lvl="2"/>
            <a:r>
              <a:rPr lang="fr-BE" sz="29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dataType</a:t>
            </a:r>
            <a:r>
              <a:rPr lang="fr-BE" dirty="0"/>
              <a:t> : type des données qui doivent être retournées par le serveur : xml, html, script, </a:t>
            </a:r>
            <a:r>
              <a:rPr lang="fr-BE" dirty="0" err="1"/>
              <a:t>json</a:t>
            </a:r>
            <a:r>
              <a:rPr lang="fr-BE" dirty="0"/>
              <a:t>, </a:t>
            </a:r>
            <a:r>
              <a:rPr lang="fr-BE" dirty="0" err="1"/>
              <a:t>text</a:t>
            </a:r>
            <a:r>
              <a:rPr lang="fr-BE" dirty="0"/>
              <a:t>.</a:t>
            </a:r>
          </a:p>
          <a:p>
            <a:pPr lvl="2"/>
            <a:r>
              <a:rPr lang="fr-BE" sz="29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success</a:t>
            </a:r>
            <a:r>
              <a:rPr lang="fr-BE" dirty="0"/>
              <a:t> : fonction à appeler si la requête aboutit.</a:t>
            </a:r>
          </a:p>
          <a:p>
            <a:pPr lvl="2"/>
            <a:r>
              <a:rPr lang="fr-BE" sz="2900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error</a:t>
            </a:r>
            <a:r>
              <a:rPr lang="fr-BE" dirty="0"/>
              <a:t> : fonction à appeler si la requête n'aboutit pas (</a:t>
            </a:r>
            <a:r>
              <a:rPr lang="fr-BE" dirty="0" err="1"/>
              <a:t>p.ex.timeout</a:t>
            </a:r>
            <a:r>
              <a:rPr lang="fr-BE" dirty="0"/>
              <a:t> dépassé)</a:t>
            </a:r>
          </a:p>
          <a:p>
            <a:pPr lvl="2"/>
            <a:r>
              <a:rPr lang="fr-BE" sz="2900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timeout</a:t>
            </a:r>
            <a:r>
              <a:rPr lang="fr-BE" dirty="0"/>
              <a:t> : délai maximum (en millisecondes) pour que la requête soit exécutée.</a:t>
            </a:r>
          </a:p>
        </p:txBody>
      </p:sp>
    </p:spTree>
    <p:extLst>
      <p:ext uri="{BB962C8B-B14F-4D97-AF65-F5344CB8AC3E}">
        <p14:creationId xmlns:p14="http://schemas.microsoft.com/office/powerpoint/2010/main" val="8112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356B4-ECE5-436B-A6D3-2489AAC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SESSION </a:t>
            </a:r>
            <a:r>
              <a:rPr lang="fr-BE"/>
              <a:t>: exo 11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40A00-7C21-4024-A6D3-B54BD299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730343" cy="4955040"/>
          </a:xfrm>
        </p:spPr>
        <p:txBody>
          <a:bodyPr>
            <a:normAutofit lnSpcReduction="10000"/>
          </a:bodyPr>
          <a:lstStyle/>
          <a:p>
            <a:r>
              <a:rPr lang="fr-BE" dirty="0"/>
              <a:t>Deux fichiers de départ,  à installer :</a:t>
            </a:r>
          </a:p>
          <a:p>
            <a:pPr lvl="1"/>
            <a:r>
              <a:rPr lang="fr-BE" dirty="0"/>
              <a:t>Client </a:t>
            </a:r>
            <a:r>
              <a:rPr lang="fr-BE"/>
              <a:t>: exo11_card_</a:t>
            </a:r>
            <a:r>
              <a:rPr lang="fr-BE" dirty="0"/>
              <a:t>client.php</a:t>
            </a:r>
          </a:p>
          <a:p>
            <a:pPr lvl="1"/>
            <a:r>
              <a:rPr lang="fr-BE" dirty="0"/>
              <a:t>Serveur </a:t>
            </a:r>
            <a:r>
              <a:rPr lang="fr-BE"/>
              <a:t>: exo11_card_</a:t>
            </a:r>
            <a:r>
              <a:rPr lang="fr-BE" dirty="0"/>
              <a:t>server.php</a:t>
            </a:r>
          </a:p>
          <a:p>
            <a:r>
              <a:rPr lang="fr-BE" dirty="0"/>
              <a:t>Situation courante :</a:t>
            </a:r>
          </a:p>
          <a:p>
            <a:pPr lvl="1"/>
            <a:r>
              <a:rPr lang="fr-BE" dirty="0"/>
              <a:t>Quand l'utilisateur ajoute un produit au panier (côté client), alors la super globale SESSION enregistre le choix (côté serveur).</a:t>
            </a:r>
          </a:p>
          <a:p>
            <a:r>
              <a:rPr lang="fr-BE" dirty="0"/>
              <a:t>Votre mission : </a:t>
            </a:r>
          </a:p>
          <a:p>
            <a:pPr lvl="1"/>
            <a:r>
              <a:rPr lang="fr-BE" dirty="0"/>
              <a:t>Examinez ce code </a:t>
            </a:r>
          </a:p>
          <a:p>
            <a:pPr lvl="1"/>
            <a:r>
              <a:rPr lang="fr-BE" dirty="0"/>
              <a:t>Observez la fonction JS 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_card(…)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D513E2-5839-41A3-8760-B497C511D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995" y="147300"/>
            <a:ext cx="2295238" cy="5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3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356B4-ECE5-436B-A6D3-2489AAC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SESSION </a:t>
            </a:r>
            <a:r>
              <a:rPr lang="fr-BE"/>
              <a:t>: exo 12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40A00-7C21-4024-A6D3-B54BD2996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Deux fichiers de départ </a:t>
            </a:r>
            <a:r>
              <a:rPr lang="fr-BE"/>
              <a:t>: idem exo 11</a:t>
            </a:r>
            <a:endParaRPr lang="fr-BE" dirty="0"/>
          </a:p>
          <a:p>
            <a:r>
              <a:rPr lang="fr-BE" dirty="0"/>
              <a:t>Votre mission :</a:t>
            </a:r>
          </a:p>
          <a:p>
            <a:pPr lvl="1"/>
            <a:r>
              <a:rPr lang="fr-BE" dirty="0"/>
              <a:t>Quand l'utilisateur supprime son panier (côté client), alors la super globale SESSION est effacée (côté serveur) et donc le panier est vidé aussi à l'écran (côté client). </a:t>
            </a:r>
          </a:p>
        </p:txBody>
      </p:sp>
    </p:spTree>
    <p:extLst>
      <p:ext uri="{BB962C8B-B14F-4D97-AF65-F5344CB8AC3E}">
        <p14:creationId xmlns:p14="http://schemas.microsoft.com/office/powerpoint/2010/main" val="420995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356B4-ECE5-436B-A6D3-2489AAC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SESSION </a:t>
            </a:r>
            <a:r>
              <a:rPr lang="fr-BE"/>
              <a:t>: exo 13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240A00-7C21-4024-A6D3-B54BD299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528" y="1723346"/>
            <a:ext cx="8308243" cy="5134653"/>
          </a:xfrm>
        </p:spPr>
        <p:txBody>
          <a:bodyPr>
            <a:normAutofit lnSpcReduction="10000"/>
          </a:bodyPr>
          <a:lstStyle/>
          <a:p>
            <a:r>
              <a:rPr lang="fr-BE" dirty="0"/>
              <a:t>Deux fichiers de départ : </a:t>
            </a:r>
            <a:r>
              <a:rPr lang="fr-BE"/>
              <a:t>idem exo 11</a:t>
            </a:r>
            <a:endParaRPr lang="fr-BE" dirty="0"/>
          </a:p>
          <a:p>
            <a:r>
              <a:rPr lang="fr-BE" dirty="0"/>
              <a:t>Vos missions :</a:t>
            </a:r>
          </a:p>
          <a:p>
            <a:pPr lvl="1"/>
            <a:r>
              <a:rPr lang="fr-BE" dirty="0"/>
              <a:t>Introduire un bouton pour chaque produit, intitulé "retirer du panier", qui enlève le produit du panier.  </a:t>
            </a:r>
          </a:p>
          <a:p>
            <a:pPr lvl="2"/>
            <a:r>
              <a:rPr lang="fr-BE" dirty="0"/>
              <a:t>Tuyau : Le code serveur doit aussi être modifié.</a:t>
            </a:r>
          </a:p>
          <a:p>
            <a:pPr lvl="1"/>
            <a:r>
              <a:rPr lang="fr-BE" dirty="0"/>
              <a:t>Quand l'utilisateur ajoute un produit au panier, alors le bouton "ajouter" propre à ce produit est désactivé et le bouton "retirer" activé.</a:t>
            </a:r>
          </a:p>
          <a:p>
            <a:pPr lvl="1"/>
            <a:r>
              <a:rPr lang="fr-BE" dirty="0"/>
              <a:t>Et vice-versa quand l'utilisateur retire un produit du panier…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E7F576-21C8-4FA2-9BF8-C1432F3AD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772" y="237114"/>
            <a:ext cx="2811328" cy="529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2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065DB-0C41-4F05-BF7C-CC2B0A8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</a:t>
            </a:r>
            <a:r>
              <a:rPr lang="fr-BE" dirty="0" err="1"/>
              <a:t>database</a:t>
            </a:r>
            <a:r>
              <a:rPr lang="fr-BE" dirty="0"/>
              <a:t> </a:t>
            </a:r>
            <a:r>
              <a:rPr lang="fr-BE"/>
              <a:t>: exo 21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2A060-9586-4BD5-BA14-0E4A70BF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142514" cy="4486276"/>
          </a:xfrm>
        </p:spPr>
        <p:txBody>
          <a:bodyPr>
            <a:normAutofit fontScale="92500" lnSpcReduction="20000"/>
          </a:bodyPr>
          <a:lstStyle/>
          <a:p>
            <a:r>
              <a:rPr lang="fr-BE" dirty="0"/>
              <a:t>Point de départ</a:t>
            </a:r>
          </a:p>
          <a:p>
            <a:r>
              <a:rPr lang="fr-BE" dirty="0"/>
              <a:t>Application "</a:t>
            </a:r>
            <a:r>
              <a:rPr lang="fr-BE" dirty="0" err="1"/>
              <a:t>database</a:t>
            </a:r>
            <a:r>
              <a:rPr lang="fr-BE" dirty="0"/>
              <a:t>" du chapitre 11.</a:t>
            </a:r>
          </a:p>
          <a:p>
            <a:pPr lvl="1"/>
            <a:r>
              <a:rPr lang="fr-BE" dirty="0"/>
              <a:t>Application web liée à une base de données SQL</a:t>
            </a:r>
          </a:p>
          <a:p>
            <a:pPr lvl="1"/>
            <a:r>
              <a:rPr lang="fr-BE" dirty="0"/>
              <a:t>Démo 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SELECT</a:t>
            </a:r>
            <a:r>
              <a:rPr lang="fr-BE" dirty="0"/>
              <a:t> </a:t>
            </a:r>
          </a:p>
          <a:p>
            <a:pPr lvl="1"/>
            <a:r>
              <a:rPr lang="fr-BE" dirty="0"/>
              <a:t>Démo de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</a:t>
            </a:r>
            <a:r>
              <a:rPr lang="fr-BE" dirty="0"/>
              <a:t> </a:t>
            </a:r>
          </a:p>
          <a:p>
            <a:r>
              <a:rPr lang="fr-BE" dirty="0"/>
              <a:t>Architecture</a:t>
            </a:r>
          </a:p>
          <a:p>
            <a:pPr lvl="1"/>
            <a:r>
              <a:rPr lang="fr-BE" dirty="0"/>
              <a:t>côté serveur : MVC (heureusement !)</a:t>
            </a:r>
          </a:p>
          <a:p>
            <a:pPr lvl="1"/>
            <a:r>
              <a:rPr lang="fr-BE" dirty="0"/>
              <a:t>côté client : classique, pas d'AJAX </a:t>
            </a:r>
          </a:p>
          <a:p>
            <a:pPr lvl="1"/>
            <a:r>
              <a:rPr lang="fr-BE" dirty="0"/>
              <a:t>Le bouton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"insert new deal"</a:t>
            </a:r>
            <a:r>
              <a:rPr lang="fr-BE" dirty="0"/>
              <a:t> rafraîchit toute la page.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3754FB-13F2-41BC-82F4-D4A9A00BB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770" y="365125"/>
            <a:ext cx="265714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0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065DB-0C41-4F05-BF7C-CC2B0A8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</a:t>
            </a:r>
            <a:r>
              <a:rPr lang="fr-BE" dirty="0" err="1"/>
              <a:t>database</a:t>
            </a:r>
            <a:r>
              <a:rPr lang="fr-BE" dirty="0"/>
              <a:t> </a:t>
            </a:r>
            <a:r>
              <a:rPr lang="fr-BE"/>
              <a:t>: exo 21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2A060-9586-4BD5-BA14-0E4A70BF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142514" cy="4486276"/>
          </a:xfrm>
        </p:spPr>
        <p:txBody>
          <a:bodyPr>
            <a:normAutofit/>
          </a:bodyPr>
          <a:lstStyle/>
          <a:p>
            <a:r>
              <a:rPr lang="fr-BE" dirty="0"/>
              <a:t>Point de départ</a:t>
            </a:r>
          </a:p>
          <a:p>
            <a:r>
              <a:rPr lang="fr-BE" dirty="0"/>
              <a:t>Fichiers de départ, à installer et à tester :</a:t>
            </a:r>
          </a:p>
          <a:p>
            <a:pPr lvl="1"/>
            <a:r>
              <a:rPr lang="fr-BE"/>
              <a:t>exo21-conndb</a:t>
            </a:r>
            <a:r>
              <a:rPr lang="fr-BE" dirty="0"/>
              <a:t>_start.php</a:t>
            </a:r>
          </a:p>
          <a:p>
            <a:pPr lvl="2"/>
            <a:r>
              <a:rPr lang="fr-BE" dirty="0"/>
              <a:t>Lecture et édition d'une table.</a:t>
            </a:r>
          </a:p>
          <a:p>
            <a:pPr lvl="2"/>
            <a:r>
              <a:rPr lang="fr-BE" dirty="0"/>
              <a:t>Mini-architecture MVC : un seul fichier.</a:t>
            </a:r>
          </a:p>
          <a:p>
            <a:pPr lvl="2"/>
            <a:r>
              <a:rPr lang="fr-BE" i="1" dirty="0"/>
              <a:t>Ajax-free</a:t>
            </a:r>
            <a:r>
              <a:rPr lang="fr-BE" dirty="0"/>
              <a:t> (au départ)</a:t>
            </a:r>
          </a:p>
          <a:p>
            <a:pPr lvl="1"/>
            <a:r>
              <a:rPr lang="fr-BE"/>
              <a:t>exo21-db</a:t>
            </a:r>
            <a:r>
              <a:rPr lang="fr-BE" dirty="0"/>
              <a:t>_import.sql</a:t>
            </a:r>
          </a:p>
          <a:p>
            <a:pPr lvl="2"/>
            <a:r>
              <a:rPr lang="fr-BE" dirty="0"/>
              <a:t>Contenu de la base de données en SQL </a:t>
            </a:r>
          </a:p>
          <a:p>
            <a:pPr lvl="2"/>
            <a:r>
              <a:rPr lang="fr-BE" dirty="0"/>
              <a:t>A importer dans votre base MySQL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3754FB-13F2-41BC-82F4-D4A9A00BB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770" y="365125"/>
            <a:ext cx="265714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3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065DB-0C41-4F05-BF7C-CC2B0A8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 &amp; </a:t>
            </a:r>
            <a:r>
              <a:rPr lang="fr-BE" dirty="0" err="1"/>
              <a:t>database</a:t>
            </a:r>
            <a:r>
              <a:rPr lang="fr-BE" dirty="0"/>
              <a:t> </a:t>
            </a:r>
            <a:r>
              <a:rPr lang="fr-BE"/>
              <a:t>: exo 21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2A060-9586-4BD5-BA14-0E4A70BFC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8468570" cy="4486276"/>
          </a:xfrm>
        </p:spPr>
        <p:txBody>
          <a:bodyPr>
            <a:normAutofit fontScale="77500" lnSpcReduction="20000"/>
          </a:bodyPr>
          <a:lstStyle/>
          <a:p>
            <a:r>
              <a:rPr lang="fr-BE" dirty="0"/>
              <a:t>Convertissez cette appli en AJAX., càd</a:t>
            </a:r>
          </a:p>
          <a:p>
            <a:pPr lvl="1"/>
            <a:r>
              <a:rPr lang="fr-BE" dirty="0"/>
              <a:t>Supprimez le rafraichissement complet de la page.</a:t>
            </a:r>
          </a:p>
          <a:p>
            <a:pPr lvl="1"/>
            <a:r>
              <a:rPr lang="fr-BE" dirty="0"/>
              <a:t>Ne rafraichissez que les parties de la page nécessaires et suffisantes.</a:t>
            </a:r>
          </a:p>
          <a:p>
            <a:r>
              <a:rPr lang="fr-BE" dirty="0"/>
              <a:t>Tuyaux :</a:t>
            </a:r>
          </a:p>
          <a:p>
            <a:pPr lvl="1"/>
            <a:r>
              <a:rPr lang="fr-BE" dirty="0"/>
              <a:t>Gardez tous les codes dans un seul fichier </a:t>
            </a:r>
          </a:p>
          <a:p>
            <a:pPr lvl="1"/>
            <a:r>
              <a:rPr lang="fr-BE" dirty="0"/>
              <a:t>Le bouton "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insert new deal</a:t>
            </a:r>
            <a:r>
              <a:rPr lang="fr-BE" dirty="0"/>
              <a:t>" doit être modifié.</a:t>
            </a:r>
          </a:p>
          <a:p>
            <a:pPr lvl="1"/>
            <a:r>
              <a:rPr lang="fr-BE" dirty="0"/>
              <a:t>Un évènement doit être défini pour le bouton.</a:t>
            </a:r>
          </a:p>
          <a:p>
            <a:pPr lvl="1"/>
            <a:r>
              <a:rPr lang="fr-BE" dirty="0"/>
              <a:t>Quand on clique sur le bouton, la base de données est mise à jour.</a:t>
            </a:r>
          </a:p>
          <a:p>
            <a:pPr lvl="1"/>
            <a:r>
              <a:rPr lang="fr-BE" dirty="0"/>
              <a:t>Puis "parties en cours" et "messages du système" sont rafraîchis.</a:t>
            </a:r>
          </a:p>
          <a:p>
            <a:pPr lvl="1"/>
            <a:r>
              <a:rPr lang="fr-BE" dirty="0"/>
              <a:t>L'architecture MVC est d'une grande aide.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03754FB-13F2-41BC-82F4-D4A9A00BB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770" y="365125"/>
            <a:ext cx="2657143" cy="5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0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DCBDE097-48BB-401C-9F04-98DFADEA8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238" r="71965" b="44765"/>
          <a:stretch/>
        </p:blipFill>
        <p:spPr>
          <a:xfrm>
            <a:off x="9451935" y="681035"/>
            <a:ext cx="2740065" cy="186306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fr-BE" dirty="0"/>
              <a:t>Motivation : Utiliser une page web qui rafraîchit certains de ses éléments à intervalle régulier, sans intervention de l'utilisateur, avec des infos venant d'un serveur. </a:t>
            </a:r>
          </a:p>
          <a:p>
            <a:r>
              <a:rPr lang="fr-BE" dirty="0"/>
              <a:t>Applications</a:t>
            </a:r>
          </a:p>
          <a:p>
            <a:pPr lvl="1"/>
            <a:r>
              <a:rPr lang="fr-BE" dirty="0"/>
              <a:t>Suivi en temps réel : bourse, actualité, météo, trafic, ..</a:t>
            </a:r>
          </a:p>
          <a:p>
            <a:pPr lvl="1"/>
            <a:r>
              <a:rPr lang="fr-BE" dirty="0"/>
              <a:t>Réseaux sociaux</a:t>
            </a:r>
          </a:p>
          <a:p>
            <a:pPr lvl="1"/>
            <a:r>
              <a:rPr lang="fr-BE" dirty="0"/>
              <a:t>Outils collaboratifs : chat, partage de fichiers, …</a:t>
            </a:r>
          </a:p>
          <a:p>
            <a:r>
              <a:rPr lang="fr-BE" dirty="0"/>
              <a:t>Architecture :</a:t>
            </a:r>
          </a:p>
          <a:p>
            <a:pPr lvl="1"/>
            <a:r>
              <a:rPr lang="fr-BE" dirty="0"/>
              <a:t>jQuery</a:t>
            </a:r>
          </a:p>
          <a:p>
            <a:pPr lvl="2"/>
            <a:r>
              <a:rPr lang="fr-BE" dirty="0"/>
              <a:t>définir le "</a:t>
            </a:r>
            <a:r>
              <a:rPr lang="fr-BE" dirty="0" err="1"/>
              <a:t>timer</a:t>
            </a:r>
            <a:r>
              <a:rPr lang="fr-BE" dirty="0"/>
              <a:t>" </a:t>
            </a:r>
            <a:br>
              <a:rPr lang="fr-BE" dirty="0"/>
            </a:br>
            <a:r>
              <a:rPr lang="fr-BE" dirty="0"/>
              <a:t>(cf chapitre jQuery)</a:t>
            </a:r>
          </a:p>
          <a:p>
            <a:pPr lvl="2"/>
            <a:r>
              <a:rPr lang="fr-BE" dirty="0"/>
              <a:t>définir la requête AJAX </a:t>
            </a:r>
          </a:p>
          <a:p>
            <a:pPr lvl="1"/>
            <a:r>
              <a:rPr lang="fr-BE" dirty="0"/>
              <a:t>AJAX</a:t>
            </a:r>
          </a:p>
          <a:p>
            <a:pPr lvl="2"/>
            <a:r>
              <a:rPr lang="fr-BE" dirty="0"/>
              <a:t>aller chercher l'info sur le serveur</a:t>
            </a:r>
          </a:p>
          <a:p>
            <a:pPr lvl="1"/>
            <a:r>
              <a:rPr lang="fr-BE" dirty="0"/>
              <a:t>Serveur </a:t>
            </a:r>
          </a:p>
          <a:p>
            <a:pPr lvl="2"/>
            <a:r>
              <a:rPr lang="fr-BE" dirty="0"/>
              <a:t>fournir l'info en base de données</a:t>
            </a:r>
          </a:p>
          <a:p>
            <a:pPr lvl="2"/>
            <a:r>
              <a:rPr lang="fr-BE" dirty="0"/>
              <a:t>aller chercher l'info sur un serveur externe</a:t>
            </a:r>
          </a:p>
        </p:txBody>
      </p:sp>
    </p:spTree>
    <p:extLst>
      <p:ext uri="{BB962C8B-B14F-4D97-AF65-F5344CB8AC3E}">
        <p14:creationId xmlns:p14="http://schemas.microsoft.com/office/powerpoint/2010/main" val="371073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/>
              <a:t>: exo 31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209708" cy="5072061"/>
          </a:xfrm>
        </p:spPr>
        <p:txBody>
          <a:bodyPr numCol="1">
            <a:normAutofit/>
          </a:bodyPr>
          <a:lstStyle/>
          <a:p>
            <a:r>
              <a:rPr lang="fr-BE" dirty="0"/>
              <a:t>Exemple : </a:t>
            </a:r>
          </a:p>
          <a:p>
            <a:pPr lvl="1"/>
            <a:r>
              <a:rPr lang="fr-BE" dirty="0"/>
              <a:t>Afficher quelques cours de la bourse de New-York</a:t>
            </a:r>
          </a:p>
          <a:p>
            <a:pPr lvl="1"/>
            <a:r>
              <a:rPr lang="fr-BE" dirty="0"/>
              <a:t>Rafraichir ces cours à intervalle régulier, par ex. chaque 15 minutes</a:t>
            </a:r>
          </a:p>
          <a:p>
            <a:pPr lvl="1"/>
            <a:r>
              <a:rPr lang="fr-BE" dirty="0"/>
              <a:t>Fichiers, à installer et à tester :</a:t>
            </a:r>
          </a:p>
          <a:p>
            <a:pPr lvl="2"/>
            <a:r>
              <a:rPr lang="fr-BE"/>
              <a:t>exo31</a:t>
            </a:r>
            <a:r>
              <a:rPr lang="fr-BE" dirty="0"/>
              <a:t>_timer_client.php</a:t>
            </a:r>
          </a:p>
          <a:p>
            <a:pPr lvl="3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jQuery,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setInterval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AJAX, .append(), JSON</a:t>
            </a:r>
          </a:p>
          <a:p>
            <a:pPr lvl="2"/>
            <a:r>
              <a:rPr lang="fr-BE"/>
              <a:t>exo31</a:t>
            </a:r>
            <a:r>
              <a:rPr lang="fr-BE" dirty="0"/>
              <a:t>_timer_server.php</a:t>
            </a:r>
          </a:p>
          <a:p>
            <a:pPr lvl="3"/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PHP, JSON, CURL, site web externe</a:t>
            </a:r>
          </a:p>
          <a:p>
            <a:endParaRPr lang="fr-BE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57F315-2BAD-4E65-8614-5ABF4D6C0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908" y="1257300"/>
            <a:ext cx="3144092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0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/>
              <a:t>: exo 31 </a:t>
            </a:r>
            <a:r>
              <a:rPr lang="fr-BE" dirty="0"/>
              <a:t>: client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" y="1690688"/>
            <a:ext cx="5897880" cy="5106351"/>
          </a:xfrm>
        </p:spPr>
        <p:txBody>
          <a:bodyPr numCol="1">
            <a:noAutofit/>
          </a:bodyPr>
          <a:lstStyle/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$.post(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</a:t>
            </a:r>
            <a:r>
              <a:rPr lang="fr-BE" sz="18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timer_server.php</a:t>
            </a: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',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quote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$.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each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quote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i, o )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	s += o.name + </a:t>
            </a:r>
            <a:r>
              <a:rPr lang="fr-BE" sz="18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o.value</a:t>
            </a: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});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	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$("</a:t>
            </a:r>
            <a:r>
              <a:rPr lang="fr-BE" sz="18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div#quote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").append(s);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},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"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au chargement de la page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 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1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setInterval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fr-BE" sz="1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1000*60*15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/>
              <a:t>Remarque : code incomplet, cf fichier pour le code complet.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DB79565-2951-4AEE-B2AF-6D9589C61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502443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BE" sz="2400" dirty="0"/>
              <a:t>La fonction </a:t>
            </a: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dirty="0"/>
              <a:t>est appelée </a:t>
            </a:r>
            <a:r>
              <a:rPr lang="fr-BE" sz="2400" dirty="0">
                <a:solidFill>
                  <a:schemeClr val="bg2">
                    <a:lumMod val="25000"/>
                  </a:schemeClr>
                </a:solidFill>
              </a:rPr>
              <a:t>toutes les </a:t>
            </a:r>
            <a:r>
              <a:rPr lang="fr-BE" sz="2400" b="1" dirty="0">
                <a:solidFill>
                  <a:schemeClr val="bg2">
                    <a:lumMod val="25000"/>
                  </a:schemeClr>
                </a:solidFill>
              </a:rPr>
              <a:t>15 minutes </a:t>
            </a:r>
            <a:r>
              <a:rPr lang="fr-BE" sz="2400" dirty="0">
                <a:solidFill>
                  <a:schemeClr val="bg2">
                    <a:lumMod val="25000"/>
                  </a:schemeClr>
                </a:solidFill>
              </a:rPr>
              <a:t>grâce à </a:t>
            </a:r>
            <a:r>
              <a:rPr lang="fr-BE" sz="24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setInterval</a:t>
            </a:r>
            <a:r>
              <a:rPr lang="fr-BE" sz="24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sz="2400" dirty="0"/>
              <a:t>.</a:t>
            </a:r>
            <a:endParaRPr lang="fr-BE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BE" sz="24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RefreshQuote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 sz="2400" dirty="0"/>
              <a:t> lance une requête AJAX vers le serveur </a:t>
            </a:r>
            <a:r>
              <a:rPr lang="fr-BE" sz="2400" dirty="0" err="1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timer_server.php</a:t>
            </a:r>
            <a:r>
              <a:rPr lang="fr-BE" sz="24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fr-BE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Celui-ci renvoie les données attendues </a:t>
            </a:r>
            <a:r>
              <a:rPr lang="fr-BE" sz="24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quote</a:t>
            </a:r>
            <a:r>
              <a:rPr lang="fr-BE" sz="3200" dirty="0"/>
              <a:t> </a:t>
            </a:r>
            <a:r>
              <a:rPr lang="fr-BE" sz="2400" dirty="0"/>
              <a:t>sous format 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</a:rPr>
              <a:t>JSON</a:t>
            </a:r>
            <a:r>
              <a:rPr lang="fr-BE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Ces données 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</a:rPr>
              <a:t>JSON</a:t>
            </a:r>
            <a:r>
              <a:rPr lang="fr-BE" sz="2400" dirty="0"/>
              <a:t> sont </a:t>
            </a:r>
            <a:r>
              <a:rPr lang="fr-BE" sz="2400" b="1" dirty="0">
                <a:solidFill>
                  <a:schemeClr val="accent4">
                    <a:lumMod val="50000"/>
                  </a:schemeClr>
                </a:solidFill>
              </a:rPr>
              <a:t>traduites en HTML</a:t>
            </a:r>
            <a:r>
              <a:rPr lang="fr-BE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fr-BE" sz="2400" dirty="0"/>
              <a:t>puis </a:t>
            </a:r>
            <a: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  <a:t>dispatchées sur la page web</a:t>
            </a:r>
            <a:r>
              <a:rPr lang="fr-BE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451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C32AB-7094-4FA1-B3FC-DBEB2596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fr-BE" dirty="0"/>
              <a:t>AJAX, </a:t>
            </a:r>
            <a:r>
              <a:rPr lang="fr-BE" dirty="0" err="1"/>
              <a:t>timer</a:t>
            </a:r>
            <a:r>
              <a:rPr lang="fr-BE" dirty="0"/>
              <a:t> &amp; </a:t>
            </a:r>
            <a:r>
              <a:rPr lang="fr-BE" dirty="0" err="1"/>
              <a:t>event</a:t>
            </a:r>
            <a:r>
              <a:rPr lang="fr-BE" dirty="0"/>
              <a:t> </a:t>
            </a:r>
            <a:r>
              <a:rPr lang="fr-BE"/>
              <a:t>: exo 31 </a:t>
            </a:r>
            <a:r>
              <a:rPr lang="fr-BE" dirty="0"/>
              <a:t>: serveur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95C0D-B289-4D26-A2B7-2C655DE5B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" y="1690688"/>
            <a:ext cx="5897880" cy="5106351"/>
          </a:xfrm>
        </p:spPr>
        <p:txBody>
          <a:bodyPr numCol="1">
            <a:noAutofit/>
          </a:bodyPr>
          <a:lstStyle/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$url = "https://financialmodeling……";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channel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curl_init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curl_setopt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channel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CURLOPT_URL, </a:t>
            </a:r>
            <a:r>
              <a:rPr lang="fr-BE" sz="1800" dirty="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$url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1800" dirty="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curl_exec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($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channel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qa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json_decode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</a:t>
            </a:r>
            <a:r>
              <a:rPr lang="fr-BE" sz="1800" i="1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some_processing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qa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final_a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'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ticker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'=&gt; 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symbol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'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 	=&gt; 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'value' =&gt; </a:t>
            </a:r>
            <a:r>
              <a:rPr lang="fr-BE" sz="1800" dirty="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facebook_o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fr-BE" sz="18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price</a:t>
            </a: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),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fr-BE" sz="18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json_encode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fr-BE" sz="1800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</a:t>
            </a:r>
            <a:r>
              <a:rPr lang="fr-BE" sz="1800" dirty="0" err="1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final_a</a:t>
            </a:r>
            <a:r>
              <a:rPr lang="fr-BE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endParaRPr lang="fr-BE" sz="1800" dirty="0"/>
          </a:p>
          <a:p>
            <a:pPr marL="0" indent="0">
              <a:lnSpc>
                <a:spcPts val="1800"/>
              </a:lnSpc>
              <a:spcBef>
                <a:spcPts val="0"/>
              </a:spcBef>
              <a:buNone/>
              <a:tabLst>
                <a:tab pos="358775" algn="l"/>
                <a:tab pos="715963" algn="l"/>
                <a:tab pos="1074738" algn="l"/>
                <a:tab pos="1431925" algn="l"/>
                <a:tab pos="1790700" algn="l"/>
              </a:tabLst>
            </a:pPr>
            <a:r>
              <a:rPr lang="fr-BE" sz="1800" dirty="0">
                <a:solidFill>
                  <a:schemeClr val="bg1">
                    <a:lumMod val="50000"/>
                  </a:schemeClr>
                </a:solidFill>
              </a:rPr>
              <a:t>Remarque : code incomplet, cf fichier </a:t>
            </a:r>
            <a:r>
              <a:rPr lang="fr-BE" sz="1800">
                <a:solidFill>
                  <a:schemeClr val="bg1">
                    <a:lumMod val="50000"/>
                  </a:schemeClr>
                </a:solidFill>
              </a:rPr>
              <a:t>pour code </a:t>
            </a:r>
            <a:r>
              <a:rPr lang="fr-BE" sz="1800" dirty="0">
                <a:solidFill>
                  <a:schemeClr val="bg1">
                    <a:lumMod val="50000"/>
                  </a:schemeClr>
                </a:solidFill>
              </a:rPr>
              <a:t>complet.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DB79565-2951-4AEE-B2AF-6D9589C61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705474" cy="502443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BE" sz="2400" dirty="0"/>
              <a:t>L'API du serveur </a:t>
            </a:r>
            <a:r>
              <a:rPr lang="fr-BE" sz="2400" b="1" dirty="0">
                <a:solidFill>
                  <a:schemeClr val="accent5"/>
                </a:solidFill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financialmodelingprep</a:t>
            </a:r>
            <a:r>
              <a:rPr lang="fr-BE" sz="2400" dirty="0">
                <a:solidFill>
                  <a:schemeClr val="accent5"/>
                </a:solidFill>
              </a:rPr>
              <a:t> </a:t>
            </a:r>
            <a:r>
              <a:rPr lang="fr-BE" sz="2400" dirty="0"/>
              <a:t>fournit les </a:t>
            </a:r>
            <a:r>
              <a:rPr lang="fr-BE" sz="2400"/>
              <a:t>cours des actions d'entreprises  cotées en bourse  </a:t>
            </a:r>
            <a:r>
              <a:rPr lang="fr-BE" sz="2400" dirty="0"/>
              <a:t>(</a:t>
            </a:r>
            <a:r>
              <a:rPr lang="fr-BE" sz="2400" i="1" dirty="0" err="1"/>
              <a:t>quote</a:t>
            </a:r>
            <a:r>
              <a:rPr lang="fr-BE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La </a:t>
            </a:r>
            <a:r>
              <a:rPr lang="fr-BE" sz="2400" b="1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technologie CURL</a:t>
            </a:r>
            <a:r>
              <a:rPr lang="fr-BE" sz="2400" b="1" dirty="0"/>
              <a:t> </a:t>
            </a:r>
            <a:r>
              <a:rPr lang="fr-BE" sz="2400" dirty="0"/>
              <a:t>permet d'échanger des données avec différents </a:t>
            </a:r>
            <a:r>
              <a:rPr lang="fr-BE" sz="2400"/>
              <a:t>serveurs et </a:t>
            </a:r>
            <a:r>
              <a:rPr lang="fr-BE" sz="2400" dirty="0"/>
              <a:t>de </a:t>
            </a:r>
            <a:r>
              <a:rPr lang="fr-BE" sz="2400" b="1" dirty="0">
                <a:solidFill>
                  <a:schemeClr val="accent2"/>
                </a:solidFill>
              </a:rPr>
              <a:t>télécharger les données </a:t>
            </a:r>
            <a:r>
              <a:rPr lang="fr-BE" sz="2400" dirty="0"/>
              <a:t>du serveur </a:t>
            </a:r>
            <a:r>
              <a:rPr lang="fr-BE" sz="2400" b="1" dirty="0">
                <a:solidFill>
                  <a:schemeClr val="accent5"/>
                </a:solidFill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financialmodelingprep</a:t>
            </a:r>
            <a:r>
              <a:rPr lang="fr-BE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Les données récupérées sous </a:t>
            </a:r>
            <a:r>
              <a:rPr lang="fr-BE" sz="2400" b="1" dirty="0">
                <a:solidFill>
                  <a:schemeClr val="accent6">
                    <a:lumMod val="25000"/>
                  </a:schemeClr>
                </a:solidFill>
              </a:rPr>
              <a:t>format JSON sont traitées</a:t>
            </a:r>
            <a:r>
              <a:rPr lang="fr-BE" sz="2400" dirty="0"/>
              <a:t> en PHP et un </a:t>
            </a:r>
            <a:r>
              <a:rPr lang="fr-BE" sz="2400" b="1" err="1">
                <a:solidFill>
                  <a:schemeClr val="bg2">
                    <a:lumMod val="25000"/>
                  </a:schemeClr>
                </a:solidFill>
              </a:rPr>
              <a:t>array</a:t>
            </a:r>
            <a:r>
              <a:rPr lang="fr-BE" sz="2400" b="1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fr-BE" sz="2400"/>
              <a:t>est composé et retourné avec </a:t>
            </a:r>
            <a:r>
              <a:rPr lang="fr-BE" sz="2400" dirty="0"/>
              <a:t>les </a:t>
            </a:r>
            <a:r>
              <a:rPr lang="fr-BE" sz="2400"/>
              <a:t>informations nécessaires</a:t>
            </a:r>
            <a:r>
              <a:rPr lang="fr-BE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fr-BE" sz="2400" dirty="0"/>
              <a:t>Cet </a:t>
            </a:r>
            <a:r>
              <a:rPr lang="fr-BE" sz="2400" b="1" dirty="0" err="1">
                <a:solidFill>
                  <a:schemeClr val="bg2">
                    <a:lumMod val="25000"/>
                  </a:schemeClr>
                </a:solidFill>
              </a:rPr>
              <a:t>array</a:t>
            </a:r>
            <a:r>
              <a:rPr lang="fr-BE" sz="2400" b="1" dirty="0">
                <a:solidFill>
                  <a:schemeClr val="bg2">
                    <a:lumMod val="25000"/>
                  </a:schemeClr>
                </a:solidFill>
              </a:rPr>
              <a:t> final </a:t>
            </a:r>
            <a:r>
              <a:rPr lang="fr-BE" sz="2400" dirty="0"/>
              <a:t>est </a:t>
            </a:r>
            <a: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  <a:t>converti en </a:t>
            </a:r>
            <a:b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fr-BE" sz="2400" b="1" dirty="0">
                <a:solidFill>
                  <a:schemeClr val="accent4">
                    <a:lumMod val="75000"/>
                  </a:schemeClr>
                </a:solidFill>
              </a:rPr>
              <a:t>JSON et retourné au navigateur</a:t>
            </a:r>
            <a:r>
              <a:rPr lang="fr-B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995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B4A0-27AA-FDF5-7F11-9AD336913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FF4F3-B1D6-276E-BF03-53C880EB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Fetch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7A4430B-093B-4254-5017-EE8A8E434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Vanilla JS 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378AEE2-596D-1BFB-9600-0A748D448E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0322F3-4E32-6385-E883-A2A359060B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7C2FC7-A123-64A4-F796-ECD021EF75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46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5E1C9-4A29-19B2-6FA4-0C1BD6EE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436B76-FE37-AC2A-3676-D29C96AA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956670-5834-A759-0305-E0044F1F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Pour définir complètement une </a:t>
            </a:r>
            <a:r>
              <a:rPr lang="fr-BE"/>
              <a:t>requête Fetch, </a:t>
            </a:r>
            <a:r>
              <a:rPr lang="fr-BE" dirty="0"/>
              <a:t>on spécifie  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L'évènement déclenchant l'appel Fetch</a:t>
            </a:r>
          </a:p>
          <a:p>
            <a:pPr lvl="2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.addEventListener()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L'URL </a:t>
            </a:r>
            <a:r>
              <a:rPr lang="fr-BE" dirty="0"/>
              <a:t>à charger</a:t>
            </a:r>
          </a:p>
          <a:p>
            <a:pPr lvl="2"/>
            <a:r>
              <a:rPr lang="fr-BE"/>
              <a:t>avec le header approprié</a:t>
            </a:r>
          </a:p>
          <a:p>
            <a:pPr lvl="2"/>
            <a:r>
              <a:rPr lang="fr-BE"/>
              <a:t>avec </a:t>
            </a:r>
            <a:r>
              <a:rPr lang="fr-BE" dirty="0"/>
              <a:t>des paramètres éventuels, sous format JSON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Les codes </a:t>
            </a:r>
            <a:r>
              <a:rPr lang="fr-BE" dirty="0"/>
              <a:t>de </a:t>
            </a:r>
            <a:r>
              <a:rPr lang="fr-BE"/>
              <a:t>retour .then()</a:t>
            </a:r>
          </a:p>
          <a:p>
            <a:pPr lvl="2"/>
            <a:r>
              <a:rPr lang="fr-BE"/>
              <a:t>traitement des données retournées</a:t>
            </a:r>
          </a:p>
          <a:p>
            <a:pPr lvl="2"/>
            <a:r>
              <a:rPr lang="fr-BE"/>
              <a:t>mise à jour de la page</a:t>
            </a:r>
          </a:p>
          <a:p>
            <a:pPr marL="971539" lvl="1" indent="-514350">
              <a:buFont typeface="+mj-lt"/>
              <a:buAutoNum type="arabicPeriod"/>
            </a:pPr>
            <a:r>
              <a:rPr lang="fr-BE"/>
              <a:t>Les codes de retour .catch()</a:t>
            </a:r>
          </a:p>
          <a:p>
            <a:pPr lvl="2"/>
            <a:r>
              <a:rPr lang="fr-BE"/>
              <a:t>traitement des erreurs</a:t>
            </a:r>
          </a:p>
          <a:p>
            <a:r>
              <a:rPr lang="fr-BE"/>
              <a:t>Serveur </a:t>
            </a:r>
            <a:r>
              <a:rPr lang="fr-BE" dirty="0"/>
              <a:t>web indispensable (p.ex. WAMP)</a:t>
            </a:r>
          </a:p>
        </p:txBody>
      </p:sp>
    </p:spTree>
    <p:extLst>
      <p:ext uri="{BB962C8B-B14F-4D97-AF65-F5344CB8AC3E}">
        <p14:creationId xmlns:p14="http://schemas.microsoft.com/office/powerpoint/2010/main" val="44198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EAD3-B224-5B47-F912-E30ED9CA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E9ECBA-38EF-445D-6538-5209496D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51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081C70-028E-F019-7054-6F1A34D06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Fichier </a:t>
            </a:r>
            <a:r>
              <a:rPr lang="fr-BE"/>
              <a:t>: exo5X</a:t>
            </a:r>
            <a:r>
              <a:rPr lang="fr-BE" dirty="0"/>
              <a:t>_main.html</a:t>
            </a:r>
          </a:p>
          <a:p>
            <a:r>
              <a:rPr lang="fr-BE" dirty="0"/>
              <a:t>Chargement d'un </a:t>
            </a:r>
            <a:r>
              <a:rPr lang="fr-BE" dirty="0">
                <a:solidFill>
                  <a:schemeClr val="accent5">
                    <a:lumMod val="75000"/>
                  </a:schemeClr>
                </a:solidFill>
              </a:rPr>
              <a:t>contenu HTML statique </a:t>
            </a:r>
            <a:r>
              <a:rPr lang="fr-BE" dirty="0"/>
              <a:t>(fichier HTML)</a:t>
            </a:r>
          </a:p>
          <a:p>
            <a:pPr lvl="1"/>
            <a:r>
              <a:rPr lang="fr-BE" dirty="0"/>
              <a:t>Même si tous les fichiers sont HTML, il faut malgré tout un serveur web</a:t>
            </a:r>
          </a:p>
          <a:p>
            <a:pPr lvl="1"/>
            <a:r>
              <a:rPr lang="fr-BE"/>
              <a:t>Fonction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fetch()</a:t>
            </a:r>
            <a:r>
              <a:rPr lang="fr-BE"/>
              <a:t> avec </a:t>
            </a:r>
          </a:p>
          <a:p>
            <a:pPr lvl="2"/>
            <a:r>
              <a:rPr lang="fr-BE"/>
              <a:t>arguments : URL </a:t>
            </a:r>
          </a:p>
          <a:p>
            <a:pPr lvl="2"/>
            <a:r>
              <a:rPr lang="fr-BE"/>
              <a:t>chaînage des promesses</a:t>
            </a:r>
            <a:endParaRPr lang="fr-BE" dirty="0"/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4707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24E5-0C05-1CB8-EE24-BD4A4CACE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B6153A3-EB20-2844-52A5-12094BDD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51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DEDCEE7-02D5-93BC-8608-6C1A1C336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add event on button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getElementById(</a:t>
            </a:r>
            <a:r>
              <a:rPr lang="fr-BE" sz="1800">
                <a:latin typeface="Consolas" panose="020B0609020204030204" pitchFamily="49" charset="0"/>
              </a:rPr>
              <a:t>'maj1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').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addEventListener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('click', () =&gt;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(…));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function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1800">
                <a:latin typeface="Consolas" panose="020B0609020204030204" pitchFamily="49" charset="0"/>
              </a:rPr>
              <a:t>button_id, target_id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fetch(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'exo_maj1.html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')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get response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if (!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.ok) throw new Error(`Erreur HTTP : ${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.status}`);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		return 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response.text()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Récupère le contenu HTML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1800">
                <a:solidFill>
                  <a:srgbClr val="7030A0"/>
                </a:solidFill>
                <a:latin typeface="Consolas" panose="020B0609020204030204" pitchFamily="49" charset="0"/>
              </a:rPr>
              <a:t>html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process response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document.getElementById(</a:t>
            </a:r>
            <a:r>
              <a:rPr lang="fr-BE" sz="1800">
                <a:latin typeface="Consolas" panose="020B0609020204030204" pitchFamily="49" charset="0"/>
              </a:rPr>
              <a:t>target_id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).innerHTML = html; </a:t>
            </a:r>
            <a:r>
              <a:rPr lang="fr-BE" sz="1800" i="1">
                <a:solidFill>
                  <a:srgbClr val="7F7F7F"/>
                </a:solidFill>
                <a:latin typeface="Consolas" panose="020B0609020204030204" pitchFamily="49" charset="0"/>
              </a:rPr>
              <a:t>// Insère le HTML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alert('La première zone a été mise à jour');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.catch(erreur =&gt; {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	alert('Erreur :', erreur);</a:t>
            </a:r>
          </a:p>
          <a:p>
            <a:pPr marL="0" indent="0" defTabSz="358775">
              <a:spcBef>
                <a:spcPts val="0"/>
              </a:spcBef>
              <a:buNone/>
            </a:pPr>
            <a:r>
              <a:rPr lang="fr-BE" sz="18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});</a:t>
            </a:r>
            <a:b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0BBD320-76DB-9F93-E804-7ABF393277B1}"/>
              </a:ext>
            </a:extLst>
          </p:cNvPr>
          <p:cNvSpPr txBox="1"/>
          <p:nvPr/>
        </p:nvSpPr>
        <p:spPr>
          <a:xfrm>
            <a:off x="7753813" y="0"/>
            <a:ext cx="4438187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2"/>
                </a:solidFill>
              </a:rPr>
              <a:t>évènement déclenchant le Fetch</a:t>
            </a:r>
            <a:endParaRPr lang="fr-BE" sz="2000" dirty="0">
              <a:solidFill>
                <a:schemeClr val="accent2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 dirty="0"/>
              <a:t>Élément à mettre à jour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 dirty="0">
                <a:solidFill>
                  <a:schemeClr val="accent5"/>
                </a:solidFill>
              </a:rPr>
              <a:t>URL à charger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1"/>
                </a:solidFill>
              </a:rPr>
              <a:t>code des promesses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</a:rPr>
              <a:t>code d'erreur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rgbClr val="7030A0"/>
                </a:solidFill>
              </a:rPr>
              <a:t>objet "response"</a:t>
            </a:r>
          </a:p>
        </p:txBody>
      </p:sp>
    </p:spTree>
    <p:extLst>
      <p:ext uri="{BB962C8B-B14F-4D97-AF65-F5344CB8AC3E}">
        <p14:creationId xmlns:p14="http://schemas.microsoft.com/office/powerpoint/2010/main" val="233940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631A-34DD-B5C4-6CDD-647B2B6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B48A74-3FF5-21B0-97B3-A2D32EE7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ABBD51-169F-4D42-B241-A148A6E80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Fichier : exo5X_main.html</a:t>
            </a:r>
          </a:p>
          <a:p>
            <a:r>
              <a:rPr lang="fr-BE"/>
              <a:t>Chargement </a:t>
            </a:r>
            <a:r>
              <a:rPr lang="fr-BE" dirty="0"/>
              <a:t>d'un </a:t>
            </a:r>
            <a:r>
              <a:rPr lang="fr-BE" dirty="0">
                <a:solidFill>
                  <a:schemeClr val="accent2"/>
                </a:solidFill>
              </a:rPr>
              <a:t>contenu HTML dynamique </a:t>
            </a:r>
            <a:r>
              <a:rPr lang="fr-BE" dirty="0"/>
              <a:t>(fichier PHP)</a:t>
            </a:r>
          </a:p>
          <a:p>
            <a:pPr lvl="1"/>
            <a:r>
              <a:rPr lang="fr-BE" dirty="0"/>
              <a:t>Fichier PHP appelé (avec params)</a:t>
            </a:r>
          </a:p>
          <a:p>
            <a:pPr lvl="1"/>
            <a:r>
              <a:rPr lang="fr-BE"/>
              <a:t>Fonction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fetch()</a:t>
            </a:r>
            <a:r>
              <a:rPr lang="fr-BE"/>
              <a:t> avec arguments </a:t>
            </a:r>
            <a:r>
              <a:rPr lang="fr-BE" dirty="0"/>
              <a:t>:</a:t>
            </a:r>
          </a:p>
          <a:p>
            <a:pPr lvl="2"/>
            <a:r>
              <a:rPr lang="fr-BE" dirty="0"/>
              <a:t>URL à charger</a:t>
            </a:r>
          </a:p>
          <a:p>
            <a:pPr lvl="2"/>
            <a:r>
              <a:rPr lang="fr-BE"/>
              <a:t>method (POST ou GET)</a:t>
            </a:r>
            <a:endParaRPr lang="fr-BE" dirty="0"/>
          </a:p>
          <a:p>
            <a:pPr lvl="2"/>
            <a:r>
              <a:rPr lang="fr-BE"/>
              <a:t>headers</a:t>
            </a:r>
          </a:p>
          <a:p>
            <a:pPr lvl="2"/>
            <a:r>
              <a:rPr lang="fr-BE"/>
              <a:t>body (paramètres, par ex. d'un formulaire)</a:t>
            </a:r>
          </a:p>
          <a:p>
            <a:pPr lvl="2"/>
            <a:r>
              <a:rPr lang="fr-BE"/>
              <a:t>chaînage des promesses</a:t>
            </a:r>
          </a:p>
          <a:p>
            <a:pPr lvl="2"/>
            <a:endParaRPr lang="fr-BE"/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117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6763-7AE5-54D4-71B9-6988EDC9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BC68C0C1-F7F1-1099-3E0D-BC283753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52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4D3C601-A395-5EC1-0559-1A5F3D75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740"/>
            <a:ext cx="11353800" cy="5070829"/>
          </a:xfrm>
        </p:spPr>
        <p:txBody>
          <a:bodyPr>
            <a:noAutofit/>
          </a:bodyPr>
          <a:lstStyle/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….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addEventListener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(…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latin typeface="Consolas" panose="020B0609020204030204" pitchFamily="49" charset="0"/>
              </a:rPr>
              <a:t>'maj2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'));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add event on button</a:t>
            </a:r>
          </a:p>
          <a:p>
            <a:pPr marL="0" indent="0" defTabSz="361950">
              <a:spcBef>
                <a:spcPts val="0"/>
              </a:spcBef>
              <a:buNone/>
            </a:pPr>
            <a:endParaRPr lang="fr-BE" sz="20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function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latin typeface="Consolas" panose="020B0609020204030204" pitchFamily="49" charset="0"/>
              </a:rPr>
              <a:t>button_id, target_id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1. Récupérer la valeur de l'input + conversion "clé=valeur"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const param = { number: document.getElementById('ref2').value };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const 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param_s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= new URLSearchParams(param).toString()</a:t>
            </a:r>
            <a:endParaRPr lang="fr-BE" sz="2000" i="1">
              <a:solidFill>
                <a:srgbClr val="7F7F7F"/>
              </a:solidFill>
              <a:latin typeface="Consolas" panose="020B0609020204030204" pitchFamily="49" charset="0"/>
            </a:endParaRPr>
          </a:p>
          <a:p>
            <a:pPr marL="0" indent="0" defTabSz="361950">
              <a:spcBef>
                <a:spcPts val="0"/>
              </a:spcBef>
              <a:buNone/>
            </a:pPr>
            <a:endParaRPr lang="fr-BE" sz="20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2. Envoyer la requête avec Fetch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fetch(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'exo_proverbe.php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',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method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: 'POST',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headers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: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	'Content-Type': 'application/x-www-form-urlencoded',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form &amp; $_POST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},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body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   : 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param_s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	})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./..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510C460-754C-68C9-B386-A20756EA50C4}"/>
              </a:ext>
            </a:extLst>
          </p:cNvPr>
          <p:cNvSpPr txBox="1"/>
          <p:nvPr/>
        </p:nvSpPr>
        <p:spPr>
          <a:xfrm>
            <a:off x="6267450" y="5438079"/>
            <a:ext cx="4785632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2"/>
                </a:solidFill>
              </a:rPr>
              <a:t>Évènement déclenchant l'appel Fetch</a:t>
            </a:r>
            <a:endParaRPr lang="fr-BE" sz="2000" dirty="0">
              <a:solidFill>
                <a:schemeClr val="accent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 dirty="0">
                <a:solidFill>
                  <a:schemeClr val="accent6">
                    <a:lumMod val="10000"/>
                  </a:schemeClr>
                </a:solidFill>
              </a:rPr>
              <a:t>Élément à mettre à jour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 dirty="0">
                <a:solidFill>
                  <a:schemeClr val="accent5"/>
                </a:solidFill>
              </a:rPr>
              <a:t>URL à charger avec </a:t>
            </a:r>
            <a:r>
              <a:rPr lang="fr-BE" sz="2000">
                <a:solidFill>
                  <a:schemeClr val="accent5"/>
                </a:solidFill>
              </a:rPr>
              <a:t>params JSON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rgbClr val="7030A0"/>
                </a:solidFill>
              </a:rPr>
              <a:t>paramètres de Fetch</a:t>
            </a:r>
            <a:endParaRPr lang="fr-BE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16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D90A-91A7-DF04-989B-B6FA745C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4A402098-4993-20CA-9390-44C70B4C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Fonction 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 : exo 52</a:t>
            </a:r>
            <a:endParaRPr lang="fr-BE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E76E8AF-9F59-FB83-F34D-2538D27C6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5004025"/>
          </a:xfrm>
        </p:spPr>
        <p:txBody>
          <a:bodyPr>
            <a:noAutofit/>
          </a:bodyPr>
          <a:lstStyle/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function </a:t>
            </a:r>
            <a:r>
              <a:rPr lang="fr-BE" sz="2000">
                <a:solidFill>
                  <a:schemeClr val="accent2"/>
                </a:solidFill>
                <a:latin typeface="Consolas" panose="020B0609020204030204" pitchFamily="49" charset="0"/>
              </a:rPr>
              <a:t>fetchResponse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latin typeface="Consolas" panose="020B0609020204030204" pitchFamily="49" charset="0"/>
              </a:rPr>
              <a:t>button_id, target_id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./..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fetch(…)</a:t>
            </a:r>
            <a:r>
              <a:rPr lang="fr-BE" sz="2000">
                <a:solidFill>
                  <a:schemeClr val="accent5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3. get response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if (!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.ok) throw new Error(`Erreur HTTP : ${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.status}`);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		return 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response.text()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;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Récupère le contenu HTML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.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then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(</a:t>
            </a:r>
            <a:r>
              <a:rPr lang="fr-BE" sz="2000">
                <a:solidFill>
                  <a:srgbClr val="7030A0"/>
                </a:solidFill>
                <a:latin typeface="Consolas" panose="020B0609020204030204" pitchFamily="49" charset="0"/>
              </a:rPr>
              <a:t>html</a:t>
            </a: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 =&gt;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4. Insérer la réponse dans l'élément button_id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document.getElementById(</a:t>
            </a:r>
            <a:r>
              <a:rPr lang="fr-BE" sz="2000">
                <a:latin typeface="Consolas" panose="020B0609020204030204" pitchFamily="49" charset="0"/>
              </a:rPr>
              <a:t>target_id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).innerHTML = html; </a:t>
            </a:r>
            <a:r>
              <a:rPr lang="fr-BE" sz="2000" i="1">
                <a:solidFill>
                  <a:srgbClr val="7F7F7F"/>
                </a:solidFill>
                <a:latin typeface="Consolas" panose="020B0609020204030204" pitchFamily="49" charset="0"/>
              </a:rPr>
              <a:t>// Insère le HTML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	</a:t>
            </a:r>
            <a:r>
              <a:rPr lang="fr-BE" sz="2000">
                <a:solidFill>
                  <a:schemeClr val="accent1"/>
                </a:solidFill>
                <a:latin typeface="Consolas" panose="020B0609020204030204" pitchFamily="49" charset="0"/>
              </a:rPr>
              <a:t>alert('La deuxième zone a été mise à jour');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	})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.catch(erreur =&gt; {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	alert('Erreur :', erreur);</a:t>
            </a:r>
          </a:p>
          <a:p>
            <a:pPr marL="0" indent="0" defTabSz="361950">
              <a:spcBef>
                <a:spcPts val="0"/>
              </a:spcBef>
              <a:buNone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	});</a:t>
            </a:r>
            <a:b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0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361950">
              <a:buNone/>
            </a:pPr>
            <a:endParaRPr lang="fr-BE" sz="20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4C9201-2BD2-1793-367E-C8E0BB9D273A}"/>
              </a:ext>
            </a:extLst>
          </p:cNvPr>
          <p:cNvSpPr txBox="1"/>
          <p:nvPr/>
        </p:nvSpPr>
        <p:spPr>
          <a:xfrm>
            <a:off x="7825468" y="9525"/>
            <a:ext cx="4337958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6">
                    <a:lumMod val="10000"/>
                  </a:schemeClr>
                </a:solidFill>
              </a:rPr>
              <a:t>Élément </a:t>
            </a:r>
            <a:r>
              <a:rPr lang="fr-BE" sz="2000" dirty="0">
                <a:solidFill>
                  <a:schemeClr val="accent6">
                    <a:lumMod val="10000"/>
                  </a:schemeClr>
                </a:solidFill>
              </a:rPr>
              <a:t>à mettre à jour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1"/>
                </a:solidFill>
              </a:rPr>
              <a:t>code des promesses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chemeClr val="accent6">
                    <a:lumMod val="25000"/>
                  </a:schemeClr>
                </a:solidFill>
              </a:rPr>
              <a:t>code d'erreur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fr-BE" sz="2000">
                <a:solidFill>
                  <a:srgbClr val="7030A0"/>
                </a:solidFill>
              </a:rPr>
              <a:t>objet "response"</a:t>
            </a:r>
            <a:endParaRPr lang="fr-BE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4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2ECE-BEB3-9F40-145C-AD17C3B5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58465-A555-D23D-A3B8-39BFEFE6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Envoyer les params au serveur : 2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551DE3-A7D5-7AED-723F-677DDB05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BE">
                <a:solidFill>
                  <a:schemeClr val="accent2"/>
                </a:solidFill>
              </a:rPr>
              <a:t>méthode 1 : chaîne de requête URL-encodée</a:t>
            </a:r>
          </a:p>
          <a:p>
            <a:pPr>
              <a:lnSpc>
                <a:spcPct val="100000"/>
              </a:lnSpc>
            </a:pPr>
            <a:r>
              <a:rPr lang="fr-BE"/>
              <a:t>API traditionnel : </a:t>
            </a: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clé1=valeur1&amp;clé2=valeur2</a:t>
            </a:r>
            <a:endParaRPr lang="fr-BE">
              <a:solidFill>
                <a:schemeClr val="accent2"/>
              </a:solidFill>
            </a:endParaRPr>
          </a:p>
          <a:p>
            <a:pPr>
              <a:lnSpc>
                <a:spcPct val="100000"/>
              </a:lnSpc>
            </a:pPr>
            <a:r>
              <a:rPr lang="fr-BE"/>
              <a:t>Côté client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headers : {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		'Content-Type': 'application/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x-www-form-urlencoded</a:t>
            </a: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',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  <a:b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 sz="2400">
                <a:solidFill>
                  <a:srgbClr val="996633"/>
                </a:solidFill>
                <a:latin typeface="Consolas" panose="020B0609020204030204" pitchFamily="49" charset="0"/>
              </a:rPr>
              <a:t>body: </a:t>
            </a:r>
            <a:r>
              <a:rPr lang="en-US" sz="2400">
                <a:solidFill>
                  <a:schemeClr val="accent5"/>
                </a:solidFill>
                <a:latin typeface="Consolas" panose="020B0609020204030204" pitchFamily="49" charset="0"/>
              </a:rPr>
              <a:t>new URLSearchParams(param).toString()</a:t>
            </a:r>
            <a:r>
              <a:rPr lang="en-US" sz="2400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Côté serveur </a:t>
            </a:r>
          </a:p>
          <a:p>
            <a:pPr lvl="1"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Utilisation classique de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$_GET</a:t>
            </a:r>
            <a:r>
              <a:rPr lang="en-US"/>
              <a:t> ou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$_POST</a:t>
            </a:r>
          </a:p>
          <a:p>
            <a:pPr lvl="1"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Réponse : soit 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HTML</a:t>
            </a:r>
            <a:r>
              <a:rPr lang="en-US"/>
              <a:t> soit données (</a:t>
            </a:r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en-US"/>
              <a:t>)</a:t>
            </a:r>
            <a:endParaRPr lang="fr-BE"/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endParaRPr lang="fr-BE"/>
          </a:p>
          <a:p>
            <a:pPr lvl="1" defTabSz="361950">
              <a:lnSpc>
                <a:spcPct val="100000"/>
              </a:lnSpc>
              <a:spcBef>
                <a:spcPts val="0"/>
              </a:spcBef>
            </a:pPr>
            <a:endParaRPr lang="fr-BE" sz="28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E35AA1-BE26-4011-65F1-D81CD4D8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765DB-6413-4EEF-AA4B-13CECBA56D16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62FC29-BB51-9974-7203-D24A1E90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923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C4AD-5DC2-3E67-C716-22DB887D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BE6E39-AF4A-1B73-F16A-CB2743F3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Envoyer les params au serveur : 2 méthodes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F30B80-3BAC-FD7B-0CC9-9E9CADC0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>
                <a:solidFill>
                  <a:schemeClr val="accent2"/>
                </a:solidFill>
              </a:rPr>
              <a:t>méthode 2 : JSON</a:t>
            </a: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fr-BE"/>
              <a:t>API REST modernes</a:t>
            </a: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fr-BE"/>
              <a:t>Côté client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headers : {</a:t>
            </a:r>
            <a:b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		'Content-Type': 'application/</a:t>
            </a:r>
            <a:r>
              <a:rPr lang="fr-BE" sz="2600">
                <a:solidFill>
                  <a:schemeClr val="accent2"/>
                </a:solidFill>
                <a:latin typeface="Consolas" panose="020B0609020204030204" pitchFamily="49" charset="0"/>
              </a:rPr>
              <a:t>json</a:t>
            </a: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',</a:t>
            </a:r>
            <a:b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  <a:b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en-US" sz="2600">
                <a:solidFill>
                  <a:srgbClr val="996633"/>
                </a:solidFill>
                <a:latin typeface="Consolas" panose="020B0609020204030204" pitchFamily="49" charset="0"/>
              </a:rPr>
              <a:t>body: </a:t>
            </a:r>
            <a:r>
              <a:rPr lang="en-US" sz="2600">
                <a:solidFill>
                  <a:schemeClr val="accent5"/>
                </a:solidFill>
                <a:latin typeface="Consolas" panose="020B0609020204030204" pitchFamily="49" charset="0"/>
              </a:rPr>
              <a:t>JSON.stringify(param)</a:t>
            </a:r>
            <a:r>
              <a:rPr lang="en-US" sz="2600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  <a:endParaRPr lang="fr-BE" sz="26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defTabSz="361950">
              <a:lnSpc>
                <a:spcPct val="100000"/>
              </a:lnSpc>
              <a:spcBef>
                <a:spcPts val="0"/>
              </a:spcBef>
            </a:pPr>
            <a:r>
              <a:rPr lang="en-US"/>
              <a:t>Côté serveur 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$json_s = file_get_contents(</a:t>
            </a:r>
            <a:r>
              <a:rPr lang="fr-BE" sz="2600">
                <a:solidFill>
                  <a:schemeClr val="accent2"/>
                </a:solidFill>
                <a:latin typeface="Consolas" panose="020B0609020204030204" pitchFamily="49" charset="0"/>
              </a:rPr>
              <a:t>'php://input'</a:t>
            </a: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);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$data_a = json_decode($json_s, true);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…</a:t>
            </a:r>
          </a:p>
          <a:p>
            <a:pPr marL="457189" lvl="1" indent="0" defTabSz="36195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2600">
                <a:solidFill>
                  <a:srgbClr val="996633"/>
                </a:solidFill>
                <a:latin typeface="Consolas" panose="020B0609020204030204" pitchFamily="49" charset="0"/>
              </a:rPr>
              <a:t>echo json_encode($response_a);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FDD0F4-68E2-6B67-09CA-CA38BBE0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765DB-6413-4EEF-AA4B-13CECBA56D16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8A3FFA-E77A-55B4-C4CC-C2DEE36F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0454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A45E7-AD51-D153-B7DF-80B64CD8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127F9-CEC5-6351-AA8D-181B6424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Fetch + MVC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0FAA9F-E674-A3F3-4464-04B1D3EA3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Vanilla JS </a:t>
            </a:r>
          </a:p>
          <a:p>
            <a:r>
              <a:rPr lang="fr-BE"/>
              <a:t>coupagle au framework AWebWiz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1A0B72-A969-B079-7884-25409F47144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F1ACA3-579D-2975-724D-E187C4C52C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42</a:t>
            </a:fld>
            <a:endParaRPr lang="fr-BE"/>
          </a:p>
        </p:txBody>
      </p:sp>
      <p:pic>
        <p:nvPicPr>
          <p:cNvPr id="7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A98E08C1-79B1-0ADD-15FA-ACC45CED5F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5" y="166690"/>
            <a:ext cx="4057650" cy="3086100"/>
          </a:xfrm>
        </p:spPr>
      </p:pic>
    </p:spTree>
    <p:extLst>
      <p:ext uri="{BB962C8B-B14F-4D97-AF65-F5344CB8AC3E}">
        <p14:creationId xmlns:p14="http://schemas.microsoft.com/office/powerpoint/2010/main" val="376818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76D2043-17BE-120D-FB75-50E8A4E8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: compteur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BEB77BA6-CD06-C87D-6E0F-EE02016EE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r>
              <a:rPr lang="fr-BE"/>
              <a:t>Un compteur est disponible sur la home page. La valeur du compteur est stockée sur le serveur en variable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SESSION</a:t>
            </a:r>
            <a:r>
              <a:rPr lang="fr-BE"/>
              <a:t>. Un script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JS</a:t>
            </a:r>
            <a:r>
              <a:rPr lang="fr-BE"/>
              <a:t> avec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r>
              <a:rPr lang="fr-BE"/>
              <a:t> gère l'évènement click sur le bouton.</a:t>
            </a:r>
          </a:p>
          <a:p>
            <a:pPr marL="0" indent="0">
              <a:buNone/>
            </a:pPr>
            <a:endParaRPr lang="en-US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8BAF4C-101A-282F-4290-3616F838C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EA18-5AD6-45A6-A8E3-163D735A5432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FF19F8-B908-7A09-499F-0199AC95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1755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E4B6D-6580-FA9C-FE29-49D9F3D8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6D74B91B-F063-5D01-A6B7-1B9FC103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Mise en place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99096E94-B16C-FE26-0714-EDD7E6BA1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lnSpcReduction="10000"/>
          </a:bodyPr>
          <a:lstStyle/>
          <a:p>
            <a:r>
              <a:rPr lang="fr-BE"/>
              <a:t>Répertoire (GitHub)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/AWebWiz_start_fetch_vuejs</a:t>
            </a:r>
          </a:p>
          <a:p>
            <a:r>
              <a:rPr lang="fr-BE"/>
              <a:t>Fichiers nouveaux ou modifiés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/public/index.php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/public/js/internal/counter.js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/app/controller/counter_fetch.php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/public/css/internal/main.css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89A027-BB36-588C-9083-EA9284D3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EA18-5AD6-45A6-A8E3-163D735A5432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E8EB99-1CFC-F81E-DD38-B9B87A1C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0934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0326-5BA8-F3AC-A272-B44D8B04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49200-7C5E-A65A-E98A-77F38865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/public/index.php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530F5-0015-AC39-2DDD-333A7788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Le code du router est enrichi pour intégrer la possibilité pour le serveur de retourner autre chose que du HTML, comme du JSON.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4C6628-6D1E-76F3-F8E2-74A227EF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0503FC-2109-0A68-09E7-B605C0D0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323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AA0CE-FACE-AFEA-5BA9-73E3BE39B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AE822-3A37-ECB4-4ED5-2DDAA622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E996EC-9C97-9AA7-DF94-BE6473E0B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Appel à la fonction PHP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html_fetch_sample()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082CFB-0F96-2BBE-ED39-8D237083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EBF5EE-BA92-B40A-342B-85457E52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6937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6EA21C-F9ED-1447-83BB-6C6BEE43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C9EE14-A50F-B8FF-9D19-4D6C469A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Inclusion du script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counter.js</a:t>
            </a:r>
            <a:r>
              <a:rPr lang="fr-BE"/>
              <a:t> sous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src="./js/internal/counter.js"&gt;…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&lt;/head&gt;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C944B1-746A-D2E0-0655-ACAABE5D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9A3468-182F-597E-E4CF-579677AF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216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ACF26-8DA0-9202-7817-9988EC8C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B9EBE-2ABC-1762-4C9C-264D1848F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Déclaration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html_fetch_sample()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button, id="b_compteur"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span, id="compteur"</a:t>
            </a:r>
          </a:p>
          <a:p>
            <a:pPr lvl="1"/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1F1137-B8CF-A32D-048D-A8AF6232C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889981-8764-8AAE-6470-4D251789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59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016D-8BAE-6F4F-3457-B5BB5EF3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165AE-4F72-3A82-C78F-AB55D070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/public/js/internal/counter.js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32E900-7836-F408-8FD4-8CF8A8F9C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Définition des évènements sur le bouton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b_compteur</a:t>
            </a:r>
          </a:p>
          <a:p>
            <a:pPr lvl="1"/>
            <a:r>
              <a:rPr lang="fr-BE"/>
              <a:t>click</a:t>
            </a:r>
          </a:p>
          <a:p>
            <a:pPr lvl="1"/>
            <a:r>
              <a:rPr lang="fr-BE"/>
              <a:t>callback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getset_counter("increment")</a:t>
            </a:r>
          </a:p>
          <a:p>
            <a:r>
              <a:rPr lang="fr-BE"/>
              <a:t>Initialisation du compteur (chargement de la page)</a:t>
            </a:r>
          </a:p>
          <a:p>
            <a:pPr lvl="1"/>
            <a:r>
              <a:rPr lang="fr-BE"/>
              <a:t>appel à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getset_counter("get");</a:t>
            </a:r>
          </a:p>
          <a:p>
            <a:endParaRPr lang="fr-BE"/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FF85E2-0CCD-4C21-F799-876FC23A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C00060-C998-ACA5-068A-D82B34F0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5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03C5-0047-2712-BD90-262D9E5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6C1AA-ED32-DD12-0D9E-3511D26D1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/public/js/internal/counter.js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FC5672-56B2-3C3F-2CFF-2458EC816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30786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Déclaration de la fonction JS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getset_counter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(action)</a:t>
            </a: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param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</a:p>
          <a:p>
            <a:pPr lvl="2"/>
            <a:r>
              <a:rPr lang="fr-BE" dirty="0"/>
              <a:t>contient </a:t>
            </a:r>
            <a:r>
              <a:rPr lang="fr-BE" dirty="0" err="1"/>
              <a:t>e.a</a:t>
            </a:r>
            <a:r>
              <a:rPr lang="fr-BE" dirty="0"/>
              <a:t>. :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returnType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: "application/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",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    page : "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counter_fetch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",</a:t>
            </a:r>
            <a:b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fr-BE" dirty="0"/>
              <a:t>aiguillage de la requête sur le serveur </a:t>
            </a:r>
          </a:p>
          <a:p>
            <a:pPr lvl="1"/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fetch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2"/>
            <a:r>
              <a:rPr lang="fr-BE" dirty="0"/>
              <a:t>URL :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window.location.pathname</a:t>
            </a:r>
            <a:r>
              <a:rPr lang="fr-BE" dirty="0"/>
              <a:t>, </a:t>
            </a:r>
            <a:r>
              <a:rPr lang="fr-BE" dirty="0" err="1"/>
              <a:t>càd</a:t>
            </a:r>
            <a:r>
              <a:rPr lang="fr-BE" dirty="0"/>
              <a:t> le </a:t>
            </a:r>
            <a:r>
              <a:rPr lang="fr-BE" dirty="0" err="1"/>
              <a:t>path</a:t>
            </a:r>
            <a:r>
              <a:rPr lang="fr-BE" dirty="0"/>
              <a:t> courant</a:t>
            </a:r>
          </a:p>
          <a:p>
            <a:pPr lvl="2"/>
            <a:r>
              <a:rPr lang="fr-BE" dirty="0"/>
              <a:t>envoie </a:t>
            </a:r>
            <a:r>
              <a:rPr lang="fr-BE" dirty="0" err="1">
                <a:solidFill>
                  <a:srgbClr val="996633"/>
                </a:solidFill>
                <a:latin typeface="Consolas" panose="020B0609020204030204" pitchFamily="49" charset="0"/>
              </a:rPr>
              <a:t>param</a:t>
            </a:r>
            <a:endParaRPr lang="fr-BE" dirty="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2"/>
            <a:r>
              <a:rPr lang="fr-BE" dirty="0"/>
              <a:t>reçoit du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fr-BE" dirty="0"/>
              <a:t> en retour</a:t>
            </a:r>
          </a:p>
          <a:p>
            <a:pPr lvl="2"/>
            <a:r>
              <a:rPr lang="fr-BE" dirty="0"/>
              <a:t>valide le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</a:p>
          <a:p>
            <a:pPr lvl="2"/>
            <a:r>
              <a:rPr lang="fr-BE" dirty="0"/>
              <a:t>traite le </a:t>
            </a:r>
            <a:r>
              <a:rPr lang="fr-BE" dirty="0">
                <a:solidFill>
                  <a:srgbClr val="996633"/>
                </a:solidFill>
                <a:latin typeface="Consolas" panose="020B0609020204030204" pitchFamily="49" charset="0"/>
              </a:rPr>
              <a:t>JSON</a:t>
            </a:r>
            <a:r>
              <a:rPr lang="fr-BE" dirty="0"/>
              <a:t> : affichage de la nouvelle valeur du compteur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542EAF-0EE2-3600-1CAB-139ECCE4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553969-90DF-0DAC-6B28-C08F4C0B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1802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970B-404A-2177-7E6A-1F6EAE4A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AFCF3-5DE1-158C-E4B3-FEA9E62B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/app/controller/counter_fetch.php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231676-90B7-F528-5E26-A7F53179E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30786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Déclaration fonction PHP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main_counter_fetch()</a:t>
            </a:r>
          </a:p>
          <a:p>
            <a:r>
              <a:rPr lang="fr-BE"/>
              <a:t>Traitement du compteur </a:t>
            </a:r>
          </a:p>
          <a:p>
            <a:pPr lvl="1"/>
            <a:r>
              <a:rPr lang="fr-BE"/>
              <a:t>incrémentation, </a:t>
            </a:r>
          </a:p>
          <a:p>
            <a:pPr lvl="1"/>
            <a:r>
              <a:rPr lang="fr-BE"/>
              <a:t>sauvegarde, etc.</a:t>
            </a:r>
          </a:p>
          <a:p>
            <a:r>
              <a:rPr lang="fr-BE"/>
              <a:t>Création d'un assoc array pour le retour </a:t>
            </a:r>
          </a:p>
          <a:p>
            <a:pPr lvl="1"/>
            <a:r>
              <a:rPr lang="fr-BE"/>
              <a:t>conversion en JSON (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json_encode</a:t>
            </a:r>
            <a:r>
              <a:rPr lang="fr-BE"/>
              <a:t>)</a:t>
            </a:r>
          </a:p>
          <a:p>
            <a:pPr lvl="1"/>
            <a:r>
              <a:rPr lang="fr-BE"/>
              <a:t>return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La fonction retourne uniquement le tableau (JSON encodé). </a:t>
            </a:r>
          </a:p>
          <a:p>
            <a:pPr lvl="1"/>
            <a:r>
              <a:rPr lang="fr-BE"/>
              <a:t>L'en-tête est défini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index.php</a:t>
            </a:r>
            <a:r>
              <a:rPr lang="fr-BE"/>
              <a:t>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CBC116-A652-572B-6AE8-6BAE6A21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54294C-4685-862A-8209-A7BC0041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615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066692-82BF-65F0-D513-334FE34E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: Ajouter des fonctionalités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8AF4A0-CFF3-2100-8C68-D2BBBB15D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Ajouter un bouton "decrement". </a:t>
            </a:r>
          </a:p>
          <a:p>
            <a:r>
              <a:rPr lang="fr-BE"/>
              <a:t>Ajouter un bouton "reset" qui initialise le compteur à 0.</a:t>
            </a:r>
          </a:p>
          <a:p>
            <a:r>
              <a:rPr lang="fr-BE"/>
              <a:t>Ajouter un bouton "reset to value" qui initialise le compteur à une valeur donnée en input field.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1F8F30-A7F6-EBB9-8F2A-9F7ADB71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7411-EAF2-495B-A447-CD3DFBFB071E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F0F882-CF67-E8C6-3773-C008EFF6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618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BD70-8AFD-AEB5-3C75-31EFC331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42FFCA-4761-8DF3-A291-39D154F2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Fetch + MVC + Vue.js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8D630E-AE0F-F555-AD21-CDF426E79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implantation dans Vanilla JS </a:t>
            </a:r>
          </a:p>
          <a:p>
            <a:r>
              <a:rPr lang="fr-BE"/>
              <a:t>coupagle au framework AWebWiz</a:t>
            </a:r>
          </a:p>
          <a:p>
            <a:r>
              <a:rPr lang="fr-BE"/>
              <a:t>intégration dans Vue.js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C15838-66F4-E7E5-D952-0107B49AA3D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EA6130-C364-45FF-ADCC-7D6C28140105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6A5076-70EF-A94F-7094-D474425D59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53</a:t>
            </a:fld>
            <a:endParaRPr lang="fr-BE"/>
          </a:p>
        </p:txBody>
      </p:sp>
      <p:pic>
        <p:nvPicPr>
          <p:cNvPr id="7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0A34330A-BC92-6D11-01FD-7B8B1B5D6B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5" y="166690"/>
            <a:ext cx="4057650" cy="3086100"/>
          </a:xfrm>
        </p:spPr>
      </p:pic>
      <p:pic>
        <p:nvPicPr>
          <p:cNvPr id="4" name="Espace réservé pour une image  2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CC0AA0D2-E9E6-9D98-DAD6-1AF5AB1D9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>
          <a:xfrm>
            <a:off x="9038630" y="3752352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0909-2817-1E51-B39F-B0397432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AAF0D5D4-B498-53ED-BF1F-48FF7FF0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Mise en place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7B3D7BF-98C5-F09D-DE9E-688265D3E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/>
          </a:bodyPr>
          <a:lstStyle/>
          <a:p>
            <a:r>
              <a:rPr lang="fr-BE"/>
              <a:t>Répertoire (GitHub) 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/AWebWiz_start_fetch_vuejs</a:t>
            </a:r>
          </a:p>
          <a:p>
            <a:r>
              <a:rPr lang="fr-BE"/>
              <a:t>Fichiers nouveaux ou modifiés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/public/components/app.js</a:t>
            </a:r>
          </a:p>
          <a:p>
            <a:pPr lvl="1"/>
            <a:r>
              <a:rPr lang="en-US">
                <a:solidFill>
                  <a:srgbClr val="996633"/>
                </a:solidFill>
                <a:latin typeface="Consolas" panose="020B0609020204030204" pitchFamily="49" charset="0"/>
              </a:rPr>
              <a:t>/public/components/counter.js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4640E7-C7E0-8014-E931-939894E0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EA18-5AD6-45A6-A8E3-163D735A5432}" type="datetime1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14EE0B-FD2B-E3FA-A24D-F2963277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1737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9D98E-8B42-4FF1-C504-DC73F8FD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5F3A76-EBF4-7532-9A39-29D52EE60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/app/controller/home.php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7561E9-A85D-9A30-0F8F-6A05D010B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Appel à la fonction PHP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vuejs_fetch_sample()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FD45BD-51A6-FB51-ABB3-F039FC1E4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3072F8-9329-2611-2E36-72923E07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25659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924BA-112F-47C6-6DAF-C34B4B9C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9A5F8-1C2A-8D86-E601-C256E52E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/app/view/template.php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2A4D8F-4609-AB56-EC77-2DB48865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Inclusion des scripts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Vue.js</a:t>
            </a:r>
            <a:r>
              <a:rPr lang="fr-BE"/>
              <a:t> sous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src="./js/vue.js/vue.global.js"&gt;…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type="importmap"&gt;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&lt;script type="module" 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   src="./js/internal/vuejs_fetch_app.js" 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       defer&gt; …</a:t>
            </a:r>
            <a:b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3200">
                <a:solidFill>
                  <a:srgbClr val="996633"/>
                </a:solidFill>
                <a:latin typeface="Consolas" panose="020B0609020204030204" pitchFamily="49" charset="0"/>
              </a:rPr>
              <a:t>&lt;/head&gt;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F0D258-F36D-CF3C-51F3-4EBD5B98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27A15-FE84-4468-BA37-282682579A39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7CE6E0-2FC2-233E-D66F-2EBF02BD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057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AF88-EEAE-60D3-659F-361097269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951CA-1393-6725-8AAB-AB74F60A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/app/view/home.php</a:t>
            </a:r>
            <a:endParaRPr lang="fr-BE" b="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8EC0BA-B4D5-3E9B-2CAE-4D4A334B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Déclaration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vuejs_fetch_sample()</a:t>
            </a:r>
          </a:p>
          <a:p>
            <a:pPr lvl="1"/>
            <a:r>
              <a:rPr lang="fr-BE"/>
              <a:t>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AA9EF7-F057-0996-E353-7280FD7F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88CBAD-FE5D-E11A-3BD0-8BA04AD3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25678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C4369-648B-3564-9BB3-A6F189FE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/public/components/app.js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75D1FB-A3E6-70A9-97C2-4C55A806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création de l'application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Vue.js</a:t>
            </a:r>
          </a:p>
          <a:p>
            <a:r>
              <a:rPr lang="fr-BE"/>
              <a:t>inclusion du 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</a:t>
            </a:r>
          </a:p>
          <a:p>
            <a:r>
              <a:rPr lang="fr-BE"/>
              <a:t>montage sur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section#vuejs_fetch_sample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734A9F-447D-E4B7-3ED0-85F7DECB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72F-57CB-443C-B641-8EBD15AC09D7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1CDDC5-9576-A498-5176-BA532B26C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802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50043-747C-7DA9-2F60-E608AF55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EA503-553D-8568-1258-631E23429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/public/</a:t>
            </a:r>
            <a:r>
              <a:rPr lang="fr-BE" b="0">
                <a:solidFill>
                  <a:srgbClr val="996633"/>
                </a:solidFill>
                <a:latin typeface="Consolas" panose="020B0609020204030204" pitchFamily="49" charset="0"/>
              </a:rPr>
              <a:t>components</a:t>
            </a:r>
            <a:r>
              <a:rPr lang="en-US" b="0">
                <a:solidFill>
                  <a:srgbClr val="996633"/>
                </a:solidFill>
                <a:latin typeface="Consolas" panose="020B0609020204030204" pitchFamily="49" charset="0"/>
              </a:rPr>
              <a:t>/counter.js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441FC3-EAE6-3CB0-768F-CADFAB44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template</a:t>
            </a:r>
            <a:r>
              <a:rPr lang="fr-BE"/>
              <a:t> </a:t>
            </a:r>
          </a:p>
          <a:p>
            <a:pPr lvl="1"/>
            <a:r>
              <a:rPr lang="fr-BE"/>
              <a:t>bouton : évènement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click</a:t>
            </a:r>
            <a:r>
              <a:rPr lang="fr-BE"/>
              <a:t> vers méthode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fetchCounter</a:t>
            </a:r>
          </a:p>
          <a:p>
            <a:pPr lvl="1"/>
            <a:r>
              <a:rPr lang="fr-BE"/>
              <a:t>var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compteur_vuejs</a:t>
            </a:r>
            <a:endParaRPr lang="fr-BE"/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</a:t>
            </a:r>
          </a:p>
          <a:p>
            <a:pPr lvl="1"/>
            <a:r>
              <a:rPr lang="fr-BE"/>
              <a:t>initialisation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compteur_vuejs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methods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fetchCounter</a:t>
            </a:r>
            <a:r>
              <a:rPr lang="fr-BE"/>
              <a:t>, cf description en section précédente (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counter.js</a:t>
            </a:r>
            <a:r>
              <a:rPr lang="fr-BE"/>
              <a:t>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mounted</a:t>
            </a:r>
            <a:r>
              <a:rPr lang="fr-BE"/>
              <a:t> </a:t>
            </a:r>
          </a:p>
          <a:p>
            <a:pPr lvl="1"/>
            <a:r>
              <a:rPr lang="fr-BE"/>
              <a:t>pour initialiser le compteur au chargement de la page </a:t>
            </a:r>
          </a:p>
          <a:p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92E905-86EF-4781-28C2-9144A786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2A0FB-B2F5-4CDD-B3CD-9FB3D075AA52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BF7B26-DD60-0DBE-23CA-DD04777C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431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2058-D4B9-AD98-E1B8-9E982E60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E6E6F3-8EE8-4173-9CBF-F2F4AC6C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: Ajouter des fonctionalités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32E22-2CB8-F5DB-2826-685BC7173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Ajouter un bouton "</a:t>
            </a:r>
            <a:r>
              <a:rPr lang="fr-BE" dirty="0" err="1"/>
              <a:t>decrement</a:t>
            </a:r>
            <a:r>
              <a:rPr lang="fr-BE" dirty="0"/>
              <a:t>". </a:t>
            </a:r>
          </a:p>
          <a:p>
            <a:r>
              <a:rPr lang="fr-BE" dirty="0"/>
              <a:t>Ajouter un bouton "reset" qui initialise le compteur à 0.</a:t>
            </a:r>
          </a:p>
          <a:p>
            <a:r>
              <a:rPr lang="fr-BE" dirty="0"/>
              <a:t>Ajouter un bouton "reset to value" qui initialise le compteur à une valeur donnée en input </a:t>
            </a:r>
            <a:r>
              <a:rPr lang="fr-BE" dirty="0" err="1"/>
              <a:t>field</a:t>
            </a:r>
            <a:r>
              <a:rPr lang="fr-BE" dirty="0"/>
              <a:t>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90EDDA-9DB2-F21E-E292-9B4F893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7411-EAF2-495B-A447-CD3DFBFB071E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B8BD6B-FCF2-EEBE-FB04-036CA1D9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60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0589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7354" y="1122363"/>
            <a:ext cx="8100646" cy="2387600"/>
          </a:xfrm>
        </p:spPr>
        <p:txBody>
          <a:bodyPr>
            <a:normAutofit fontScale="90000"/>
          </a:bodyPr>
          <a:lstStyle/>
          <a:p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 dirty="0"/>
            </a:br>
            <a:r>
              <a:rPr lang="fr-BE" dirty="0"/>
              <a:t>Projet de Développement Web</a:t>
            </a:r>
            <a:endParaRPr lang="fr-BE" noProof="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fr-FR" sz="115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FIN</a:t>
            </a:r>
          </a:p>
        </p:txBody>
      </p:sp>
      <p:pic>
        <p:nvPicPr>
          <p:cNvPr id="17" name="Picture 1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6" y="289351"/>
            <a:ext cx="1674557" cy="167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62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12484</TotalTime>
  <Words>4068</Words>
  <Application>Microsoft Office PowerPoint</Application>
  <PresentationFormat>Grand écran</PresentationFormat>
  <Paragraphs>615</Paragraphs>
  <Slides>61</Slides>
  <Notes>7</Notes>
  <HiddenSlides>0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61</vt:i4>
      </vt:variant>
      <vt:variant>
        <vt:lpstr>Diaporamas personnalisés</vt:lpstr>
      </vt:variant>
      <vt:variant>
        <vt:i4>1</vt:i4>
      </vt:variant>
    </vt:vector>
  </HeadingPairs>
  <TitlesOfParts>
    <vt:vector size="70" baseType="lpstr">
      <vt:lpstr>Arial</vt:lpstr>
      <vt:lpstr>Calibri</vt:lpstr>
      <vt:lpstr>Consolas</vt:lpstr>
      <vt:lpstr>Courier New</vt:lpstr>
      <vt:lpstr>Garamond</vt:lpstr>
      <vt:lpstr>Times New Roman</vt:lpstr>
      <vt:lpstr>Wingdings</vt:lpstr>
      <vt:lpstr>burotix</vt:lpstr>
      <vt:lpstr>Bachelier en Informatique de Gestion  Web : principes de base Projet de Développement Web</vt:lpstr>
      <vt:lpstr>Table des matières</vt:lpstr>
      <vt:lpstr>31. Requête Asychrone</vt:lpstr>
      <vt:lpstr>Principe de la requête asynchrone</vt:lpstr>
      <vt:lpstr>Principe</vt:lpstr>
      <vt:lpstr>Rappel : Single Page App vs Mult. Page App</vt:lpstr>
      <vt:lpstr>Principe</vt:lpstr>
      <vt:lpstr>Motivation</vt:lpstr>
      <vt:lpstr>Exemple d'application</vt:lpstr>
      <vt:lpstr>Objet JS XMLHttpRequest </vt:lpstr>
      <vt:lpstr>Objet JS Promises (promesses)</vt:lpstr>
      <vt:lpstr>Objet JS Promises</vt:lpstr>
      <vt:lpstr>Implantation</vt:lpstr>
      <vt:lpstr>Asynchronous JavaScript and XML (AJAX)</vt:lpstr>
      <vt:lpstr>Architecture</vt:lpstr>
      <vt:lpstr>Méthode .load() : exo 01</vt:lpstr>
      <vt:lpstr>Méthode .load() : exo 01</vt:lpstr>
      <vt:lpstr>Méthode .load() : exo 02</vt:lpstr>
      <vt:lpstr>Méthode .load() : exo 02</vt:lpstr>
      <vt:lpstr>Fonction $.post() : exo 03</vt:lpstr>
      <vt:lpstr>Fonction $.post() : exo 03</vt:lpstr>
      <vt:lpstr>Fonction $.ajax()</vt:lpstr>
      <vt:lpstr>AJAX &amp; SESSION : exo 11</vt:lpstr>
      <vt:lpstr>AJAX &amp; SESSION : exo 12</vt:lpstr>
      <vt:lpstr>AJAX &amp; SESSION : exo 13</vt:lpstr>
      <vt:lpstr>AJAX &amp; database : exo 21</vt:lpstr>
      <vt:lpstr>AJAX &amp; database : exo 21</vt:lpstr>
      <vt:lpstr>AJAX &amp; database : exo 21</vt:lpstr>
      <vt:lpstr>AJAX, timer &amp; event</vt:lpstr>
      <vt:lpstr>AJAX, timer &amp; event : exo 31</vt:lpstr>
      <vt:lpstr>AJAX, timer &amp; event : exo 31 : client</vt:lpstr>
      <vt:lpstr>AJAX, timer &amp; event : exo 31 : serveur</vt:lpstr>
      <vt:lpstr>Fetch</vt:lpstr>
      <vt:lpstr>Architecture</vt:lpstr>
      <vt:lpstr>Fonction fetch  : exo 51</vt:lpstr>
      <vt:lpstr>Fonction fetch  : exo 51</vt:lpstr>
      <vt:lpstr>Fonction fetch  : exo 52</vt:lpstr>
      <vt:lpstr>Fonction fetch  : exo 52</vt:lpstr>
      <vt:lpstr>Fonction fetch  : exo 52</vt:lpstr>
      <vt:lpstr>Envoyer les params au serveur : 2 méthodes</vt:lpstr>
      <vt:lpstr>Envoyer les params au serveur : 2 méthodes</vt:lpstr>
      <vt:lpstr>Fetch + MVC</vt:lpstr>
      <vt:lpstr>Exo : compteur</vt:lpstr>
      <vt:lpstr>Mise en place</vt:lpstr>
      <vt:lpstr>/public/index.php</vt:lpstr>
      <vt:lpstr>/app/controller/home.php</vt:lpstr>
      <vt:lpstr>/app/view/template.php</vt:lpstr>
      <vt:lpstr>/app/view/home.php</vt:lpstr>
      <vt:lpstr>/public/js/internal/counter.js</vt:lpstr>
      <vt:lpstr>/public/js/internal/counter.js</vt:lpstr>
      <vt:lpstr>/app/controller/counter_fetch.php</vt:lpstr>
      <vt:lpstr>Exo : Ajouter des fonctionalités</vt:lpstr>
      <vt:lpstr>Fetch + MVC + Vue.js</vt:lpstr>
      <vt:lpstr>Mise en place</vt:lpstr>
      <vt:lpstr>/app/controller/home.php</vt:lpstr>
      <vt:lpstr>/app/view/template.php</vt:lpstr>
      <vt:lpstr>/app/view/home.php</vt:lpstr>
      <vt:lpstr>/public/components/app.js</vt:lpstr>
      <vt:lpstr>/public/components/counter.js</vt:lpstr>
      <vt:lpstr>Exo : Ajouter des fonctionalités</vt:lpstr>
      <vt:lpstr>Bachelier en Informatique de Gestion  Projet de Développement Web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27. Requête Asychrone &amp; API</dc:title>
  <dc:creator>Alain Wafflard</dc:creator>
  <cp:lastModifiedBy>Alain Wafflard</cp:lastModifiedBy>
  <cp:revision>177</cp:revision>
  <dcterms:created xsi:type="dcterms:W3CDTF">2020-03-25T17:28:30Z</dcterms:created>
  <dcterms:modified xsi:type="dcterms:W3CDTF">2026-09-07T12:11:13Z</dcterms:modified>
</cp:coreProperties>
</file>