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55" r:id="rId1"/>
  </p:sldMasterIdLst>
  <p:notesMasterIdLst>
    <p:notesMasterId r:id="rId25"/>
  </p:notesMasterIdLst>
  <p:sldIdLst>
    <p:sldId id="416" r:id="rId2"/>
    <p:sldId id="408" r:id="rId3"/>
    <p:sldId id="279" r:id="rId4"/>
    <p:sldId id="638" r:id="rId5"/>
    <p:sldId id="593" r:id="rId6"/>
    <p:sldId id="594" r:id="rId7"/>
    <p:sldId id="597" r:id="rId8"/>
    <p:sldId id="596" r:id="rId9"/>
    <p:sldId id="598" r:id="rId10"/>
    <p:sldId id="599" r:id="rId11"/>
    <p:sldId id="652" r:id="rId12"/>
    <p:sldId id="644" r:id="rId13"/>
    <p:sldId id="645" r:id="rId14"/>
    <p:sldId id="648" r:id="rId15"/>
    <p:sldId id="649" r:id="rId16"/>
    <p:sldId id="650" r:id="rId17"/>
    <p:sldId id="654" r:id="rId18"/>
    <p:sldId id="658" r:id="rId19"/>
    <p:sldId id="661" r:id="rId20"/>
    <p:sldId id="659" r:id="rId21"/>
    <p:sldId id="660" r:id="rId22"/>
    <p:sldId id="662" r:id="rId23"/>
    <p:sldId id="663" r:id="rId24"/>
  </p:sldIdLst>
  <p:sldSz cx="12192000" cy="6858000"/>
  <p:notesSz cx="6858000" cy="9144000"/>
  <p:custShowLst>
    <p:custShow name="cefora powerpoint base" id="0">
      <p:sldLst/>
    </p:custShow>
  </p:custShowLst>
  <p:defaultTextStyle>
    <a:defPPr>
      <a:defRPr lang="fr-FR"/>
    </a:defPPr>
    <a:lvl1pPr marL="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585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25. Intégration NoSQL (API)" id="{3AD74A09-3F82-48D4-ABA8-C0F174C3295E}">
          <p14:sldIdLst>
            <p14:sldId id="416"/>
            <p14:sldId id="408"/>
            <p14:sldId id="279"/>
          </p14:sldIdLst>
        </p14:section>
        <p14:section name="XML : intégration" id="{A5D75BC8-FA97-40CB-852F-94441F9EBB4A}">
          <p14:sldIdLst>
            <p14:sldId id="638"/>
            <p14:sldId id="593"/>
            <p14:sldId id="594"/>
            <p14:sldId id="597"/>
            <p14:sldId id="596"/>
            <p14:sldId id="598"/>
            <p14:sldId id="599"/>
          </p14:sldIdLst>
        </p14:section>
        <p14:section name="JSON : intégration" id="{D93AC38F-B798-4414-A18D-1F37DFD119CC}">
          <p14:sldIdLst>
            <p14:sldId id="652"/>
            <p14:sldId id="644"/>
            <p14:sldId id="645"/>
            <p14:sldId id="648"/>
            <p14:sldId id="649"/>
            <p14:sldId id="650"/>
          </p14:sldIdLst>
        </p14:section>
        <p14:section name="JSON : API" id="{E55719C5-25A7-4AC4-B204-15798335C7BD}">
          <p14:sldIdLst>
            <p14:sldId id="654"/>
            <p14:sldId id="658"/>
            <p14:sldId id="661"/>
            <p14:sldId id="659"/>
            <p14:sldId id="660"/>
            <p14:sldId id="662"/>
            <p14:sldId id="66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lain Wafflard" initials="AW" lastIdx="1" clrIdx="0">
    <p:extLst>
      <p:ext uri="{19B8F6BF-5375-455C-9EA6-DF929625EA0E}">
        <p15:presenceInfo xmlns:p15="http://schemas.microsoft.com/office/powerpoint/2012/main" userId="76bb5ce92a207b2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FF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5CB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94" autoAdjust="0"/>
    <p:restoredTop sz="86419" autoAdjust="0"/>
  </p:normalViewPr>
  <p:slideViewPr>
    <p:cSldViewPr snapToGrid="0">
      <p:cViewPr varScale="1">
        <p:scale>
          <a:sx n="58" d="100"/>
          <a:sy n="58" d="100"/>
        </p:scale>
        <p:origin x="102" y="94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notesViewPr>
    <p:cSldViewPr snapToGrid="0">
      <p:cViewPr varScale="1">
        <p:scale>
          <a:sx n="100" d="100"/>
          <a:sy n="100" d="100"/>
        </p:scale>
        <p:origin x="3552" y="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E9742F-4DAE-47F5-9244-6ACC3985DD6B}" type="datetimeFigureOut">
              <a:rPr lang="fr-BE" smtClean="0"/>
              <a:t>07-09-26</a:t>
            </a:fld>
            <a:endParaRPr lang="fr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3842A0-1A3F-4998-8237-CE5EEE5DFDF0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556068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" name="Google Shape;5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BE"/>
              <a:t>1</a:t>
            </a:fld>
            <a:endParaRPr/>
          </a:p>
        </p:txBody>
      </p:sp>
      <p:sp>
        <p:nvSpPr>
          <p:cNvPr id="53" name="Google Shape;53;p1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BE"/>
              <a:t>GESTIONNAIRE DE BASE DE DONNEES – NIVEAU ELEMENTAIRE - MS ACCESS</a:t>
            </a:r>
            <a:endParaRPr/>
          </a:p>
        </p:txBody>
      </p:sp>
      <p:sp>
        <p:nvSpPr>
          <p:cNvPr id="54" name="Google Shape;54;p1:notes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BE"/>
              <a:t>Professeur : Alain Wafflard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11b0d2e39_0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11b0d2e39_0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3842A0-1A3F-4998-8237-CE5EEE5DFDF0}" type="slidenum">
              <a:rPr lang="fr-BE" smtClean="0"/>
              <a:t>21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5543081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212773-0E16-8ED2-9341-A6B9FF3FF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15D5B0D8-0063-7DA8-46AE-66A6C305DB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A317A8BC-ADD1-572D-D390-9CA630A14A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2B47EC4-24E1-FFBF-CD19-206ED1F6F4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3842A0-1A3F-4998-8237-CE5EEE5DFDF0}" type="slidenum">
              <a:rPr lang="fr-BE" smtClean="0"/>
              <a:t>22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829345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819A1-169B-8D8A-C305-C7A78D543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51A20571-4F79-5579-74C8-649A0FC14B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1F192B63-F7EA-190B-B782-E3891FCF96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E761B82-3DF3-D1F2-3953-3F55EED0C9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3842A0-1A3F-4998-8237-CE5EEE5DFDF0}" type="slidenum">
              <a:rPr lang="fr-BE" smtClean="0"/>
              <a:t>23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7213274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solidFill>
            <a:schemeClr val="accent3">
              <a:lumMod val="40000"/>
              <a:lumOff val="60000"/>
            </a:schemeClr>
          </a:solidFill>
        </p:spPr>
        <p:txBody>
          <a:bodyPr anchor="b">
            <a:normAutofit/>
          </a:bodyPr>
          <a:lstStyle>
            <a:lvl1pPr algn="ctr">
              <a:defRPr lang="fr-BE">
                <a:solidFill>
                  <a:schemeClr val="accent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2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F8EFA58-10A1-BAA7-B65E-A754A43B7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07-09-26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14B8606-B65F-6EB2-899E-91B5C83E7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B2FA919-3ED3-80D3-E61B-53F97BE66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18621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9"/>
            <a:ext cx="10515600" cy="44862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268EF8D-0946-4672-F93D-1040FBC99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07-09-26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F8A40D7-7FAD-432F-7B9F-71125A565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4A3E5DF-3F32-A840-9AC0-4B04DF13C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066753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>
            <a:normAutofit/>
          </a:bodyPr>
          <a:lstStyle>
            <a:lvl1pPr>
              <a:defRPr lang="fr-BE">
                <a:solidFill>
                  <a:schemeClr val="accent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pour une image  4">
            <a:extLst>
              <a:ext uri="{FF2B5EF4-FFF2-40B4-BE49-F238E27FC236}">
                <a16:creationId xmlns:a16="http://schemas.microsoft.com/office/drawing/2014/main" id="{83B7C617-6903-4988-8F47-3C72C68028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000000" y="720000"/>
            <a:ext cx="2160000" cy="2160000"/>
          </a:xfrm>
        </p:spPr>
        <p:txBody>
          <a:bodyPr/>
          <a:lstStyle/>
          <a:p>
            <a:r>
              <a:rPr lang="fr-FR"/>
              <a:t>Cliquez sur l'icône pour ajouter une image</a:t>
            </a:r>
            <a:endParaRPr lang="fr-BE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2D67B63-F450-35EF-442C-62311487D2F4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07-09-26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BC20ED6-7274-FD2F-773B-9069D53732E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B282271-26EC-908B-2E9D-6EE95CFBEB1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243269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hf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b-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4544704"/>
            <a:ext cx="10515600" cy="1628211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BE" dirty="0"/>
          </a:p>
        </p:txBody>
      </p:sp>
      <p:sp>
        <p:nvSpPr>
          <p:cNvPr id="5" name="Espace réservé pour une image  4">
            <a:extLst>
              <a:ext uri="{FF2B5EF4-FFF2-40B4-BE49-F238E27FC236}">
                <a16:creationId xmlns:a16="http://schemas.microsoft.com/office/drawing/2014/main" id="{4FDD30A2-EFB1-4B31-8365-64458F4E13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000000" y="720000"/>
            <a:ext cx="1440000" cy="1440000"/>
          </a:xfrm>
        </p:spPr>
        <p:txBody>
          <a:bodyPr/>
          <a:lstStyle/>
          <a:p>
            <a:r>
              <a:rPr lang="fr-FR"/>
              <a:t>Cliquez sur l'icône pour ajouter une image</a:t>
            </a:r>
            <a:endParaRPr lang="fr-BE" dirty="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8BD7575-5E4D-B6F7-D511-002E7EBB1A2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07-09-26</a:t>
            </a:fld>
            <a:endParaRPr lang="fr-BE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57AA542-0BD3-6896-CFBC-925661457ED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F1D4A95-E4A4-1574-4F11-DE8F1961354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146430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hf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90689"/>
            <a:ext cx="5181600" cy="44862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90689"/>
            <a:ext cx="5181600" cy="44862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 dirty="0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23EE368-836F-D6B7-3720-94E515B8E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07-09-26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40FC0D1-460C-5274-B67A-CADD30115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D5E82B2-87DB-8B8E-12FD-843E81352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320387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hf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D605DBAD-E815-DA9F-C843-1DE122AA5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07-09-26</a:t>
            </a:fld>
            <a:endParaRPr lang="fr-BE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F344211E-58E3-3B61-D18C-DCC7772A0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85F2F6A2-3605-D138-CBD4-299C105E1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913409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B23E5C8-1D92-E25A-D482-9866759B5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07-09-26</a:t>
            </a:fld>
            <a:endParaRPr lang="fr-BE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5ACAADE-10AC-A5C6-B021-C668BC206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4BD460E-C94D-0F17-7C77-D32F9CC12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041256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5805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457200"/>
            <a:ext cx="6172200" cy="54038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33BACDB-1022-3581-CB46-1F85D7025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07-09-26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C8F4609-0312-F825-CC91-FAC10F330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1F0E555-3A77-670E-9C69-DE1D8DE23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961735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ison" userDrawn="1">
  <p:cSld name="1_Comparais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4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4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342000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4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3419999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ts val="1800"/>
              <a:buFont typeface="Garamond" panose="02020404030301010803" pitchFamily="18" charset="0"/>
              <a:buChar char="■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46"/>
          <p:cNvSpPr txBox="1">
            <a:spLocks noGrp="1"/>
          </p:cNvSpPr>
          <p:nvPr>
            <p:ph type="body" idx="3"/>
          </p:nvPr>
        </p:nvSpPr>
        <p:spPr>
          <a:xfrm>
            <a:off x="4394864" y="1677195"/>
            <a:ext cx="342000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46"/>
          <p:cNvSpPr txBox="1">
            <a:spLocks noGrp="1"/>
          </p:cNvSpPr>
          <p:nvPr>
            <p:ph type="body" idx="4"/>
          </p:nvPr>
        </p:nvSpPr>
        <p:spPr>
          <a:xfrm>
            <a:off x="4394863" y="2501107"/>
            <a:ext cx="3419999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ts val="1800"/>
              <a:buFont typeface="Garamond" panose="02020404030301010803" pitchFamily="18" charset="0"/>
              <a:buChar char="■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" name="Google Shape;44;p146">
            <a:extLst>
              <a:ext uri="{FF2B5EF4-FFF2-40B4-BE49-F238E27FC236}">
                <a16:creationId xmlns:a16="http://schemas.microsoft.com/office/drawing/2014/main" id="{2E687717-1647-0388-990E-8851C964199E}"/>
              </a:ext>
            </a:extLst>
          </p:cNvPr>
          <p:cNvSpPr txBox="1">
            <a:spLocks noGrp="1"/>
          </p:cNvSpPr>
          <p:nvPr>
            <p:ph type="body" idx="10"/>
          </p:nvPr>
        </p:nvSpPr>
        <p:spPr>
          <a:xfrm>
            <a:off x="7949940" y="1690688"/>
            <a:ext cx="342000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" name="Google Shape;45;p146">
            <a:extLst>
              <a:ext uri="{FF2B5EF4-FFF2-40B4-BE49-F238E27FC236}">
                <a16:creationId xmlns:a16="http://schemas.microsoft.com/office/drawing/2014/main" id="{D8C59DA1-11B0-4EEA-43AC-8402AF228130}"/>
              </a:ext>
            </a:extLst>
          </p:cNvPr>
          <p:cNvSpPr txBox="1">
            <a:spLocks noGrp="1"/>
          </p:cNvSpPr>
          <p:nvPr>
            <p:ph type="body" idx="11"/>
          </p:nvPr>
        </p:nvSpPr>
        <p:spPr>
          <a:xfrm>
            <a:off x="7949937" y="2529543"/>
            <a:ext cx="3433923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ts val="1800"/>
              <a:buFont typeface="Garamond" panose="02020404030301010803" pitchFamily="18" charset="0"/>
              <a:buChar char="■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46915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D73148E-CCCA-4F1F-A836-655D884BBF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952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E29B381-A1A5-FC30-27CA-947A269038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953782-D06E-4853-BE3C-64C197273937}" type="datetimeFigureOut">
              <a:rPr lang="fr-BE" smtClean="0"/>
              <a:t>07-09-26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BFB2116-0A00-B6AB-43FF-F23B8EB09A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420405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6" r:id="rId1"/>
    <p:sldLayoutId id="2147483857" r:id="rId2"/>
    <p:sldLayoutId id="2147483858" r:id="rId3"/>
    <p:sldLayoutId id="2147483859" r:id="rId4"/>
    <p:sldLayoutId id="2147483860" r:id="rId5"/>
    <p:sldLayoutId id="2147483861" r:id="rId6"/>
    <p:sldLayoutId id="2147483862" r:id="rId7"/>
    <p:sldLayoutId id="2147483863" r:id="rId8"/>
    <p:sldLayoutId id="2147483864" r:id="rId9"/>
    <p:sldLayoutId id="2147483865" r:id="rId10"/>
  </p:sldLayoutIdLst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hf hdr="0" ftr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5"/>
          </a:solidFill>
          <a:latin typeface="+mn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Clr>
          <a:schemeClr val="bg1">
            <a:lumMod val="50000"/>
          </a:schemeClr>
        </a:buClr>
        <a:buFont typeface="Wingdings" panose="05000000000000000000" pitchFamily="2" charset="2"/>
        <a:buChar char="§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Clr>
          <a:schemeClr val="bg1">
            <a:lumMod val="50000"/>
          </a:schemeClr>
        </a:buClr>
        <a:buFont typeface="Wingdings" panose="05000000000000000000" pitchFamily="2" charset="2"/>
        <a:buChar char="§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Clr>
          <a:schemeClr val="bg1">
            <a:lumMod val="50000"/>
          </a:schemeClr>
        </a:buClr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Clr>
          <a:schemeClr val="bg1">
            <a:lumMod val="50000"/>
          </a:schemeClr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Clr>
          <a:schemeClr val="bg1">
            <a:lumMod val="50000"/>
          </a:schemeClr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"/>
          <p:cNvSpPr txBox="1">
            <a:spLocks noGrp="1"/>
          </p:cNvSpPr>
          <p:nvPr>
            <p:ph type="ctrTitle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lvl="0"/>
            <a:r>
              <a:rPr lang="fr-BE" dirty="0"/>
              <a:t>Bachelier en Informatique de Gestion</a:t>
            </a:r>
            <a:br>
              <a:rPr lang="fr-BE" dirty="0"/>
            </a:br>
            <a:br>
              <a:rPr lang="fr-BE"/>
            </a:br>
            <a:r>
              <a:rPr lang="fr-BE"/>
              <a:t>Web </a:t>
            </a:r>
            <a:r>
              <a:rPr lang="fr-BE" dirty="0"/>
              <a:t>: principes </a:t>
            </a:r>
            <a:r>
              <a:rPr lang="fr-BE"/>
              <a:t>de base</a:t>
            </a:r>
            <a:br>
              <a:rPr lang="fr-BE"/>
            </a:br>
            <a:r>
              <a:rPr lang="fr-BE"/>
              <a:t>Projet de Développement Web</a:t>
            </a:r>
            <a:endParaRPr lang="fr-BE" dirty="0"/>
          </a:p>
        </p:txBody>
      </p:sp>
      <p:sp>
        <p:nvSpPr>
          <p:cNvPr id="57" name="Google Shape;57;p1"/>
          <p:cNvSpPr txBox="1">
            <a:spLocks noGrp="1"/>
          </p:cNvSpPr>
          <p:nvPr>
            <p:ph type="subTitle" idx="1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fr-BE" dirty="0"/>
              <a:t>Enseignement supérieur économique de type court</a:t>
            </a:r>
          </a:p>
          <a:p>
            <a:pPr lvl="0"/>
            <a:r>
              <a:rPr lang="fr-BE" dirty="0"/>
              <a:t>Code </a:t>
            </a:r>
            <a:r>
              <a:rPr lang="fr-BE" dirty="0" err="1"/>
              <a:t>FWB</a:t>
            </a:r>
            <a:r>
              <a:rPr lang="fr-BE"/>
              <a:t> : 7534 29 U32 D1, 7534 30 U32 D3</a:t>
            </a:r>
          </a:p>
          <a:p>
            <a:pPr lvl="0"/>
            <a:r>
              <a:rPr lang="fr-BE"/>
              <a:t>Code ISFCE : 4IWPB, 4IPW3</a:t>
            </a:r>
          </a:p>
          <a:p>
            <a:pPr lvl="0"/>
            <a:endParaRPr lang="fr-BE"/>
          </a:p>
        </p:txBody>
      </p:sp>
      <p:pic>
        <p:nvPicPr>
          <p:cNvPr id="58" name="Google Shape;5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06447" y="5094815"/>
            <a:ext cx="1674557" cy="16745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fr-BE"/>
              <a:t>Table des matières</a:t>
            </a:r>
          </a:p>
        </p:txBody>
      </p:sp>
      <p:sp>
        <p:nvSpPr>
          <p:cNvPr id="119" name="Google Shape;119;p5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3420000" cy="676143"/>
          </a:xfrm>
          <a:noFill/>
          <a:ln>
            <a:noFill/>
          </a:ln>
        </p:spPr>
        <p:txBody>
          <a:bodyPr spcFirstLastPara="1" wrap="square" lIns="91425" tIns="45700" rIns="91425" bIns="45700" numCol="1" anchor="t" anchorCtr="0">
            <a:normAutofit/>
          </a:bodyPr>
          <a:lstStyle/>
          <a:p>
            <a:pPr lvl="0"/>
            <a:r>
              <a:rPr lang="fr-FR"/>
              <a:t>Généralités</a:t>
            </a:r>
          </a:p>
        </p:txBody>
      </p:sp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D1162652-D4A8-152D-F88F-9B8516AF877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353338"/>
            <a:ext cx="3419999" cy="3836325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fr-BE" sz="2400"/>
              <a:t>01. Introduction au web</a:t>
            </a:r>
          </a:p>
          <a:p>
            <a:pPr marL="114300" indent="0">
              <a:buNone/>
            </a:pPr>
            <a:r>
              <a:rPr lang="fr-BE" sz="2400"/>
              <a:t>03. Outils</a:t>
            </a:r>
          </a:p>
          <a:p>
            <a:pPr marL="114300" indent="0">
              <a:buNone/>
            </a:pPr>
            <a:r>
              <a:rPr lang="fr-BE" sz="2400"/>
              <a:t>05. Format XML</a:t>
            </a:r>
          </a:p>
          <a:p>
            <a:pPr marL="114300" indent="0">
              <a:buNone/>
            </a:pPr>
            <a:r>
              <a:rPr lang="fr-BE" sz="2400"/>
              <a:t>06. Format JSON</a:t>
            </a:r>
          </a:p>
          <a:p>
            <a:pPr marL="114300" indent="0">
              <a:buNone/>
            </a:pPr>
            <a:endParaRPr lang="fr-BE" sz="240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06D5135-B8A1-9E24-38EE-4C72679CDE7E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394864" y="1677195"/>
            <a:ext cx="3420000" cy="676143"/>
          </a:xfrm>
        </p:spPr>
        <p:txBody>
          <a:bodyPr anchor="t"/>
          <a:lstStyle/>
          <a:p>
            <a:pPr lvl="0"/>
            <a:r>
              <a:rPr lang="fr-FR"/>
              <a:t>Front-End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7D87172-3FAF-5725-E789-9405D66598A7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4394863" y="2357306"/>
            <a:ext cx="3419999" cy="3828389"/>
          </a:xfrm>
        </p:spPr>
        <p:txBody>
          <a:bodyPr>
            <a:normAutofit/>
          </a:bodyPr>
          <a:lstStyle/>
          <a:p>
            <a:pPr marL="114300" lvl="0" indent="0">
              <a:buNone/>
            </a:pPr>
            <a:r>
              <a:rPr lang="fr-BE" sz="2400"/>
              <a:t>12. Structure HTML </a:t>
            </a:r>
          </a:p>
          <a:p>
            <a:pPr marL="114300" indent="0">
              <a:buNone/>
            </a:pPr>
            <a:r>
              <a:rPr lang="fr-BE" sz="2400"/>
              <a:t>13. Formulaire HTML</a:t>
            </a:r>
          </a:p>
          <a:p>
            <a:pPr marL="114300" lvl="0" indent="0">
              <a:buNone/>
            </a:pPr>
            <a:r>
              <a:rPr lang="fr-BE" sz="2400"/>
              <a:t>14. Mise en forme CSS</a:t>
            </a:r>
          </a:p>
          <a:p>
            <a:pPr marL="114300" lvl="0" indent="0">
              <a:buNone/>
            </a:pPr>
            <a:r>
              <a:rPr lang="fr-BE" sz="2400"/>
              <a:t>15. Adaptabilité</a:t>
            </a:r>
          </a:p>
          <a:p>
            <a:pPr marL="114300" lvl="0" indent="0">
              <a:buNone/>
            </a:pPr>
            <a:r>
              <a:rPr lang="fr-BE" sz="2400"/>
              <a:t>17. Javascript</a:t>
            </a:r>
          </a:p>
          <a:p>
            <a:pPr marL="114300" lvl="0" indent="0">
              <a:buNone/>
            </a:pPr>
            <a:r>
              <a:rPr lang="fr-BE" sz="2400"/>
              <a:t>18. Bibliothèque jQuery</a:t>
            </a:r>
          </a:p>
          <a:p>
            <a:pPr marL="114300" lvl="0" indent="0">
              <a:buNone/>
            </a:pPr>
            <a:r>
              <a:rPr lang="fr-BE" sz="2400"/>
              <a:t>19. Composant Vue.js</a:t>
            </a:r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A5FC1231-1E2C-7231-4486-8114EAEE6AAF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7949940" y="1690688"/>
            <a:ext cx="3420000" cy="662650"/>
          </a:xfrm>
        </p:spPr>
        <p:txBody>
          <a:bodyPr anchor="t"/>
          <a:lstStyle/>
          <a:p>
            <a:r>
              <a:rPr lang="fr-BE"/>
              <a:t>Back-End</a:t>
            </a:r>
          </a:p>
        </p:txBody>
      </p:sp>
      <p:sp>
        <p:nvSpPr>
          <p:cNvPr id="18" name="Espace réservé du texte 17">
            <a:extLst>
              <a:ext uri="{FF2B5EF4-FFF2-40B4-BE49-F238E27FC236}">
                <a16:creationId xmlns:a16="http://schemas.microsoft.com/office/drawing/2014/main" id="{EDB2CC52-B967-555D-C3A7-C4B10EB02D18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7949937" y="2377806"/>
            <a:ext cx="3433923" cy="3836325"/>
          </a:xfrm>
        </p:spPr>
        <p:txBody>
          <a:bodyPr>
            <a:normAutofit lnSpcReduction="10000"/>
          </a:bodyPr>
          <a:lstStyle/>
          <a:p>
            <a:pPr marL="114300" lvl="0" indent="0">
              <a:buNone/>
            </a:pPr>
            <a:r>
              <a:rPr lang="fr-BE" sz="2400"/>
              <a:t>21. Middleware PHP</a:t>
            </a:r>
          </a:p>
          <a:p>
            <a:pPr marL="114300" indent="0">
              <a:buNone/>
            </a:pPr>
            <a:r>
              <a:rPr lang="fr-BE" sz="2400"/>
              <a:t>22. Traitement du formulaire</a:t>
            </a:r>
          </a:p>
          <a:p>
            <a:pPr marL="114300" lvl="0" indent="0">
              <a:buNone/>
            </a:pPr>
            <a:r>
              <a:rPr lang="fr-BE" sz="2400"/>
              <a:t>23. Architecture MVC</a:t>
            </a:r>
          </a:p>
          <a:p>
            <a:pPr marL="114300" lvl="0" indent="0">
              <a:buNone/>
            </a:pPr>
            <a:r>
              <a:rPr lang="fr-BE" sz="2400"/>
              <a:t>24. Données SQL</a:t>
            </a:r>
          </a:p>
          <a:p>
            <a:pPr marL="114300" lvl="0" indent="0">
              <a:buNone/>
            </a:pPr>
            <a:r>
              <a:rPr lang="fr-BE" sz="2400">
                <a:solidFill>
                  <a:schemeClr val="accent2"/>
                </a:solidFill>
              </a:rPr>
              <a:t>25. Données NoSQL</a:t>
            </a:r>
          </a:p>
          <a:p>
            <a:pPr marL="114300" lvl="0" indent="0">
              <a:buNone/>
            </a:pPr>
            <a:endParaRPr lang="fr-BE" sz="2400"/>
          </a:p>
          <a:p>
            <a:pPr marL="114300" lvl="0" indent="0">
              <a:buNone/>
            </a:pPr>
            <a:endParaRPr lang="fr-BE" sz="2400"/>
          </a:p>
          <a:p>
            <a:pPr marL="114300" indent="0">
              <a:buNone/>
            </a:pPr>
            <a:r>
              <a:rPr lang="fr-BE" sz="2400"/>
              <a:t>31. Requête asynchrone</a:t>
            </a:r>
          </a:p>
          <a:p>
            <a:pPr marL="114300" indent="0">
              <a:buNone/>
            </a:pPr>
            <a:endParaRPr lang="fr-BE" sz="2400"/>
          </a:p>
        </p:txBody>
      </p:sp>
      <p:sp>
        <p:nvSpPr>
          <p:cNvPr id="5" name="Espace réservé du texte 9">
            <a:extLst>
              <a:ext uri="{FF2B5EF4-FFF2-40B4-BE49-F238E27FC236}">
                <a16:creationId xmlns:a16="http://schemas.microsoft.com/office/drawing/2014/main" id="{F7F80AB2-1A54-F3C7-63AD-635689291298}"/>
              </a:ext>
            </a:extLst>
          </p:cNvPr>
          <p:cNvSpPr txBox="1">
            <a:spLocks/>
          </p:cNvSpPr>
          <p:nvPr/>
        </p:nvSpPr>
        <p:spPr>
          <a:xfrm>
            <a:off x="7932738" y="5026572"/>
            <a:ext cx="3751261" cy="82391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457200" lvl="0" indent="-228600" algn="l" defTabSz="914377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lvl="1" indent="-22860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ingdings" panose="05000000000000000000" pitchFamily="2" charset="2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lvl="2" indent="-22860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Wingdings" panose="05000000000000000000" pitchFamily="2" charset="2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lvl="3" indent="-22860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86000" lvl="4" indent="-22860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43200" lvl="5" indent="-22860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00400" lvl="6" indent="-22860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600" lvl="7" indent="-22860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4800" lvl="8" indent="-22860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BE"/>
              <a:t>Single Page Application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1"/>
          <p:cNvSpPr txBox="1"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BE">
                <a:sym typeface="Calibri"/>
              </a:rPr>
              <a:t>26. Intégration de données NoSQL</a:t>
            </a: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B666B1C3-8FC2-4E56-98BC-8252E17FFC0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BE"/>
              <a:t>intégration XML</a:t>
            </a:r>
          </a:p>
          <a:p>
            <a:r>
              <a:rPr lang="fr-BE"/>
              <a:t>intégration JSON</a:t>
            </a:r>
          </a:p>
          <a:p>
            <a:r>
              <a:rPr lang="fr-BE"/>
              <a:t>API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3F1408-420B-77E4-24C9-FC0AD783E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0D3BD06-FF1B-DD07-90E3-E0AB97FA5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XML : intégration en PHP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460104C-4C9A-8F1B-135B-E43C267582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numCol="3">
            <a:normAutofit/>
          </a:bodyPr>
          <a:lstStyle/>
          <a:p>
            <a:endParaRPr lang="fr-BE"/>
          </a:p>
        </p:txBody>
      </p:sp>
      <p:sp>
        <p:nvSpPr>
          <p:cNvPr id="4" name="Espace réservé pour une image  3">
            <a:extLst>
              <a:ext uri="{FF2B5EF4-FFF2-40B4-BE49-F238E27FC236}">
                <a16:creationId xmlns:a16="http://schemas.microsoft.com/office/drawing/2014/main" id="{5E9FE46C-E8D3-3BB5-15DA-ABC3A6139B3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796666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B683B5E-527F-4FAF-A9A8-B99D82D4E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Exo 11 : PHP et XML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8F0CB6A-D7FC-46AB-98A2-18F7BFC37D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>
            <a:normAutofit/>
          </a:bodyPr>
          <a:lstStyle/>
          <a:p>
            <a:r>
              <a:rPr lang="fr-BE"/>
              <a:t>Données XML fournies sous forme de </a:t>
            </a:r>
            <a:r>
              <a:rPr lang="fr-BE">
                <a:solidFill>
                  <a:schemeClr val="accent2"/>
                </a:solidFill>
              </a:rPr>
              <a:t>string </a:t>
            </a:r>
            <a:r>
              <a:rPr lang="fr-BE" err="1">
                <a:solidFill>
                  <a:schemeClr val="accent2"/>
                </a:solidFill>
              </a:rPr>
              <a:t>php</a:t>
            </a:r>
            <a:r>
              <a:rPr lang="fr-BE">
                <a:solidFill>
                  <a:schemeClr val="accent2"/>
                </a:solidFill>
              </a:rPr>
              <a:t>.</a:t>
            </a:r>
          </a:p>
          <a:p>
            <a:r>
              <a:rPr lang="fr-BE"/>
              <a:t>Fonction PHP </a:t>
            </a:r>
            <a:r>
              <a:rPr lang="fr-BE" sz="2400" b="1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simplexml_load_string</a:t>
            </a:r>
            <a:r>
              <a:rPr lang="fr-BE" sz="24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fr-BE"/>
              <a:t>Exemple</a:t>
            </a:r>
          </a:p>
          <a:p>
            <a:pPr lvl="1"/>
            <a:r>
              <a:rPr lang="fr-BE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exo11.php</a:t>
            </a:r>
          </a:p>
        </p:txBody>
      </p:sp>
      <p:pic>
        <p:nvPicPr>
          <p:cNvPr id="8" name="Espace réservé du contenu 7">
            <a:extLst>
              <a:ext uri="{FF2B5EF4-FFF2-40B4-BE49-F238E27FC236}">
                <a16:creationId xmlns:a16="http://schemas.microsoft.com/office/drawing/2014/main" id="{DCF8D841-D437-4E20-BE4B-E3D94A26E02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019800" y="2185125"/>
            <a:ext cx="5972549" cy="2896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7324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057842F-FE9C-4C5C-B71D-94531D967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simplexml_load_string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lang="fr-BE"/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056C7F62-CA92-4433-BA15-518470B259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/>
              <a:t>Pour convertir un string XML en un </a:t>
            </a:r>
            <a:r>
              <a:rPr lang="fr-BE">
                <a:solidFill>
                  <a:schemeClr val="accent2"/>
                </a:solidFill>
              </a:rPr>
              <a:t>objet</a:t>
            </a:r>
            <a:r>
              <a:rPr lang="fr-BE"/>
              <a:t> PHP </a:t>
            </a:r>
          </a:p>
          <a:p>
            <a:r>
              <a:rPr lang="fr-BE"/>
              <a:t>Référence </a:t>
            </a:r>
          </a:p>
          <a:p>
            <a:pPr lvl="1"/>
            <a:r>
              <a:rPr lang="fr-BE" sz="2400"/>
              <a:t>https://www.php.net/manual/fr/function.simplexml-load-string.php</a:t>
            </a:r>
          </a:p>
        </p:txBody>
      </p:sp>
    </p:spTree>
    <p:extLst>
      <p:ext uri="{BB962C8B-B14F-4D97-AF65-F5344CB8AC3E}">
        <p14:creationId xmlns:p14="http://schemas.microsoft.com/office/powerpoint/2010/main" val="204809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B683B5E-527F-4FAF-A9A8-B99D82D4E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Exo 12 : PHP et XML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8F0CB6A-D7FC-46AB-98A2-18F7BFC37D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0267" y="1690689"/>
            <a:ext cx="6633619" cy="4486276"/>
          </a:xfrm>
        </p:spPr>
        <p:txBody>
          <a:bodyPr>
            <a:normAutofit/>
          </a:bodyPr>
          <a:lstStyle/>
          <a:p>
            <a:r>
              <a:rPr lang="fr-BE"/>
              <a:t>Données XML : </a:t>
            </a:r>
            <a:r>
              <a:rPr lang="fr-BE">
                <a:solidFill>
                  <a:schemeClr val="accent2"/>
                </a:solidFill>
              </a:rPr>
              <a:t>fichier local</a:t>
            </a:r>
          </a:p>
          <a:p>
            <a:r>
              <a:rPr lang="fr-BE"/>
              <a:t>Fonction PHP</a:t>
            </a:r>
          </a:p>
          <a:p>
            <a:pPr marL="457189" lvl="1" indent="0">
              <a:buNone/>
            </a:pPr>
            <a:r>
              <a:rPr lang="fr-BE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simplexml</a:t>
            </a:r>
            <a:r>
              <a:rPr lang="fr-BE" sz="2800" b="1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_load_file</a:t>
            </a:r>
            <a:r>
              <a:rPr lang="fr-BE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fr-BE"/>
              <a:t>Exemple</a:t>
            </a:r>
          </a:p>
          <a:p>
            <a:pPr marL="457189" lvl="1" indent="0">
              <a:buNone/>
            </a:pPr>
            <a:r>
              <a:rPr lang="fr-BE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library+dtd+xsl.xml </a:t>
            </a:r>
          </a:p>
          <a:p>
            <a:pPr marL="457189" lvl="1" indent="0">
              <a:buNone/>
            </a:pPr>
            <a:r>
              <a:rPr lang="fr-BE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exo12_local.php</a:t>
            </a:r>
          </a:p>
        </p:txBody>
      </p:sp>
      <p:pic>
        <p:nvPicPr>
          <p:cNvPr id="7" name="Espace réservé du contenu 6">
            <a:extLst>
              <a:ext uri="{FF2B5EF4-FFF2-40B4-BE49-F238E27FC236}">
                <a16:creationId xmlns:a16="http://schemas.microsoft.com/office/drawing/2014/main" id="{BF90CD9F-A3D9-43C7-B0C2-203A1072DD0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073886" y="965200"/>
            <a:ext cx="5118114" cy="4671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4282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057842F-FE9C-4C5C-B71D-94531D967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simplexml_load_file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lang="fr-BE"/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056C7F62-CA92-4433-BA15-518470B259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/>
              <a:t>Pour convertir un fichier XML en objet PHP</a:t>
            </a:r>
          </a:p>
          <a:p>
            <a:r>
              <a:rPr lang="fr-BE"/>
              <a:t>Fichier XML étant </a:t>
            </a:r>
          </a:p>
          <a:p>
            <a:pPr lvl="1"/>
            <a:r>
              <a:rPr lang="fr-BE"/>
              <a:t>Soit </a:t>
            </a:r>
            <a:r>
              <a:rPr lang="fr-BE">
                <a:solidFill>
                  <a:schemeClr val="accent2"/>
                </a:solidFill>
              </a:rPr>
              <a:t>local</a:t>
            </a:r>
            <a:r>
              <a:rPr lang="fr-BE"/>
              <a:t>, en donnant le "</a:t>
            </a:r>
            <a:r>
              <a:rPr lang="fr-BE" err="1"/>
              <a:t>path</a:t>
            </a:r>
            <a:r>
              <a:rPr lang="fr-BE"/>
              <a:t>"</a:t>
            </a:r>
          </a:p>
          <a:p>
            <a:pPr lvl="1"/>
            <a:r>
              <a:rPr lang="fr-BE"/>
              <a:t>Soit </a:t>
            </a:r>
            <a:r>
              <a:rPr lang="fr-BE" err="1">
                <a:solidFill>
                  <a:schemeClr val="accent2"/>
                </a:solidFill>
              </a:rPr>
              <a:t>remote</a:t>
            </a:r>
            <a:r>
              <a:rPr lang="fr-BE"/>
              <a:t>, en donnant l' "URL" !</a:t>
            </a:r>
          </a:p>
          <a:p>
            <a:endParaRPr lang="fr-BE"/>
          </a:p>
          <a:p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033762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B683B5E-527F-4FAF-A9A8-B99D82D4E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Exo 13 : PHP et XML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8F0CB6A-D7FC-46AB-98A2-18F7BFC37D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90689"/>
            <a:ext cx="5410200" cy="4486276"/>
          </a:xfrm>
        </p:spPr>
        <p:txBody>
          <a:bodyPr>
            <a:normAutofit/>
          </a:bodyPr>
          <a:lstStyle/>
          <a:p>
            <a:r>
              <a:rPr lang="fr-BE"/>
              <a:t>Données XML : </a:t>
            </a:r>
            <a:r>
              <a:rPr lang="fr-BE">
                <a:solidFill>
                  <a:schemeClr val="accent2"/>
                </a:solidFill>
              </a:rPr>
              <a:t>localisées sur un serveur </a:t>
            </a:r>
          </a:p>
          <a:p>
            <a:r>
              <a:rPr lang="fr-BE"/>
              <a:t>Fonction PHP </a:t>
            </a:r>
            <a:r>
              <a:rPr lang="fr-BE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simplexml_load_file()</a:t>
            </a:r>
          </a:p>
          <a:p>
            <a:r>
              <a:rPr lang="fr-BE"/>
              <a:t>Exemple </a:t>
            </a:r>
          </a:p>
          <a:p>
            <a:pPr marL="457189" lvl="1" indent="0">
              <a:buNone/>
            </a:pPr>
            <a:r>
              <a:rPr lang="fr-BE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exo13_remote.php</a:t>
            </a:r>
          </a:p>
        </p:txBody>
      </p:sp>
      <p:pic>
        <p:nvPicPr>
          <p:cNvPr id="10" name="Espace réservé du contenu 9">
            <a:extLst>
              <a:ext uri="{FF2B5EF4-FFF2-40B4-BE49-F238E27FC236}">
                <a16:creationId xmlns:a16="http://schemas.microsoft.com/office/drawing/2014/main" id="{91C25690-8E27-492A-BA71-5D26EAFED4F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2"/>
          <a:srcRect r="38186"/>
          <a:stretch/>
        </p:blipFill>
        <p:spPr>
          <a:xfrm>
            <a:off x="6172199" y="1574800"/>
            <a:ext cx="6019801" cy="4124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3581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B683B5E-527F-4FAF-A9A8-B99D82D4E9DB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lang="fr-BE"/>
              <a:t>Exo 18 : PHP et XML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8F0CB6A-D7FC-46AB-98A2-18F7BFC37D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fr-BE"/>
              <a:t>BONUS : La table de conversion des devises offerte par la BCE</a:t>
            </a:r>
          </a:p>
          <a:p>
            <a:pPr lvl="1"/>
            <a:r>
              <a:rPr lang="fr-BE" sz="3600"/>
              <a:t>http://www.ecb.europa.eu/stats/eurofxref/eurofxref-daily.xml</a:t>
            </a:r>
          </a:p>
          <a:p>
            <a:r>
              <a:rPr lang="fr-BE"/>
              <a:t>Exemple : </a:t>
            </a:r>
          </a:p>
          <a:p>
            <a:pPr marL="457189" lvl="1" indent="0">
              <a:buNone/>
            </a:pPr>
            <a:r>
              <a:rPr lang="fr-BE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exo18_currency.php</a:t>
            </a:r>
          </a:p>
        </p:txBody>
      </p:sp>
      <p:pic>
        <p:nvPicPr>
          <p:cNvPr id="11" name="Espace réservé du contenu 10">
            <a:extLst>
              <a:ext uri="{FF2B5EF4-FFF2-40B4-BE49-F238E27FC236}">
                <a16:creationId xmlns:a16="http://schemas.microsoft.com/office/drawing/2014/main" id="{57239C07-3F0C-4FE2-8B0B-4E7AEC9ECAA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560647" y="1690688"/>
            <a:ext cx="4404706" cy="448627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999458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67313-0C3E-D7A0-7CFF-3EBDFC3FE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F81AA2A-9DCC-779A-DF79-E1DCB51A6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JSON : intégration en PHP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EB781A2-52FB-BFF9-B789-480CC433FF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pour une image  4">
            <a:extLst>
              <a:ext uri="{FF2B5EF4-FFF2-40B4-BE49-F238E27FC236}">
                <a16:creationId xmlns:a16="http://schemas.microsoft.com/office/drawing/2014/main" id="{5C5EC6EE-7501-9DCC-93DB-143D2E7FFF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fr-BE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0E8A9597-9B74-1C48-791F-894E514F67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" b="37"/>
          <a:stretch>
            <a:fillRect/>
          </a:stretch>
        </p:blipFill>
        <p:spPr bwMode="auto">
          <a:xfrm>
            <a:off x="9002810" y="594931"/>
            <a:ext cx="2160000" cy="21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5611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B683B5E-527F-4FAF-A9A8-B99D82D4E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Exo 21 : PHP et JSON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8F0CB6A-D7FC-46AB-98A2-18F7BFC37D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>
            <a:normAutofit/>
          </a:bodyPr>
          <a:lstStyle/>
          <a:p>
            <a:r>
              <a:rPr lang="fr-BE"/>
              <a:t>Données JSON fournies sous forme de </a:t>
            </a:r>
            <a:r>
              <a:rPr lang="fr-BE">
                <a:solidFill>
                  <a:schemeClr val="accent2"/>
                </a:solidFill>
              </a:rPr>
              <a:t>string php.</a:t>
            </a:r>
          </a:p>
          <a:p>
            <a:r>
              <a:rPr lang="fr-BE"/>
              <a:t>Fonction PHP </a:t>
            </a:r>
            <a:r>
              <a:rPr lang="fr-BE" sz="24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json_decode()</a:t>
            </a:r>
          </a:p>
          <a:p>
            <a:r>
              <a:rPr lang="fr-BE"/>
              <a:t>Exemple</a:t>
            </a:r>
          </a:p>
          <a:p>
            <a:pPr lvl="1"/>
            <a:r>
              <a:rPr lang="fr-BE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exo21.php</a:t>
            </a:r>
          </a:p>
        </p:txBody>
      </p:sp>
      <p:pic>
        <p:nvPicPr>
          <p:cNvPr id="7" name="Espace réservé du contenu 6">
            <a:extLst>
              <a:ext uri="{FF2B5EF4-FFF2-40B4-BE49-F238E27FC236}">
                <a16:creationId xmlns:a16="http://schemas.microsoft.com/office/drawing/2014/main" id="{AE997ED8-0CA0-4475-9CF9-A91573FBB4E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508954" y="1385888"/>
            <a:ext cx="4951505" cy="4593564"/>
          </a:xfrm>
        </p:spPr>
      </p:pic>
    </p:spTree>
    <p:extLst>
      <p:ext uri="{BB962C8B-B14F-4D97-AF65-F5344CB8AC3E}">
        <p14:creationId xmlns:p14="http://schemas.microsoft.com/office/powerpoint/2010/main" val="638416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057842F-FE9C-4C5C-B71D-94531D967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json_decode()</a:t>
            </a:r>
            <a:endParaRPr lang="fr-BE"/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056C7F62-CA92-4433-BA15-518470B259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BE" dirty="0"/>
              <a:t>Pour convertir un string JSON en un </a:t>
            </a:r>
            <a:r>
              <a:rPr lang="fr-BE" dirty="0">
                <a:solidFill>
                  <a:schemeClr val="accent2"/>
                </a:solidFill>
              </a:rPr>
              <a:t>objet</a:t>
            </a:r>
            <a:r>
              <a:rPr lang="fr-BE" dirty="0"/>
              <a:t> ou un </a:t>
            </a:r>
            <a:r>
              <a:rPr lang="fr-BE" dirty="0" err="1">
                <a:solidFill>
                  <a:schemeClr val="accent2"/>
                </a:solidFill>
              </a:rPr>
              <a:t>assoc</a:t>
            </a:r>
            <a:r>
              <a:rPr lang="fr-BE">
                <a:solidFill>
                  <a:schemeClr val="accent2"/>
                </a:solidFill>
              </a:rPr>
              <a:t> array</a:t>
            </a:r>
            <a:r>
              <a:rPr lang="fr-BE"/>
              <a:t> PHP </a:t>
            </a:r>
          </a:p>
          <a:p>
            <a:pPr marL="0" indent="0" algn="ctr">
              <a:buNone/>
            </a:pPr>
            <a:r>
              <a:rPr lang="fr-BE" sz="3200" b="1">
                <a:solidFill>
                  <a:srgbClr val="A87236"/>
                </a:solidFill>
                <a:latin typeface="Courier New" panose="02070309020205020404" pitchFamily="49" charset="0"/>
              </a:rPr>
              <a:t>$array = json_decode($string, $bool);</a:t>
            </a:r>
            <a:endParaRPr lang="fr-BE" b="1">
              <a:solidFill>
                <a:srgbClr val="A87236"/>
              </a:solidFill>
              <a:latin typeface="Courier New" panose="02070309020205020404" pitchFamily="49" charset="0"/>
            </a:endParaRPr>
          </a:p>
          <a:p>
            <a:r>
              <a:rPr lang="fr-BE"/>
              <a:t>Params</a:t>
            </a:r>
            <a:endParaRPr lang="fr-BE" dirty="0"/>
          </a:p>
          <a:p>
            <a:pPr lvl="1"/>
            <a:r>
              <a:rPr lang="fr-BE" b="1" dirty="0">
                <a:solidFill>
                  <a:srgbClr val="A87236"/>
                </a:solidFill>
                <a:latin typeface="Courier New" panose="02070309020205020404" pitchFamily="49" charset="0"/>
              </a:rPr>
              <a:t>$string</a:t>
            </a:r>
            <a:r>
              <a:rPr lang="fr-BE" dirty="0"/>
              <a:t> : la chaîne sous format JSON </a:t>
            </a:r>
          </a:p>
          <a:p>
            <a:pPr lvl="1"/>
            <a:r>
              <a:rPr lang="fr-BE" b="1" dirty="0">
                <a:solidFill>
                  <a:srgbClr val="A87236"/>
                </a:solidFill>
                <a:latin typeface="Courier New" panose="02070309020205020404" pitchFamily="49" charset="0"/>
              </a:rPr>
              <a:t>$</a:t>
            </a:r>
            <a:r>
              <a:rPr lang="fr-BE" b="1" dirty="0" err="1">
                <a:solidFill>
                  <a:srgbClr val="A87236"/>
                </a:solidFill>
                <a:latin typeface="Courier New" panose="02070309020205020404" pitchFamily="49" charset="0"/>
              </a:rPr>
              <a:t>bool</a:t>
            </a:r>
            <a:r>
              <a:rPr lang="fr-BE"/>
              <a:t>      :	</a:t>
            </a:r>
            <a:r>
              <a:rPr lang="fr-BE" b="1">
                <a:solidFill>
                  <a:srgbClr val="A87236"/>
                </a:solidFill>
                <a:latin typeface="Courier New" panose="02070309020205020404" pitchFamily="49" charset="0"/>
              </a:rPr>
              <a:t>false</a:t>
            </a:r>
            <a:r>
              <a:rPr lang="fr-BE"/>
              <a:t> =&gt; return object (default)</a:t>
            </a:r>
            <a:br>
              <a:rPr lang="fr-BE"/>
            </a:br>
            <a:r>
              <a:rPr lang="fr-BE"/>
              <a:t>			</a:t>
            </a:r>
            <a:r>
              <a:rPr lang="fr-BE" b="1">
                <a:solidFill>
                  <a:srgbClr val="A87236"/>
                </a:solidFill>
                <a:latin typeface="Courier New" panose="02070309020205020404" pitchFamily="49" charset="0"/>
              </a:rPr>
              <a:t>true</a:t>
            </a:r>
            <a:r>
              <a:rPr lang="fr-BE"/>
              <a:t>   =&gt; return assoc array </a:t>
            </a:r>
          </a:p>
          <a:p>
            <a:r>
              <a:rPr lang="fr-BE"/>
              <a:t>Référence </a:t>
            </a:r>
          </a:p>
          <a:p>
            <a:pPr lvl="1"/>
            <a:r>
              <a:rPr lang="fr-BE" sz="2400"/>
              <a:t>https://www.php.net/manual/fr/function.json-decode.php</a:t>
            </a:r>
          </a:p>
        </p:txBody>
      </p:sp>
    </p:spTree>
    <p:extLst>
      <p:ext uri="{BB962C8B-B14F-4D97-AF65-F5344CB8AC3E}">
        <p14:creationId xmlns:p14="http://schemas.microsoft.com/office/powerpoint/2010/main" val="663556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B683B5E-527F-4FAF-A9A8-B99D82D4E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fr-BE"/>
              <a:t>Exo 23 : PHP et JSON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8F0CB6A-D7FC-46AB-98A2-18F7BFC37D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BE"/>
              <a:t>Données JSON : </a:t>
            </a:r>
            <a:r>
              <a:rPr lang="fr-BE">
                <a:solidFill>
                  <a:schemeClr val="accent2"/>
                </a:solidFill>
              </a:rPr>
              <a:t>localisées sur un serveur </a:t>
            </a:r>
          </a:p>
          <a:p>
            <a:r>
              <a:rPr lang="fr-BE"/>
              <a:t>Fonctions PHP</a:t>
            </a:r>
          </a:p>
          <a:p>
            <a:pPr marL="457189" lvl="1" indent="0">
              <a:buNone/>
            </a:pPr>
            <a:r>
              <a:rPr lang="fr-BE" b="1">
                <a:solidFill>
                  <a:srgbClr val="A87236"/>
                </a:solidFill>
                <a:latin typeface="Courier New" panose="02070309020205020404" pitchFamily="49" charset="0"/>
              </a:rPr>
              <a:t>file_get_contents()</a:t>
            </a:r>
          </a:p>
          <a:p>
            <a:pPr marL="457189" lvl="1" indent="0">
              <a:buNone/>
            </a:pPr>
            <a:r>
              <a:rPr lang="fr-BE" b="1">
                <a:solidFill>
                  <a:srgbClr val="A87236"/>
                </a:solidFill>
                <a:latin typeface="Courier New" panose="02070309020205020404" pitchFamily="49" charset="0"/>
              </a:rPr>
              <a:t>json_decode()</a:t>
            </a:r>
          </a:p>
          <a:p>
            <a:r>
              <a:rPr lang="fr-BE"/>
              <a:t>Exemple</a:t>
            </a:r>
          </a:p>
          <a:p>
            <a:pPr marL="457189" lvl="1" indent="0">
              <a:buNone/>
            </a:pPr>
            <a:r>
              <a:rPr lang="fr-BE" b="1">
                <a:solidFill>
                  <a:srgbClr val="A87236"/>
                </a:solidFill>
                <a:latin typeface="Courier New" panose="02070309020205020404" pitchFamily="49" charset="0"/>
              </a:rPr>
              <a:t>exo23.php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F5EE5DD4-5A9A-4CC8-945B-37488BDE024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0013"/>
          <a:stretch/>
        </p:blipFill>
        <p:spPr>
          <a:xfrm>
            <a:off x="6666337" y="2991333"/>
            <a:ext cx="5525663" cy="386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976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B683B5E-527F-4FAF-A9A8-B99D82D4E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Exo 24 : PHP et JSON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8F0CB6A-D7FC-46AB-98A2-18F7BFC37D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BE"/>
              <a:t>Données JSON : </a:t>
            </a:r>
            <a:r>
              <a:rPr lang="fr-BE">
                <a:solidFill>
                  <a:schemeClr val="accent2"/>
                </a:solidFill>
              </a:rPr>
              <a:t>produites par votre serveur</a:t>
            </a:r>
            <a:r>
              <a:rPr lang="fr-BE"/>
              <a:t> (export)</a:t>
            </a:r>
            <a:endParaRPr lang="fr-BE">
              <a:solidFill>
                <a:schemeClr val="accent2"/>
              </a:solidFill>
            </a:endParaRPr>
          </a:p>
          <a:p>
            <a:r>
              <a:rPr lang="fr-BE"/>
              <a:t>Fonctions PHP : </a:t>
            </a:r>
          </a:p>
          <a:p>
            <a:pPr marL="457189" lvl="1" indent="0">
              <a:buNone/>
            </a:pPr>
            <a:r>
              <a:rPr lang="fr-BE" b="1">
                <a:solidFill>
                  <a:srgbClr val="A87236"/>
                </a:solidFill>
                <a:latin typeface="Courier New" panose="02070309020205020404" pitchFamily="49" charset="0"/>
              </a:rPr>
              <a:t>json_encode()</a:t>
            </a:r>
          </a:p>
          <a:p>
            <a:r>
              <a:rPr lang="fr-BE"/>
              <a:t>Exemple :  </a:t>
            </a:r>
          </a:p>
          <a:p>
            <a:pPr marL="457189" lvl="1" indent="0">
              <a:buNone/>
            </a:pPr>
            <a:r>
              <a:rPr lang="fr-BE" b="1">
                <a:solidFill>
                  <a:srgbClr val="A87236"/>
                </a:solidFill>
                <a:latin typeface="Courier New" panose="02070309020205020404" pitchFamily="49" charset="0"/>
              </a:rPr>
              <a:t>exo24.php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F5EE5DD4-5A9A-4CC8-945B-37488BDE024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0013"/>
          <a:stretch/>
        </p:blipFill>
        <p:spPr>
          <a:xfrm>
            <a:off x="6666337" y="2991333"/>
            <a:ext cx="5525663" cy="386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713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057842F-FE9C-4C5C-B71D-94531D967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json_encode()</a:t>
            </a:r>
            <a:endParaRPr lang="fr-BE"/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056C7F62-CA92-4433-BA15-518470B259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1">
            <a:normAutofit fontScale="85000" lnSpcReduction="10000"/>
          </a:bodyPr>
          <a:lstStyle/>
          <a:p>
            <a:r>
              <a:rPr lang="fr-BE"/>
              <a:t>Pour convertir un </a:t>
            </a:r>
            <a:r>
              <a:rPr lang="fr-BE">
                <a:solidFill>
                  <a:schemeClr val="accent2"/>
                </a:solidFill>
              </a:rPr>
              <a:t>objet</a:t>
            </a:r>
            <a:r>
              <a:rPr lang="fr-BE"/>
              <a:t> ou un </a:t>
            </a:r>
            <a:r>
              <a:rPr lang="fr-BE">
                <a:solidFill>
                  <a:schemeClr val="accent2"/>
                </a:solidFill>
              </a:rPr>
              <a:t>assoc array</a:t>
            </a:r>
            <a:r>
              <a:rPr lang="fr-BE"/>
              <a:t> PHP en un string JSON</a:t>
            </a:r>
          </a:p>
          <a:p>
            <a:pPr marL="0" indent="0" algn="ctr">
              <a:buNone/>
            </a:pPr>
            <a:r>
              <a:rPr lang="fr-BE" sz="3000" b="1">
                <a:solidFill>
                  <a:srgbClr val="A87236"/>
                </a:solidFill>
                <a:latin typeface="Courier New" panose="02070309020205020404" pitchFamily="49" charset="0"/>
              </a:rPr>
              <a:t>$json_str = json_encode( $array, $flags );</a:t>
            </a:r>
          </a:p>
          <a:p>
            <a:r>
              <a:rPr lang="fr-BE"/>
              <a:t>Params</a:t>
            </a:r>
          </a:p>
          <a:p>
            <a:pPr lvl="1"/>
            <a:r>
              <a:rPr lang="fr-BE" b="1">
                <a:solidFill>
                  <a:srgbClr val="A87236"/>
                </a:solidFill>
                <a:latin typeface="Courier New" panose="02070309020205020404" pitchFamily="49" charset="0"/>
              </a:rPr>
              <a:t>$</a:t>
            </a:r>
            <a:r>
              <a:rPr lang="fr-BE" sz="3200" b="1">
                <a:solidFill>
                  <a:srgbClr val="A87236"/>
                </a:solidFill>
                <a:latin typeface="Courier New" panose="02070309020205020404" pitchFamily="49" charset="0"/>
              </a:rPr>
              <a:t>array</a:t>
            </a:r>
            <a:r>
              <a:rPr lang="fr-BE"/>
              <a:t> : les données sous format object ou assoc array ou …</a:t>
            </a:r>
          </a:p>
          <a:p>
            <a:pPr lvl="1"/>
            <a:r>
              <a:rPr lang="fr-BE" b="1">
                <a:solidFill>
                  <a:srgbClr val="A87236"/>
                </a:solidFill>
                <a:latin typeface="Courier New" panose="02070309020205020404" pitchFamily="49" charset="0"/>
              </a:rPr>
              <a:t>$</a:t>
            </a:r>
            <a:r>
              <a:rPr lang="fr-BE" sz="3200" b="1">
                <a:solidFill>
                  <a:srgbClr val="A87236"/>
                </a:solidFill>
                <a:latin typeface="Courier New" panose="02070309020205020404" pitchFamily="49" charset="0"/>
              </a:rPr>
              <a:t>flags</a:t>
            </a:r>
            <a:r>
              <a:rPr lang="fr-BE"/>
              <a:t> : </a:t>
            </a:r>
          </a:p>
          <a:p>
            <a:pPr marL="914377" lvl="2" indent="0">
              <a:buNone/>
            </a:pPr>
            <a:r>
              <a:rPr lang="fr-BE" b="1">
                <a:solidFill>
                  <a:srgbClr val="A87236"/>
                </a:solidFill>
                <a:latin typeface="Courier New" panose="02070309020205020404" pitchFamily="49" charset="0"/>
              </a:rPr>
              <a:t>JSON_HEX_TAG</a:t>
            </a:r>
          </a:p>
          <a:p>
            <a:pPr marL="914377" lvl="2" indent="0">
              <a:buNone/>
            </a:pPr>
            <a:r>
              <a:rPr lang="fr-BE" b="1">
                <a:solidFill>
                  <a:srgbClr val="A87236"/>
                </a:solidFill>
                <a:latin typeface="Courier New" panose="02070309020205020404" pitchFamily="49" charset="0"/>
              </a:rPr>
              <a:t>JSON_PRETTY_PRINT</a:t>
            </a:r>
          </a:p>
          <a:p>
            <a:pPr marL="914377" lvl="2" indent="0">
              <a:buNone/>
            </a:pPr>
            <a:r>
              <a:rPr lang="fr-BE" b="1">
                <a:solidFill>
                  <a:srgbClr val="A87236"/>
                </a:solidFill>
                <a:latin typeface="Courier New" panose="02070309020205020404" pitchFamily="49" charset="0"/>
              </a:rPr>
              <a:t>JSON_FORCE_OBJECT</a:t>
            </a:r>
            <a:r>
              <a:rPr lang="fr-BE"/>
              <a:t> etc.</a:t>
            </a:r>
          </a:p>
          <a:p>
            <a:r>
              <a:rPr lang="fr-BE"/>
              <a:t>Référence </a:t>
            </a:r>
          </a:p>
          <a:p>
            <a:pPr lvl="1"/>
            <a:r>
              <a:rPr lang="fr-BE" sz="2400"/>
              <a:t>https://www.php.net/manual/fr/function.json-encode.php</a:t>
            </a:r>
          </a:p>
          <a:p>
            <a:pPr lvl="1"/>
            <a:r>
              <a:rPr lang="fr-BE" sz="2400"/>
              <a:t>https://www.php.net/manual/fr/json.constants.php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17AD5A3B-DAE2-4AED-80BB-7D7CAB74632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3696" b="10423"/>
          <a:stretch/>
        </p:blipFill>
        <p:spPr>
          <a:xfrm>
            <a:off x="7669161" y="3760379"/>
            <a:ext cx="4522839" cy="3137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0807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261703-2300-702C-2E06-D01B548F2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B5344A4-B9D3-65A1-45B9-E790F55D8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API (REST)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0FF96B3-3196-B85E-D3EA-8A8B6D27C1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pour une image  3">
            <a:extLst>
              <a:ext uri="{FF2B5EF4-FFF2-40B4-BE49-F238E27FC236}">
                <a16:creationId xmlns:a16="http://schemas.microsoft.com/office/drawing/2014/main" id="{E8C94FCA-6B43-71AB-9C29-6632D306F6C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092087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AB8BAAA0-DFBF-45A2-7D54-50E3F54BA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API : Principe 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ACD84B2-D47A-047C-6F54-1EAFA84CC0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BE"/>
              <a:t>Application Programming Interface</a:t>
            </a:r>
          </a:p>
          <a:p>
            <a:r>
              <a:rPr lang="fr-BE"/>
              <a:t>Ensemble de définitions et de protocoles qui permettent à un logiciel de communiquer avec un autre logiciel</a:t>
            </a:r>
          </a:p>
          <a:p>
            <a:r>
              <a:rPr lang="fr-BE"/>
              <a:t>Architecture client-serveur</a:t>
            </a:r>
          </a:p>
          <a:p>
            <a:r>
              <a:rPr lang="fr-BE"/>
              <a:t>Scénario</a:t>
            </a:r>
          </a:p>
          <a:p>
            <a:pPr lvl="1"/>
            <a:r>
              <a:rPr lang="fr-BE"/>
              <a:t>L'application cliente envoie une demande à l'application serveur via une API. </a:t>
            </a:r>
          </a:p>
          <a:p>
            <a:pPr lvl="1"/>
            <a:r>
              <a:rPr lang="fr-BE"/>
              <a:t>L'application serveur répond ensuite à la demande de l'application cliente en renvoyant les données demandées. </a:t>
            </a:r>
          </a:p>
          <a:p>
            <a:pPr lvl="1"/>
            <a:r>
              <a:rPr lang="fr-BE"/>
              <a:t>format des données : JSON, XML, ou CSV.</a:t>
            </a:r>
          </a:p>
        </p:txBody>
      </p:sp>
    </p:spTree>
    <p:extLst>
      <p:ext uri="{BB962C8B-B14F-4D97-AF65-F5344CB8AC3E}">
        <p14:creationId xmlns:p14="http://schemas.microsoft.com/office/powerpoint/2010/main" val="2483399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0BE1F94-3FA2-819C-095D-513BA6F85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API : Applications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2843A32-439D-3DC8-E2A5-12855858E2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BE"/>
              <a:t>récupération de données</a:t>
            </a:r>
          </a:p>
          <a:p>
            <a:r>
              <a:rPr lang="fr-BE"/>
              <a:t>envoi de données</a:t>
            </a:r>
          </a:p>
          <a:p>
            <a:r>
              <a:rPr lang="fr-BE"/>
              <a:t>automatisation de tâches</a:t>
            </a:r>
          </a:p>
          <a:p>
            <a:r>
              <a:rPr lang="fr-BE"/>
              <a:t>ajouter des fonctionnalités à une application</a:t>
            </a:r>
          </a:p>
          <a:p>
            <a:r>
              <a:rPr lang="fr-BE"/>
              <a:t>améliorer l'expérience utilisateur</a:t>
            </a:r>
          </a:p>
          <a:p>
            <a:pPr lvl="1"/>
            <a:r>
              <a:rPr lang="fr-BE"/>
              <a:t>Par exemple, une application de planification de voyage peut utiliser l'API Google Maps pour afficher une carte et les directions vers une destination.</a:t>
            </a:r>
          </a:p>
        </p:txBody>
      </p:sp>
    </p:spTree>
    <p:extLst>
      <p:ext uri="{BB962C8B-B14F-4D97-AF65-F5344CB8AC3E}">
        <p14:creationId xmlns:p14="http://schemas.microsoft.com/office/powerpoint/2010/main" val="2923473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7EAAE69-F023-A16C-AC8E-05B05F086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API : Types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799EF4B-A4B1-3798-F25C-E824AB25C0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 spcCol="180000">
            <a:normAutofit/>
          </a:bodyPr>
          <a:lstStyle/>
          <a:p>
            <a:r>
              <a:rPr lang="fr-BE">
                <a:solidFill>
                  <a:schemeClr val="accent2"/>
                </a:solidFill>
              </a:rPr>
              <a:t>API REST</a:t>
            </a:r>
          </a:p>
          <a:p>
            <a:pPr lvl="1"/>
            <a:r>
              <a:rPr lang="fr-BE"/>
              <a:t>protocoles HTTP, HTTPS</a:t>
            </a:r>
          </a:p>
          <a:p>
            <a:pPr lvl="1"/>
            <a:r>
              <a:rPr lang="fr-BE"/>
              <a:t>méthodes GET, POST</a:t>
            </a:r>
          </a:p>
          <a:p>
            <a:r>
              <a:rPr lang="fr-BE"/>
              <a:t>API SOAP</a:t>
            </a:r>
          </a:p>
          <a:p>
            <a:pPr lvl="1"/>
            <a:r>
              <a:rPr lang="fr-BE"/>
              <a:t>via XML</a:t>
            </a:r>
          </a:p>
          <a:p>
            <a:pPr lvl="1"/>
            <a:r>
              <a:rPr lang="fr-BE"/>
              <a:t>plus rigide et plus formel que REST </a:t>
            </a:r>
          </a:p>
          <a:p>
            <a:r>
              <a:rPr lang="fr-BE"/>
              <a:t>API de bibliothèque</a:t>
            </a:r>
          </a:p>
          <a:p>
            <a:pPr lvl="1"/>
            <a:r>
              <a:rPr lang="fr-BE"/>
              <a:t>API internes permettant à un logiciel de communiquer avec les bibliothèques système.</a:t>
            </a:r>
          </a:p>
          <a:p>
            <a:r>
              <a:rPr lang="fr-BE"/>
              <a:t>API modernes:</a:t>
            </a:r>
          </a:p>
          <a:p>
            <a:pPr lvl="1"/>
            <a:r>
              <a:rPr lang="fr-BE"/>
              <a:t>GraphQL (Facebook)</a:t>
            </a:r>
          </a:p>
          <a:p>
            <a:pPr lvl="1"/>
            <a:r>
              <a:rPr lang="fr-BE"/>
              <a:t>gRPC (Google)</a:t>
            </a:r>
          </a:p>
          <a:p>
            <a:pPr lvl="1"/>
            <a:r>
              <a:rPr lang="fr-BE"/>
              <a:t>Websockets</a:t>
            </a:r>
          </a:p>
          <a:p>
            <a:pPr lvl="1"/>
            <a:r>
              <a:rPr lang="fr-BE"/>
              <a:t>Webhooks</a:t>
            </a:r>
          </a:p>
        </p:txBody>
      </p:sp>
    </p:spTree>
    <p:extLst>
      <p:ext uri="{BB962C8B-B14F-4D97-AF65-F5344CB8AC3E}">
        <p14:creationId xmlns:p14="http://schemas.microsoft.com/office/powerpoint/2010/main" val="3677785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061CA42-4BBA-9144-870C-D6AB15BE8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Exo 33 : log-in, log-out avec API et JSON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9615DAA-9256-879B-05B5-96C11DDDE3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9"/>
            <a:ext cx="11186652" cy="4486276"/>
          </a:xfrm>
        </p:spPr>
        <p:txBody>
          <a:bodyPr numCol="2" spcCol="180000">
            <a:normAutofit/>
          </a:bodyPr>
          <a:lstStyle/>
          <a:p>
            <a:r>
              <a:rPr lang="fr-BE"/>
              <a:t>Corollaire à chap. 22, exo 24.</a:t>
            </a:r>
          </a:p>
          <a:p>
            <a:pPr lvl="1"/>
            <a:r>
              <a:rPr lang="fr-BE"/>
              <a:t>mécanisme de log-in</a:t>
            </a:r>
          </a:p>
          <a:p>
            <a:pPr lvl="1"/>
            <a:r>
              <a:rPr lang="fr-BE"/>
              <a:t>nom et mot de passe</a:t>
            </a:r>
          </a:p>
          <a:p>
            <a:pPr lvl="1"/>
            <a:r>
              <a:rPr lang="fr-BE"/>
              <a:t>identification permanente : 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$_SESSION</a:t>
            </a:r>
          </a:p>
          <a:p>
            <a:r>
              <a:rPr lang="fr-BE"/>
              <a:t>Mais </a:t>
            </a:r>
          </a:p>
          <a:p>
            <a:pPr lvl="1"/>
            <a:r>
              <a:rPr lang="fr-BE"/>
              <a:t>Validation sur un serveur extérieur</a:t>
            </a:r>
          </a:p>
          <a:p>
            <a:r>
              <a:rPr lang="fr-BE"/>
              <a:t>Envoi des données</a:t>
            </a:r>
          </a:p>
          <a:p>
            <a:pPr lvl="1"/>
            <a:r>
              <a:rPr lang="fr-BE"/>
              <a:t>GET : simple</a:t>
            </a:r>
          </a:p>
          <a:p>
            <a:pPr lvl="1"/>
            <a:r>
              <a:rPr lang="fr-BE"/>
              <a:t>POST : sécurisé</a:t>
            </a:r>
          </a:p>
          <a:p>
            <a:r>
              <a:rPr lang="fr-BE"/>
              <a:t>Retour : format JSON</a:t>
            </a:r>
          </a:p>
          <a:p>
            <a:pPr marL="457189" lvl="1" indent="0">
              <a:buNone/>
            </a:pPr>
            <a:r>
              <a:rPr lang="en-US" sz="24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 {</a:t>
            </a:r>
          </a:p>
          <a:p>
            <a:pPr marL="457189" lvl="1" indent="0">
              <a:buNone/>
            </a:pPr>
            <a:r>
              <a:rPr lang="en-US" sz="24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    "identified": true,</a:t>
            </a:r>
          </a:p>
          <a:p>
            <a:pPr marL="457189" lvl="1" indent="0">
              <a:buNone/>
            </a:pPr>
            <a:r>
              <a:rPr lang="en-US" sz="24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    "name": "Luke Skywalker",</a:t>
            </a:r>
          </a:p>
          <a:p>
            <a:pPr marL="457189" lvl="1" indent="0">
              <a:buNone/>
            </a:pPr>
            <a:r>
              <a:rPr lang="en-US" sz="24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    "role": "user"</a:t>
            </a:r>
          </a:p>
          <a:p>
            <a:pPr marL="457189" lvl="1" indent="0">
              <a:buNone/>
            </a:pPr>
            <a:r>
              <a:rPr lang="en-US" sz="24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 }</a:t>
            </a:r>
          </a:p>
        </p:txBody>
      </p:sp>
    </p:spTree>
    <p:extLst>
      <p:ext uri="{BB962C8B-B14F-4D97-AF65-F5344CB8AC3E}">
        <p14:creationId xmlns:p14="http://schemas.microsoft.com/office/powerpoint/2010/main" val="4058950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6ABA0-D1F2-46AC-FF70-344606AAB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9995020-009C-EE96-650C-E420BCD70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fr-BE"/>
              <a:t>Exo 33 : log-in, log-out avec API et JSON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BAEE1D2-3EF7-2C2F-4040-00F5D692B4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9"/>
            <a:ext cx="10515600" cy="4486276"/>
          </a:xfrm>
        </p:spPr>
        <p:txBody>
          <a:bodyPr numCol="1" spcCol="180000">
            <a:normAutofit/>
          </a:bodyPr>
          <a:lstStyle/>
          <a:p>
            <a:r>
              <a:rPr lang="fr-BE"/>
              <a:t>Envoi des données GET  :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validate_get()</a:t>
            </a:r>
          </a:p>
          <a:p>
            <a:pPr lvl="1"/>
            <a:r>
              <a:rPr lang="fr-BE"/>
              <a:t>construire un URL tel que </a:t>
            </a:r>
            <a:br>
              <a:rPr lang="fr-BE"/>
            </a:b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http://….php?login=user&amp;passwd=user</a:t>
            </a:r>
            <a:b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</a:br>
            <a:r>
              <a:rPr lang="fr-BE"/>
              <a:t>avec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http_build_query()</a:t>
            </a:r>
          </a:p>
          <a:p>
            <a:pPr lvl="1"/>
            <a:r>
              <a:rPr lang="fr-BE"/>
              <a:t>appeler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file_get_contents($uri)</a:t>
            </a:r>
          </a:p>
          <a:p>
            <a:pPr lvl="1"/>
            <a:r>
              <a:rPr lang="fr-BE"/>
              <a:t>traiter le retour</a:t>
            </a:r>
          </a:p>
        </p:txBody>
      </p:sp>
    </p:spTree>
    <p:extLst>
      <p:ext uri="{BB962C8B-B14F-4D97-AF65-F5344CB8AC3E}">
        <p14:creationId xmlns:p14="http://schemas.microsoft.com/office/powerpoint/2010/main" val="3650656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98FFF-1C03-9752-D476-01B008C48C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06CEEA9-E54E-19BE-AB3F-33C7BA300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fr-BE"/>
              <a:t>Exo 33 : log-in, log-out avec API et JSON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305E6DB-763C-4148-8F8E-43B7E3DE33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5167311"/>
          </a:xfrm>
        </p:spPr>
        <p:txBody>
          <a:bodyPr numCol="1" spcCol="180000">
            <a:normAutofit lnSpcReduction="10000"/>
          </a:bodyPr>
          <a:lstStyle/>
          <a:p>
            <a:r>
              <a:rPr lang="fr-BE"/>
              <a:t>Envoi des données POST :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validate_post()</a:t>
            </a:r>
            <a:endParaRPr lang="fr-BE"/>
          </a:p>
          <a:p>
            <a:pPr lvl="1"/>
            <a:r>
              <a:rPr lang="fr-BE"/>
              <a:t>URL tel que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https://….php</a:t>
            </a:r>
            <a:r>
              <a:rPr lang="fr-BE"/>
              <a:t> (sans param)</a:t>
            </a:r>
          </a:p>
          <a:p>
            <a:pPr lvl="1"/>
            <a:r>
              <a:rPr lang="fr-BE"/>
              <a:t>URL param : idem GET </a:t>
            </a:r>
          </a:p>
          <a:p>
            <a:pPr lvl="1"/>
            <a:r>
              <a:rPr lang="fr-BE"/>
              <a:t>créer un "contexte" tel que 	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	</a:t>
            </a:r>
            <a:b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</a:b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   </a:t>
            </a:r>
            <a:r>
              <a:rPr lang="en-US">
                <a:solidFill>
                  <a:srgbClr val="996633"/>
                </a:solidFill>
                <a:latin typeface="Consolas" panose="020B0609020204030204" pitchFamily="49" charset="0"/>
              </a:rPr>
              <a:t>"http" =&gt; [</a:t>
            </a:r>
            <a:br>
              <a:rPr lang="en-US">
                <a:solidFill>
                  <a:srgbClr val="996633"/>
                </a:solidFill>
                <a:latin typeface="Consolas" panose="020B0609020204030204" pitchFamily="49" charset="0"/>
              </a:rPr>
            </a:br>
            <a:r>
              <a:rPr lang="en-US">
                <a:solidFill>
                  <a:srgbClr val="996633"/>
                </a:solidFill>
                <a:latin typeface="Consolas" panose="020B0609020204030204" pitchFamily="49" charset="0"/>
              </a:rPr>
              <a:t>       "method"  =&gt; "POST",</a:t>
            </a:r>
            <a:br>
              <a:rPr lang="en-US">
                <a:solidFill>
                  <a:srgbClr val="996633"/>
                </a:solidFill>
                <a:latin typeface="Consolas" panose="020B0609020204030204" pitchFamily="49" charset="0"/>
              </a:rPr>
            </a:br>
            <a:r>
              <a:rPr lang="en-US">
                <a:solidFill>
                  <a:srgbClr val="996633"/>
                </a:solidFill>
                <a:latin typeface="Consolas" panose="020B0609020204030204" pitchFamily="49" charset="0"/>
              </a:rPr>
              <a:t>       "header"  =&gt; "Content-Type: …" .</a:t>
            </a:r>
            <a:br>
              <a:rPr lang="en-US">
                <a:solidFill>
                  <a:srgbClr val="996633"/>
                </a:solidFill>
                <a:latin typeface="Consolas" panose="020B0609020204030204" pitchFamily="49" charset="0"/>
              </a:rPr>
            </a:br>
            <a:r>
              <a:rPr lang="en-US">
                <a:solidFill>
                  <a:srgbClr val="996633"/>
                </a:solidFill>
                <a:latin typeface="Consolas" panose="020B0609020204030204" pitchFamily="49" charset="0"/>
              </a:rPr>
              <a:t>       "content" =&gt; $uri_param_s,</a:t>
            </a:r>
            <a:br>
              <a:rPr lang="en-US">
                <a:solidFill>
                  <a:srgbClr val="996633"/>
                </a:solidFill>
                <a:latin typeface="Consolas" panose="020B0609020204030204" pitchFamily="49" charset="0"/>
              </a:rPr>
            </a:br>
            <a:r>
              <a:rPr lang="en-US">
                <a:solidFill>
                  <a:srgbClr val="996633"/>
                </a:solidFill>
                <a:latin typeface="Consolas" panose="020B0609020204030204" pitchFamily="49" charset="0"/>
              </a:rPr>
              <a:t>   ]</a:t>
            </a:r>
          </a:p>
          <a:p>
            <a:pPr lvl="1"/>
            <a:r>
              <a:rPr lang="fr-BE"/>
              <a:t>appeler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file_get_contents($uri, false, $context)</a:t>
            </a:r>
          </a:p>
          <a:p>
            <a:pPr lvl="1"/>
            <a:r>
              <a:rPr lang="fr-BE"/>
              <a:t>traiter le retour</a:t>
            </a:r>
          </a:p>
          <a:p>
            <a:pPr lvl="1"/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641517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1_burotix">
  <a:themeElements>
    <a:clrScheme name="Custom 4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0DD3D1"/>
      </a:accent1>
      <a:accent2>
        <a:srgbClr val="1963A1"/>
      </a:accent2>
      <a:accent3>
        <a:srgbClr val="E5CBAD"/>
      </a:accent3>
      <a:accent4>
        <a:srgbClr val="5DF5F3"/>
      </a:accent4>
      <a:accent5>
        <a:srgbClr val="56A4E4"/>
      </a:accent5>
      <a:accent6>
        <a:srgbClr val="EFDFCD"/>
      </a:accent6>
      <a:hlink>
        <a:srgbClr val="000000"/>
      </a:hlink>
      <a:folHlink>
        <a:srgbClr val="3F3F3F"/>
      </a:folHlink>
    </a:clrScheme>
    <a:fontScheme name="Garamond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olides discret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urotix2025.potm" id="{9A679E22-159F-4468-BD25-5554C2F5C34C}" vid="{02412E46-CBBA-45C1-A7EE-8401C077A5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burotix2020</Template>
  <TotalTime>13121</TotalTime>
  <Words>1021</Words>
  <Application>Microsoft Office PowerPoint</Application>
  <PresentationFormat>Grand écran</PresentationFormat>
  <Paragraphs>167</Paragraphs>
  <Slides>23</Slides>
  <Notes>6</Notes>
  <HiddenSlides>0</HiddenSlides>
  <MMClips>0</MMClips>
  <ScaleCrop>false</ScaleCrop>
  <HeadingPairs>
    <vt:vector size="8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23</vt:i4>
      </vt:variant>
      <vt:variant>
        <vt:lpstr>Diaporamas personnalisés</vt:lpstr>
      </vt:variant>
      <vt:variant>
        <vt:i4>1</vt:i4>
      </vt:variant>
    </vt:vector>
  </HeadingPairs>
  <TitlesOfParts>
    <vt:vector size="31" baseType="lpstr">
      <vt:lpstr>Arial</vt:lpstr>
      <vt:lpstr>Calibri</vt:lpstr>
      <vt:lpstr>Consolas</vt:lpstr>
      <vt:lpstr>Courier New</vt:lpstr>
      <vt:lpstr>Garamond</vt:lpstr>
      <vt:lpstr>Wingdings</vt:lpstr>
      <vt:lpstr>1_burotix</vt:lpstr>
      <vt:lpstr>Bachelier en Informatique de Gestion  Web : principes de base Projet de Développement Web</vt:lpstr>
      <vt:lpstr>Table des matières</vt:lpstr>
      <vt:lpstr>26. Intégration de données NoSQL</vt:lpstr>
      <vt:lpstr>XML : intégration en PHP</vt:lpstr>
      <vt:lpstr>Exo 11 : PHP et XML</vt:lpstr>
      <vt:lpstr>simplexml_load_string()</vt:lpstr>
      <vt:lpstr>Exo 12 : PHP et XML</vt:lpstr>
      <vt:lpstr>simplexml_load_file()</vt:lpstr>
      <vt:lpstr>Exo 13 : PHP et XML</vt:lpstr>
      <vt:lpstr>Exo 18 : PHP et XML</vt:lpstr>
      <vt:lpstr>JSON : intégration en PHP</vt:lpstr>
      <vt:lpstr>Exo 21 : PHP et JSON</vt:lpstr>
      <vt:lpstr>json_decode()</vt:lpstr>
      <vt:lpstr>Exo 23 : PHP et JSON</vt:lpstr>
      <vt:lpstr>Exo 24 : PHP et JSON</vt:lpstr>
      <vt:lpstr>json_encode()</vt:lpstr>
      <vt:lpstr>API (REST)</vt:lpstr>
      <vt:lpstr>API : Principe </vt:lpstr>
      <vt:lpstr>API : Applications</vt:lpstr>
      <vt:lpstr>API : Types</vt:lpstr>
      <vt:lpstr>Exo 33 : log-in, log-out avec API et JSON</vt:lpstr>
      <vt:lpstr>Exo 33 : log-in, log-out avec API et JSON</vt:lpstr>
      <vt:lpstr>Exo 33 : log-in, log-out avec API et JSON</vt:lpstr>
      <vt:lpstr>cefora powerpoint base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Alain Wafflard</dc:creator>
  <cp:lastModifiedBy>Alain Wafflard</cp:lastModifiedBy>
  <cp:revision>153</cp:revision>
  <dcterms:created xsi:type="dcterms:W3CDTF">2020-03-25T16:55:22Z</dcterms:created>
  <dcterms:modified xsi:type="dcterms:W3CDTF">2026-09-07T12:05:12Z</dcterms:modified>
</cp:coreProperties>
</file>