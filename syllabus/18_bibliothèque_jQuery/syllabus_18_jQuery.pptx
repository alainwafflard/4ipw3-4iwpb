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6" r:id="rId1"/>
  </p:sldMasterIdLst>
  <p:notesMasterIdLst>
    <p:notesMasterId r:id="rId51"/>
  </p:notesMasterIdLst>
  <p:sldIdLst>
    <p:sldId id="416" r:id="rId2"/>
    <p:sldId id="408" r:id="rId3"/>
    <p:sldId id="521" r:id="rId4"/>
    <p:sldId id="549" r:id="rId5"/>
    <p:sldId id="648" r:id="rId6"/>
    <p:sldId id="520" r:id="rId7"/>
    <p:sldId id="522" r:id="rId8"/>
    <p:sldId id="526" r:id="rId9"/>
    <p:sldId id="550" r:id="rId10"/>
    <p:sldId id="523" r:id="rId11"/>
    <p:sldId id="527" r:id="rId12"/>
    <p:sldId id="528" r:id="rId13"/>
    <p:sldId id="529" r:id="rId14"/>
    <p:sldId id="530" r:id="rId15"/>
    <p:sldId id="551" r:id="rId16"/>
    <p:sldId id="557" r:id="rId17"/>
    <p:sldId id="558" r:id="rId18"/>
    <p:sldId id="556" r:id="rId19"/>
    <p:sldId id="531" r:id="rId20"/>
    <p:sldId id="532" r:id="rId21"/>
    <p:sldId id="533" r:id="rId22"/>
    <p:sldId id="552" r:id="rId23"/>
    <p:sldId id="534" r:id="rId24"/>
    <p:sldId id="541" r:id="rId25"/>
    <p:sldId id="544" r:id="rId26"/>
    <p:sldId id="547" r:id="rId27"/>
    <p:sldId id="535" r:id="rId28"/>
    <p:sldId id="536" r:id="rId29"/>
    <p:sldId id="537" r:id="rId30"/>
    <p:sldId id="545" r:id="rId31"/>
    <p:sldId id="542" r:id="rId32"/>
    <p:sldId id="543" r:id="rId33"/>
    <p:sldId id="560" r:id="rId34"/>
    <p:sldId id="554" r:id="rId35"/>
    <p:sldId id="597" r:id="rId36"/>
    <p:sldId id="596" r:id="rId37"/>
    <p:sldId id="555" r:id="rId38"/>
    <p:sldId id="563" r:id="rId39"/>
    <p:sldId id="564" r:id="rId40"/>
    <p:sldId id="561" r:id="rId41"/>
    <p:sldId id="565" r:id="rId42"/>
    <p:sldId id="562" r:id="rId43"/>
    <p:sldId id="559" r:id="rId44"/>
    <p:sldId id="599" r:id="rId45"/>
    <p:sldId id="553" r:id="rId46"/>
    <p:sldId id="539" r:id="rId47"/>
    <p:sldId id="540" r:id="rId48"/>
    <p:sldId id="587" r:id="rId49"/>
    <p:sldId id="588" r:id="rId50"/>
  </p:sldIdLst>
  <p:sldSz cx="12192000" cy="6858000"/>
  <p:notesSz cx="6858000" cy="9144000"/>
  <p:custShowLst>
    <p:custShow name="cefora powerpoint base" id="0">
      <p:sldLst/>
    </p:custShow>
  </p:custShowLst>
  <p:defaultTextStyle>
    <a:defPPr>
      <a:defRPr lang="fr-FR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6. Framework jQuery" id="{B4694868-2706-4676-A620-E60219551CC9}">
          <p14:sldIdLst>
            <p14:sldId id="416"/>
            <p14:sldId id="408"/>
            <p14:sldId id="521"/>
            <p14:sldId id="549"/>
            <p14:sldId id="648"/>
            <p14:sldId id="520"/>
            <p14:sldId id="522"/>
            <p14:sldId id="526"/>
            <p14:sldId id="550"/>
            <p14:sldId id="523"/>
            <p14:sldId id="527"/>
            <p14:sldId id="528"/>
            <p14:sldId id="529"/>
            <p14:sldId id="530"/>
            <p14:sldId id="551"/>
            <p14:sldId id="557"/>
            <p14:sldId id="558"/>
            <p14:sldId id="556"/>
            <p14:sldId id="531"/>
            <p14:sldId id="532"/>
            <p14:sldId id="533"/>
            <p14:sldId id="552"/>
            <p14:sldId id="534"/>
            <p14:sldId id="541"/>
            <p14:sldId id="544"/>
            <p14:sldId id="547"/>
            <p14:sldId id="535"/>
            <p14:sldId id="536"/>
            <p14:sldId id="537"/>
            <p14:sldId id="545"/>
            <p14:sldId id="542"/>
            <p14:sldId id="543"/>
            <p14:sldId id="560"/>
            <p14:sldId id="554"/>
            <p14:sldId id="597"/>
            <p14:sldId id="596"/>
            <p14:sldId id="555"/>
            <p14:sldId id="563"/>
            <p14:sldId id="564"/>
            <p14:sldId id="561"/>
            <p14:sldId id="565"/>
            <p14:sldId id="562"/>
            <p14:sldId id="559"/>
            <p14:sldId id="599"/>
            <p14:sldId id="553"/>
            <p14:sldId id="539"/>
            <p14:sldId id="540"/>
            <p14:sldId id="587"/>
            <p14:sldId id="5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ain Wafflard" initials="AW" lastIdx="1" clrIdx="0">
    <p:extLst>
      <p:ext uri="{19B8F6BF-5375-455C-9EA6-DF929625EA0E}">
        <p15:presenceInfo xmlns:p15="http://schemas.microsoft.com/office/powerpoint/2012/main" userId="76bb5ce92a207b2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FF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50" autoAdjust="0"/>
    <p:restoredTop sz="86419" autoAdjust="0"/>
  </p:normalViewPr>
  <p:slideViewPr>
    <p:cSldViewPr snapToGrid="0">
      <p:cViewPr varScale="1">
        <p:scale>
          <a:sx n="59" d="100"/>
          <a:sy n="59" d="100"/>
        </p:scale>
        <p:origin x="96" y="92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3552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E9742F-4DAE-47F5-9244-6ACC3985DD6B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3842A0-1A3F-4998-8237-CE5EEE5DFDF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55606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BE"/>
              <a:t>1</a:t>
            </a:fld>
            <a:endParaRPr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GESTIONNAIRE DE BASE DE DONNEES – NIVEAU ELEMENTAIRE - MS ACCESS</a:t>
            </a: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BE"/>
              <a:t>Professeur : Alain Wafflard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4885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3842A0-1A3F-4998-8237-CE5EEE5DFDF0}" type="slidenum">
              <a:rPr lang="fr-BE" smtClean="0"/>
              <a:t>40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40601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solidFill>
            <a:schemeClr val="accent3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 algn="ctr"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8EFA58-10A1-BAA7-B65E-A754A43B7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4B8606-B65F-6EB2-899E-91B5C83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2FA919-3ED3-80D3-E61B-53F97BE6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967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8EF8D-0946-4672-F93D-1040FBC99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8A40D7-7FAD-432F-7B9F-71125A565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A3E5DF-3F32-A840-9AC0-4B04DF13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7661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D67B63-F450-35EF-442C-62311487D2F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BC20ED6-7274-FD2F-773B-9069D53732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B282271-26EC-908B-2E9D-6EE95CFBEB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2336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8BD7575-5E4D-B6F7-D511-002E7EBB1A2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57AA542-0BD3-6896-CFBC-925661457ED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F1D4A95-E4A4-1574-4F11-DE8F1961354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79881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90689"/>
            <a:ext cx="5181600" cy="44862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3EE368-836F-D6B7-3720-94E515B8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0FC0D1-460C-5274-B67A-CADD301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D5E82B2-87DB-8B8E-12FD-843E81352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098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05DBAD-E815-DA9F-C843-1DE122AA5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344211E-58E3-3B61-D18C-DCC7772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5F2F6A2-3605-D138-CBD4-299C105E1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6104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B23E5C8-1D92-E25A-D482-9866759B5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5ACAADE-10AC-A5C6-B021-C668BC206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4BD460E-C94D-0F17-7C77-D32F9CC12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7734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942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57200"/>
            <a:ext cx="617220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33BACDB-1022-3581-CB46-1F85D702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8F4609-0312-F825-CC91-FAC10F330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F0E555-3A77-670E-9C69-DE1D8DE2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6340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lang="fr-BE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83B7C617-6903-4988-8F47-3C72C68028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2160000" cy="216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776411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-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4544704"/>
            <a:ext cx="10515600" cy="162821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fr-BE" dirty="0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4FDD30A2-EFB1-4B31-8365-64458F4E13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0000" y="720000"/>
            <a:ext cx="1440000" cy="1440000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8574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userDrawn="1">
  <p:cSld name="1_Compara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4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6"/>
          <p:cNvSpPr txBox="1">
            <a:spLocks noGrp="1"/>
          </p:cNvSpPr>
          <p:nvPr>
            <p:ph type="body" idx="3"/>
          </p:nvPr>
        </p:nvSpPr>
        <p:spPr>
          <a:xfrm>
            <a:off x="4394864" y="1677195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46"/>
          <p:cNvSpPr txBox="1">
            <a:spLocks noGrp="1"/>
          </p:cNvSpPr>
          <p:nvPr>
            <p:ph type="body" idx="4"/>
          </p:nvPr>
        </p:nvSpPr>
        <p:spPr>
          <a:xfrm>
            <a:off x="4394863" y="2501107"/>
            <a:ext cx="3419999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44;p146">
            <a:extLst>
              <a:ext uri="{FF2B5EF4-FFF2-40B4-BE49-F238E27FC236}">
                <a16:creationId xmlns:a16="http://schemas.microsoft.com/office/drawing/2014/main" id="{2E687717-1647-0388-990E-8851C964199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7949940" y="1690688"/>
            <a:ext cx="342000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" name="Google Shape;45;p146">
            <a:extLst>
              <a:ext uri="{FF2B5EF4-FFF2-40B4-BE49-F238E27FC236}">
                <a16:creationId xmlns:a16="http://schemas.microsoft.com/office/drawing/2014/main" id="{D8C59DA1-11B0-4EEA-43AC-8402AF228130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7949937" y="2529543"/>
            <a:ext cx="3433923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SzPts val="1800"/>
              <a:buFont typeface="Garamond" panose="02020404030301010803" pitchFamily="18" charset="0"/>
              <a:buChar char="■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4986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73148E-CCCA-4F1F-A836-655D884BB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952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092ED-0E97-497E-99D9-BB9DD7276F53}" type="slidenum">
              <a:rPr lang="fr-BE" smtClean="0"/>
              <a:t>‹N°›</a:t>
            </a:fld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29B381-A1A5-FC30-27CA-947A269038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3782-D06E-4853-BE3C-64C197273937}" type="datetimeFigureOut">
              <a:rPr lang="fr-BE" smtClean="0"/>
              <a:t>07-09-26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BFB2116-0A00-B6AB-43FF-F23B8EB09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74909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53" r:id="rId10"/>
    <p:sldLayoutId id="2147483852" r:id="rId11"/>
    <p:sldLayoutId id="2147483866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5"/>
          </a:solidFill>
          <a:latin typeface="+mn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Clr>
          <a:schemeClr val="bg1">
            <a:lumMod val="50000"/>
          </a:schemeClr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3techs.com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jquery.com/category/effects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classrooms.com/fr/courses/1631636-simplifiez-vos-developpements-javascript-avec-jquery/1634798-les-bases-de-la-gestion-evenementielle#/id/r-2971021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classrooms.com/fr/courses/1631636-simplifiez-vos-developpements-javascript-avec-jquery/1634798-les-bases-de-la-gestion-evenementielle#/id/r-1639221" TargetMode="Externa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"/>
          <p:cNvSpPr txBox="1">
            <a:spLocks noGrp="1"/>
          </p:cNvSpPr>
          <p:nvPr>
            <p:ph type="ctrTitle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/>
            <a:r>
              <a:rPr lang="fr-BE" dirty="0"/>
              <a:t>Bachelier en Informatique de Gestion</a:t>
            </a:r>
            <a:br>
              <a:rPr lang="fr-BE" dirty="0"/>
            </a:br>
            <a:br>
              <a:rPr lang="fr-BE"/>
            </a:br>
            <a:r>
              <a:rPr lang="fr-BE"/>
              <a:t>Web </a:t>
            </a:r>
            <a:r>
              <a:rPr lang="fr-BE" dirty="0"/>
              <a:t>: principes </a:t>
            </a:r>
            <a:r>
              <a:rPr lang="fr-BE"/>
              <a:t>de base</a:t>
            </a:r>
            <a:br>
              <a:rPr lang="fr-BE"/>
            </a:br>
            <a:r>
              <a:rPr lang="fr-BE"/>
              <a:t>Projet de Développement Web</a:t>
            </a:r>
            <a:endParaRPr lang="fr-BE" dirty="0"/>
          </a:p>
        </p:txBody>
      </p:sp>
      <p:sp>
        <p:nvSpPr>
          <p:cNvPr id="57" name="Google Shape;57;p1"/>
          <p:cNvSpPr txBox="1">
            <a:spLocks noGrp="1"/>
          </p:cNvSpPr>
          <p:nvPr>
            <p:ph type="subTitle" idx="1"/>
          </p:nvPr>
        </p:nvSpPr>
        <p:spPr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fr-BE" dirty="0"/>
              <a:t>Enseignement supérieur économique de type court</a:t>
            </a:r>
          </a:p>
          <a:p>
            <a:pPr lvl="0"/>
            <a:r>
              <a:rPr lang="fr-BE" dirty="0"/>
              <a:t>Code </a:t>
            </a:r>
            <a:r>
              <a:rPr lang="fr-BE" dirty="0" err="1"/>
              <a:t>FWB</a:t>
            </a:r>
            <a:r>
              <a:rPr lang="fr-BE"/>
              <a:t> : 7534 29 U32 D1, 7534 30 U32 D3</a:t>
            </a:r>
          </a:p>
          <a:p>
            <a:pPr lvl="0"/>
            <a:r>
              <a:rPr lang="fr-BE"/>
              <a:t>Code ISFCE : 4IWPB, 4IPW3</a:t>
            </a:r>
          </a:p>
          <a:p>
            <a:pPr lvl="0"/>
            <a:endParaRPr lang="fr-BE"/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6447" y="5094815"/>
            <a:ext cx="1674557" cy="16745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fr-BE"/>
              <a:t>Table des matières</a:t>
            </a:r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3420000" cy="676143"/>
          </a:xfr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/>
            <a:r>
              <a:rPr lang="fr-FR"/>
              <a:t>Généralités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1162652-D4A8-152D-F88F-9B8516AF877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353338"/>
            <a:ext cx="3419999" cy="3836325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fr-BE" sz="2400"/>
              <a:t>01. Introduction au web</a:t>
            </a:r>
          </a:p>
          <a:p>
            <a:pPr marL="114300" indent="0">
              <a:buNone/>
            </a:pPr>
            <a:r>
              <a:rPr lang="fr-BE" sz="2400"/>
              <a:t>03. Outils</a:t>
            </a:r>
          </a:p>
          <a:p>
            <a:pPr marL="114300" indent="0">
              <a:buNone/>
            </a:pPr>
            <a:r>
              <a:rPr lang="fr-BE" sz="2400"/>
              <a:t>05. Format XML</a:t>
            </a:r>
          </a:p>
          <a:p>
            <a:pPr marL="114300" indent="0">
              <a:buNone/>
            </a:pPr>
            <a:r>
              <a:rPr lang="fr-BE" sz="2400"/>
              <a:t>06. Format JSON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6D5135-B8A1-9E24-38EE-4C72679CDE7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394864" y="1677195"/>
            <a:ext cx="3420000" cy="676143"/>
          </a:xfrm>
        </p:spPr>
        <p:txBody>
          <a:bodyPr anchor="t"/>
          <a:lstStyle/>
          <a:p>
            <a:pPr lvl="0"/>
            <a:r>
              <a:rPr lang="fr-FR"/>
              <a:t>Front-End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7D87172-3FAF-5725-E789-9405D66598A7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394863" y="2357306"/>
            <a:ext cx="3419999" cy="3828389"/>
          </a:xfrm>
        </p:spPr>
        <p:txBody>
          <a:bodyPr>
            <a:normAutofit/>
          </a:bodyPr>
          <a:lstStyle/>
          <a:p>
            <a:pPr marL="114300" lvl="0" indent="0">
              <a:buNone/>
            </a:pPr>
            <a:r>
              <a:rPr lang="fr-BE" sz="2400"/>
              <a:t>12. Structure HTML </a:t>
            </a:r>
          </a:p>
          <a:p>
            <a:pPr marL="114300" indent="0">
              <a:buNone/>
            </a:pPr>
            <a:r>
              <a:rPr lang="fr-BE" sz="2400"/>
              <a:t>13. Formulaire HTML</a:t>
            </a:r>
          </a:p>
          <a:p>
            <a:pPr marL="114300" lvl="0" indent="0">
              <a:buNone/>
            </a:pPr>
            <a:r>
              <a:rPr lang="fr-BE" sz="2400"/>
              <a:t>14. Mise en forme CSS</a:t>
            </a:r>
          </a:p>
          <a:p>
            <a:pPr marL="114300" lvl="0" indent="0">
              <a:buNone/>
            </a:pPr>
            <a:r>
              <a:rPr lang="fr-BE" sz="2400"/>
              <a:t>15. Adaptabilité</a:t>
            </a:r>
          </a:p>
          <a:p>
            <a:pPr marL="114300" lvl="0" indent="0">
              <a:buNone/>
            </a:pPr>
            <a:r>
              <a:rPr lang="fr-BE" sz="2400"/>
              <a:t>17. Javascript</a:t>
            </a:r>
          </a:p>
          <a:p>
            <a:pPr marL="114300" lvl="0" indent="0">
              <a:buNone/>
            </a:pPr>
            <a:r>
              <a:rPr lang="fr-BE" sz="2400">
                <a:solidFill>
                  <a:schemeClr val="accent2"/>
                </a:solidFill>
              </a:rPr>
              <a:t>18. Bibliothèque jQuery</a:t>
            </a:r>
          </a:p>
          <a:p>
            <a:pPr marL="114300" lvl="0" indent="0">
              <a:buNone/>
            </a:pPr>
            <a:r>
              <a:rPr lang="fr-BE" sz="2400"/>
              <a:t>19. Composant Vue.js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A5FC1231-1E2C-7231-4486-8114EAEE6AA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949940" y="1690688"/>
            <a:ext cx="3420000" cy="662650"/>
          </a:xfrm>
        </p:spPr>
        <p:txBody>
          <a:bodyPr anchor="t"/>
          <a:lstStyle/>
          <a:p>
            <a:r>
              <a:rPr lang="fr-BE"/>
              <a:t>Back-End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EDB2CC52-B967-555D-C3A7-C4B10EB02D18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7949937" y="2377806"/>
            <a:ext cx="3433923" cy="3836325"/>
          </a:xfrm>
        </p:spPr>
        <p:txBody>
          <a:bodyPr>
            <a:normAutofit lnSpcReduction="10000"/>
          </a:bodyPr>
          <a:lstStyle/>
          <a:p>
            <a:pPr marL="114300" lvl="0" indent="0">
              <a:buNone/>
            </a:pPr>
            <a:r>
              <a:rPr lang="fr-BE" sz="2400"/>
              <a:t>21. Middleware PHP</a:t>
            </a:r>
          </a:p>
          <a:p>
            <a:pPr marL="114300" indent="0">
              <a:buNone/>
            </a:pPr>
            <a:r>
              <a:rPr lang="fr-BE" sz="2400"/>
              <a:t>22. Traitement du formulaire</a:t>
            </a:r>
          </a:p>
          <a:p>
            <a:pPr marL="114300" lvl="0" indent="0">
              <a:buNone/>
            </a:pPr>
            <a:r>
              <a:rPr lang="fr-BE" sz="2400"/>
              <a:t>23. Architecture MVC</a:t>
            </a:r>
          </a:p>
          <a:p>
            <a:pPr marL="114300" lvl="0" indent="0">
              <a:buNone/>
            </a:pPr>
            <a:r>
              <a:rPr lang="fr-BE" sz="2400"/>
              <a:t>24. Données SQL</a:t>
            </a:r>
          </a:p>
          <a:p>
            <a:pPr marL="114300" lvl="0" indent="0">
              <a:buNone/>
            </a:pPr>
            <a:r>
              <a:rPr lang="fr-BE" sz="2400"/>
              <a:t>25. Données NoSQL</a:t>
            </a:r>
          </a:p>
          <a:p>
            <a:pPr marL="114300" lvl="0" indent="0">
              <a:buNone/>
            </a:pPr>
            <a:endParaRPr lang="fr-BE" sz="2400"/>
          </a:p>
          <a:p>
            <a:pPr marL="114300" lvl="0" indent="0">
              <a:buNone/>
            </a:pPr>
            <a:endParaRPr lang="fr-BE" sz="2400"/>
          </a:p>
          <a:p>
            <a:pPr marL="114300" indent="0">
              <a:buNone/>
            </a:pPr>
            <a:r>
              <a:rPr lang="fr-BE" sz="2400"/>
              <a:t>31. Requête asynchrone</a:t>
            </a:r>
          </a:p>
          <a:p>
            <a:pPr marL="114300" indent="0">
              <a:buNone/>
            </a:pPr>
            <a:endParaRPr lang="fr-BE" sz="2400"/>
          </a:p>
        </p:txBody>
      </p:sp>
      <p:sp>
        <p:nvSpPr>
          <p:cNvPr id="5" name="Espace réservé du texte 9">
            <a:extLst>
              <a:ext uri="{FF2B5EF4-FFF2-40B4-BE49-F238E27FC236}">
                <a16:creationId xmlns:a16="http://schemas.microsoft.com/office/drawing/2014/main" id="{F7F80AB2-1A54-F3C7-63AD-635689291298}"/>
              </a:ext>
            </a:extLst>
          </p:cNvPr>
          <p:cNvSpPr txBox="1">
            <a:spLocks/>
          </p:cNvSpPr>
          <p:nvPr/>
        </p:nvSpPr>
        <p:spPr>
          <a:xfrm>
            <a:off x="7932738" y="5026572"/>
            <a:ext cx="3751261" cy="8239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457200" lvl="0" indent="-228600" algn="l" defTabSz="914377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lvl="1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Wingdings" panose="05000000000000000000" pitchFamily="2" charset="2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lvl="2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Wingdings" panose="05000000000000000000" pitchFamily="2" charset="2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lvl="3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lvl="4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Wingdings" panose="05000000000000000000" pitchFamily="2" charset="2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lvl="5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0400" lvl="6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7600" lvl="7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14800" lvl="8" indent="-228600" algn="l" defTabSz="914377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BE"/>
              <a:t>Single Page Application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A47BCD8-9B71-4A9B-80D2-7D26635886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/>
              <a:t>18. </a:t>
            </a:r>
            <a:r>
              <a:rPr lang="fr-BE" dirty="0"/>
              <a:t>Framework jQuery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A67E9DF-C43A-4160-821A-B7C2C76984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numCol="3">
            <a:normAutofit/>
          </a:bodyPr>
          <a:lstStyle/>
          <a:p>
            <a:r>
              <a:rPr lang="fr-BE" dirty="0"/>
              <a:t>Installation</a:t>
            </a:r>
          </a:p>
          <a:p>
            <a:r>
              <a:rPr lang="fr-BE" dirty="0"/>
              <a:t>Syntaxe</a:t>
            </a:r>
          </a:p>
          <a:p>
            <a:r>
              <a:rPr lang="fr-BE" dirty="0" err="1"/>
              <a:t>Selector</a:t>
            </a:r>
            <a:endParaRPr lang="fr-BE" dirty="0"/>
          </a:p>
          <a:p>
            <a:r>
              <a:rPr lang="fr-BE" dirty="0"/>
              <a:t>Modification d'un contenu</a:t>
            </a:r>
          </a:p>
          <a:p>
            <a:r>
              <a:rPr lang="fr-BE" dirty="0"/>
              <a:t>Modification des propriétés</a:t>
            </a:r>
          </a:p>
          <a:p>
            <a:r>
              <a:rPr lang="fr-BE" dirty="0"/>
              <a:t>Données</a:t>
            </a:r>
          </a:p>
        </p:txBody>
      </p:sp>
      <p:pic>
        <p:nvPicPr>
          <p:cNvPr id="7" name="Picture 2" descr="Le logo de jQuery avec son slogan">
            <a:extLst>
              <a:ext uri="{FF2B5EF4-FFF2-40B4-BE49-F238E27FC236}">
                <a16:creationId xmlns:a16="http://schemas.microsoft.com/office/drawing/2014/main" id="{5471D40F-462E-4A82-964D-124B7F5F2F78}"/>
              </a:ext>
            </a:extLst>
          </p:cNvPr>
          <p:cNvPicPr>
            <a:picLocks noGrp="1" noChangeAspect="1" noChangeArrowheads="1"/>
          </p:cNvPicPr>
          <p:nvPr>
            <p:ph type="pic"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0991" y="210828"/>
            <a:ext cx="4168775" cy="104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752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A47BCD8-9B71-4A9B-80D2-7D266358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Prologue</a:t>
            </a:r>
            <a:endParaRPr lang="fr-BE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C64045B-EB9E-E2DF-C146-552FF7278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0E4519AE-F4D9-6CE8-BAE1-5A84C7A5FAF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6" name="Picture 2" descr="Le logo de jQuery avec son slogan">
            <a:extLst>
              <a:ext uri="{FF2B5EF4-FFF2-40B4-BE49-F238E27FC236}">
                <a16:creationId xmlns:a16="http://schemas.microsoft.com/office/drawing/2014/main" id="{17A67BF6-E783-D7F4-E414-0F826D13F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0991" y="210828"/>
            <a:ext cx="4168775" cy="104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8533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A029F4-AEEB-26F8-CB98-40E37C823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Propos liminaire : Pourquoi JQuery ?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AB2E22-CF0D-D04D-6DBB-1C3AD58BA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/>
              <a:t>jQuery est la bibliothèque JavaScript utilisée par 75% des sites web au niveau mondial.</a:t>
            </a:r>
          </a:p>
          <a:p>
            <a:pPr lvl="1"/>
            <a:r>
              <a:rPr lang="fr-BE"/>
              <a:t>Bootstrap : 20%</a:t>
            </a:r>
          </a:p>
          <a:p>
            <a:pPr lvl="1"/>
            <a:r>
              <a:rPr lang="fr-BE"/>
              <a:t>React : 4%</a:t>
            </a:r>
          </a:p>
          <a:p>
            <a:pPr lvl="1"/>
            <a:r>
              <a:rPr lang="fr-BE"/>
              <a:t>Vue.js : 1% </a:t>
            </a:r>
          </a:p>
          <a:p>
            <a:pPr lvl="1"/>
            <a:r>
              <a:rPr lang="fr-BE"/>
              <a:t>Angular : &lt;1%</a:t>
            </a:r>
          </a:p>
          <a:p>
            <a:r>
              <a:rPr lang="fr-BE"/>
              <a:t>Source</a:t>
            </a:r>
          </a:p>
          <a:p>
            <a:pPr lvl="1"/>
            <a:r>
              <a:rPr lang="fr-BE">
                <a:hlinkClick r:id="rId2"/>
              </a:rPr>
              <a:t>W3TECHS</a:t>
            </a:r>
            <a:r>
              <a:rPr lang="fr-BE"/>
              <a:t>, septembre 2024</a:t>
            </a:r>
          </a:p>
          <a:p>
            <a:pPr lvl="1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4480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39745-EAAF-4316-B717-EC469E9F9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Principe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508C0B-5BE9-42CE-933C-EF4C4DEF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92500" lnSpcReduction="10000"/>
          </a:bodyPr>
          <a:lstStyle/>
          <a:p>
            <a:r>
              <a:rPr lang="fr-BE" dirty="0">
                <a:solidFill>
                  <a:schemeClr val="accent2"/>
                </a:solidFill>
              </a:rPr>
              <a:t>"Write </a:t>
            </a:r>
            <a:r>
              <a:rPr lang="fr-BE" dirty="0" err="1">
                <a:solidFill>
                  <a:schemeClr val="accent2"/>
                </a:solidFill>
              </a:rPr>
              <a:t>less</a:t>
            </a:r>
            <a:r>
              <a:rPr lang="fr-BE" dirty="0">
                <a:solidFill>
                  <a:schemeClr val="accent2"/>
                </a:solidFill>
              </a:rPr>
              <a:t>, do more"</a:t>
            </a:r>
          </a:p>
          <a:p>
            <a:r>
              <a:rPr lang="fr-BE" dirty="0"/>
              <a:t>Bibliothèque créée au dessus de HTML, CSS, JavaScript et AJAX</a:t>
            </a:r>
          </a:p>
          <a:p>
            <a:pPr lvl="1"/>
            <a:r>
              <a:rPr lang="fr-BE" dirty="0"/>
              <a:t>Manipuler des éléments HTML mis en forme en CSS </a:t>
            </a:r>
          </a:p>
          <a:p>
            <a:pPr lvl="1"/>
            <a:r>
              <a:rPr lang="fr-BE" dirty="0"/>
              <a:t>Utiliser des instructions donnant simplement accès aux immenses possibilités de JavaScript et d'AJAX.</a:t>
            </a:r>
          </a:p>
          <a:p>
            <a:r>
              <a:rPr lang="fr-BE" dirty="0"/>
              <a:t>Avantages de jQuery sur JavaScript</a:t>
            </a:r>
          </a:p>
          <a:p>
            <a:pPr lvl="1"/>
            <a:r>
              <a:rPr lang="fr-BE" dirty="0"/>
              <a:t>Syntaxe plus robuste</a:t>
            </a:r>
          </a:p>
          <a:p>
            <a:pPr lvl="2"/>
            <a:r>
              <a:rPr lang="fr-BE" dirty="0"/>
              <a:t>Moins d'erreur de syntaxe </a:t>
            </a:r>
          </a:p>
          <a:p>
            <a:pPr lvl="1"/>
            <a:r>
              <a:rPr lang="fr-BE" dirty="0"/>
              <a:t>Syntaxe moins verbeuse </a:t>
            </a:r>
          </a:p>
          <a:p>
            <a:pPr lvl="2"/>
            <a:r>
              <a:rPr lang="fr-BE" dirty="0"/>
              <a:t>Moins de lignes de code </a:t>
            </a:r>
          </a:p>
          <a:p>
            <a:pPr lvl="1"/>
            <a:r>
              <a:rPr lang="fr-BE" dirty="0"/>
              <a:t>Intemporel </a:t>
            </a:r>
          </a:p>
          <a:p>
            <a:pPr lvl="2"/>
            <a:r>
              <a:rPr lang="fr-BE" dirty="0"/>
              <a:t>Pas de problème de version de Javascript</a:t>
            </a:r>
          </a:p>
        </p:txBody>
      </p:sp>
    </p:spTree>
    <p:extLst>
      <p:ext uri="{BB962C8B-B14F-4D97-AF65-F5344CB8AC3E}">
        <p14:creationId xmlns:p14="http://schemas.microsoft.com/office/powerpoint/2010/main" val="55244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AEA58FBC-8E80-4D3F-9BBB-B7BF14303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Références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16FEEEF-E881-4C94-AF49-76AD0FA5D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err="1"/>
              <a:t>OpenClassRooms</a:t>
            </a:r>
            <a:endParaRPr lang="fr-BE" dirty="0"/>
          </a:p>
          <a:p>
            <a:pPr lvl="1"/>
            <a:r>
              <a:rPr lang="fr-BE" dirty="0"/>
              <a:t>https://openclassrooms.com/fr/courses/1631636-simplifiez-vos-developpements-javascript-avec-jquery/</a:t>
            </a:r>
          </a:p>
          <a:p>
            <a:r>
              <a:rPr lang="fr-BE" dirty="0"/>
              <a:t>La documentation officielle de jQuery</a:t>
            </a:r>
          </a:p>
          <a:p>
            <a:pPr lvl="1"/>
            <a:r>
              <a:rPr lang="fr-BE" dirty="0"/>
              <a:t>http://docs.jquery.com/</a:t>
            </a:r>
          </a:p>
          <a:p>
            <a:r>
              <a:rPr lang="fr-BE" dirty="0"/>
              <a:t>Le forum de discussion consacré à jQuery</a:t>
            </a:r>
          </a:p>
          <a:p>
            <a:pPr lvl="1"/>
            <a:r>
              <a:rPr lang="fr-BE" dirty="0"/>
              <a:t>https://forum.jquery.com/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035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FA2F2F-E8F6-4176-B953-AAC350C5C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Prérequis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52DD9D-14DF-4359-9F3D-1DBFAC033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fr-BE" dirty="0"/>
              <a:t>HTML</a:t>
            </a:r>
          </a:p>
          <a:p>
            <a:pPr lvl="1"/>
            <a:r>
              <a:rPr lang="fr-BE" dirty="0"/>
              <a:t>Balise</a:t>
            </a:r>
          </a:p>
          <a:p>
            <a:pPr lvl="1"/>
            <a:r>
              <a:rPr lang="fr-BE" dirty="0"/>
              <a:t>Attribut</a:t>
            </a:r>
          </a:p>
          <a:p>
            <a:pPr lvl="1"/>
            <a:r>
              <a:rPr lang="fr-BE" dirty="0"/>
              <a:t>Block vs </a:t>
            </a:r>
            <a:r>
              <a:rPr lang="fr-BE" dirty="0" err="1"/>
              <a:t>inline</a:t>
            </a:r>
            <a:endParaRPr lang="fr-BE" dirty="0"/>
          </a:p>
          <a:p>
            <a:r>
              <a:rPr lang="fr-BE" dirty="0"/>
              <a:t>CSS</a:t>
            </a:r>
          </a:p>
          <a:p>
            <a:pPr lvl="1"/>
            <a:r>
              <a:rPr lang="fr-BE" dirty="0"/>
              <a:t>Sélecteur CSS</a:t>
            </a:r>
            <a:br>
              <a:rPr lang="fr-BE" dirty="0"/>
            </a:br>
            <a:endParaRPr lang="fr-BE" dirty="0"/>
          </a:p>
          <a:p>
            <a:pPr lvl="1"/>
            <a:endParaRPr lang="fr-BE" dirty="0"/>
          </a:p>
          <a:p>
            <a:r>
              <a:rPr lang="fr-BE" dirty="0"/>
              <a:t>Javascript</a:t>
            </a:r>
          </a:p>
          <a:p>
            <a:pPr lvl="1"/>
            <a:r>
              <a:rPr lang="fr-BE" dirty="0"/>
              <a:t>DOM</a:t>
            </a:r>
          </a:p>
          <a:p>
            <a:r>
              <a:rPr lang="fr-BE" dirty="0"/>
              <a:t>POO</a:t>
            </a:r>
          </a:p>
          <a:p>
            <a:pPr lvl="1"/>
            <a:r>
              <a:rPr lang="fr-BE" dirty="0"/>
              <a:t>Fonction</a:t>
            </a:r>
          </a:p>
          <a:p>
            <a:pPr lvl="1"/>
            <a:r>
              <a:rPr lang="fr-BE" dirty="0"/>
              <a:t>Méthode</a:t>
            </a:r>
          </a:p>
          <a:p>
            <a:pPr lvl="1"/>
            <a:r>
              <a:rPr lang="fr-BE" dirty="0"/>
              <a:t>Objet</a:t>
            </a:r>
          </a:p>
        </p:txBody>
      </p:sp>
    </p:spTree>
    <p:extLst>
      <p:ext uri="{BB962C8B-B14F-4D97-AF65-F5344CB8AC3E}">
        <p14:creationId xmlns:p14="http://schemas.microsoft.com/office/powerpoint/2010/main" val="327272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A47BCD8-9B71-4A9B-80D2-7D266358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Syntaxe </a:t>
            </a:r>
            <a:r>
              <a:rPr lang="fr-BE" dirty="0"/>
              <a:t>de base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D695F11-8DC0-6343-92F5-5740A2A7A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D7A12BE-CECB-7A9C-564E-524F10BC295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Picture 2" descr="Le logo de jQuery avec son slogan">
            <a:extLst>
              <a:ext uri="{FF2B5EF4-FFF2-40B4-BE49-F238E27FC236}">
                <a16:creationId xmlns:a16="http://schemas.microsoft.com/office/drawing/2014/main" id="{032D029F-3A03-BA29-75AE-C8D84CFA6D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0991" y="210828"/>
            <a:ext cx="4168775" cy="104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244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6E0D2-C19A-4F57-91DA-0F1B0CF3A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Installation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0320A1-254F-40E9-91C4-4353F454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Local </a:t>
            </a:r>
            <a:r>
              <a:rPr lang="fr-BE"/>
              <a:t>ou remote</a:t>
            </a:r>
          </a:p>
          <a:p>
            <a:pPr lvl="1"/>
            <a:r>
              <a:rPr lang="fr-BE"/>
              <a:t>2025 : Version stable 3.7.1</a:t>
            </a:r>
            <a:endParaRPr lang="fr-BE" dirty="0"/>
          </a:p>
          <a:p>
            <a:r>
              <a:rPr lang="fr-BE"/>
              <a:t>Intégrer </a:t>
            </a:r>
            <a:r>
              <a:rPr lang="fr-BE" dirty="0"/>
              <a:t>le code suivant dans ses propres pages web (sous balise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BE" b="1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fr-BE"/>
              <a:t>).</a:t>
            </a:r>
          </a:p>
          <a:p>
            <a:pPr lvl="1"/>
            <a:r>
              <a:rPr lang="fr-BE"/>
              <a:t>Cf https://releases.jquery.com/jquery/</a:t>
            </a:r>
            <a:endParaRPr lang="fr-BE" dirty="0"/>
          </a:p>
          <a:p>
            <a:r>
              <a:rPr lang="fr-BE" dirty="0"/>
              <a:t>Il existe aussi du code similaire fourni par Google.</a:t>
            </a:r>
          </a:p>
          <a:p>
            <a:endParaRPr lang="fr-BE" dirty="0"/>
          </a:p>
          <a:p>
            <a:endParaRPr lang="fr-BE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6B4A046-B27C-42B1-98D2-0BECCDAC5C4A}"/>
              </a:ext>
            </a:extLst>
          </p:cNvPr>
          <p:cNvSpPr txBox="1"/>
          <p:nvPr/>
        </p:nvSpPr>
        <p:spPr>
          <a:xfrm>
            <a:off x="138546" y="5167311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&lt;script</a:t>
            </a:r>
          </a:p>
          <a:p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src="https://code.jquery.com/jquery-3.6.3.min.js"</a:t>
            </a:r>
          </a:p>
          <a:p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integrity="sha256-pvPw+upLPUjgMXY0G+8O0xUf+/Im1MZjXxxgOcBQBXU="</a:t>
            </a:r>
          </a:p>
          <a:p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crossorigin="anonymous"&gt;&lt;/script&gt;&gt;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355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328B3-DFE7-471A-9D28-4DF7063DD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Emplacement du code jQuery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66E76D-5DE7-480D-9555-E8C8CD7EE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/>
              <a:t>Principe : On met le code JS/jQuery là on est sûr que le DOM est complet, càd après le chargement de la page </a:t>
            </a:r>
          </a:p>
          <a:p>
            <a:pPr lvl="1"/>
            <a:r>
              <a:rPr lang="fr-BE" dirty="0"/>
              <a:t>Soit sous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head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&gt;&lt;script&gt;…</a:t>
            </a:r>
          </a:p>
          <a:p>
            <a:pPr lvl="2"/>
            <a:r>
              <a:rPr lang="fr-BE" dirty="0"/>
              <a:t>Recommandé </a:t>
            </a:r>
          </a:p>
          <a:p>
            <a:pPr lvl="1"/>
            <a:r>
              <a:rPr lang="fr-BE" dirty="0"/>
              <a:t>Soit en fin de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&lt;body&gt;</a:t>
            </a:r>
          </a:p>
          <a:p>
            <a:pPr lvl="1"/>
            <a:r>
              <a:rPr lang="fr-BE" dirty="0"/>
              <a:t>De préférence comme fichier séparé</a:t>
            </a:r>
          </a:p>
          <a:p>
            <a:pPr marL="914377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&lt;script src="mon-script.js"&gt;&lt;/script&gt;</a:t>
            </a:r>
          </a:p>
          <a:p>
            <a:pPr lvl="1"/>
            <a:r>
              <a:rPr lang="fr-BE"/>
              <a:t>Hint: attribut </a:t>
            </a: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defer</a:t>
            </a:r>
            <a:r>
              <a:rPr lang="fr-BE"/>
              <a:t> </a:t>
            </a:r>
          </a:p>
          <a:p>
            <a:pPr lvl="2"/>
            <a:r>
              <a:rPr lang="fr-BE"/>
              <a:t>pour différer l'exécution du Javascript </a:t>
            </a:r>
          </a:p>
          <a:p>
            <a:pPr marL="914377" lvl="2" indent="0">
              <a:buNone/>
            </a:pPr>
            <a:r>
              <a:rPr lang="fr-BE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&lt;script defer src="mon-script.js"&gt;&lt;/script&gt;</a:t>
            </a:r>
            <a:endParaRPr lang="fr-BE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3913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3328B3-DFE7-471A-9D28-4DF7063DD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Architecture du code jQuery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66E76D-5DE7-480D-9555-E8C8CD7EE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 numCol="1">
            <a:normAutofit fontScale="92500" lnSpcReduction="10000"/>
          </a:bodyPr>
          <a:lstStyle/>
          <a:p>
            <a:r>
              <a:rPr lang="fr-BE" sz="2800" dirty="0"/>
              <a:t>Déclaration jQuery</a:t>
            </a:r>
          </a:p>
          <a:p>
            <a:pPr marL="457189" lvl="1" indent="0">
              <a:buNone/>
            </a:pP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&lt;script src="https://code.jquery.com/jquery-3.4.1.js" …</a:t>
            </a:r>
          </a:p>
          <a:p>
            <a:r>
              <a:rPr lang="fr-BE" sz="2800" dirty="0"/>
              <a:t>Fonctions</a:t>
            </a:r>
          </a:p>
          <a:p>
            <a:pPr marL="457189" lvl="1" indent="0">
              <a:buNone/>
            </a:pP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&lt;script&gt;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ma_fonction</a:t>
            </a: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///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457189" lvl="1" indent="0">
              <a:buNone/>
            </a:pP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&lt;/script&gt;</a:t>
            </a:r>
          </a:p>
          <a:p>
            <a:r>
              <a:rPr lang="fr-BE" sz="2800" dirty="0"/>
              <a:t>Fonction "DOM </a:t>
            </a:r>
            <a:r>
              <a:rPr lang="fr-BE" sz="2800" dirty="0" err="1"/>
              <a:t>ready</a:t>
            </a:r>
            <a:r>
              <a:rPr lang="fr-BE" sz="2800" dirty="0"/>
              <a:t>", à exécuter juste après le chargement de la page 	</a:t>
            </a:r>
          </a:p>
          <a:p>
            <a:pPr marL="457189" lvl="1" indent="0">
              <a:buNone/>
            </a:pP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&lt;script</a:t>
            </a: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189" lvl="1" indent="0">
              <a:buNone/>
            </a:pP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$(</a:t>
            </a:r>
            <a:r>
              <a:rPr lang="fr-BE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///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});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39951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D24737-347B-42B0-BE2E-53D6E1FEB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DOM-</a:t>
            </a:r>
            <a:r>
              <a:rPr lang="fr-BE" dirty="0" err="1"/>
              <a:t>ready</a:t>
            </a:r>
            <a:endParaRPr lang="fr-BE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2EE0330C-11AE-47C8-AF5B-FA1A77D24C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45125"/>
            <a:ext cx="4318416" cy="4731839"/>
          </a:xfrm>
        </p:spPr>
        <p:txBody>
          <a:bodyPr>
            <a:normAutofit fontScale="92500" lnSpcReduction="10000"/>
          </a:bodyPr>
          <a:lstStyle/>
          <a:p>
            <a:r>
              <a:rPr lang="fr-BE" dirty="0"/>
              <a:t>Code exécuté après le chargement du document </a:t>
            </a:r>
          </a:p>
          <a:p>
            <a:pPr lvl="1"/>
            <a:r>
              <a:rPr lang="fr-BE" dirty="0"/>
              <a:t>en pratique tout votre code</a:t>
            </a:r>
          </a:p>
          <a:p>
            <a:r>
              <a:rPr lang="fr-BE" dirty="0"/>
              <a:t>Trois formules équivalentes !</a:t>
            </a:r>
          </a:p>
          <a:p>
            <a:r>
              <a:rPr lang="fr-BE" dirty="0"/>
              <a:t>Emplacement libre </a:t>
            </a:r>
          </a:p>
          <a:p>
            <a:pPr lvl="1"/>
            <a:r>
              <a:rPr lang="fr-BE" dirty="0"/>
              <a:t>Dans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fr-BE" dirty="0"/>
              <a:t>de préférence …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0B6F403-64D7-47B3-9B5E-C67A995762B6}"/>
              </a:ext>
            </a:extLst>
          </p:cNvPr>
          <p:cNvSpPr txBox="1"/>
          <p:nvPr/>
        </p:nvSpPr>
        <p:spPr>
          <a:xfrm>
            <a:off x="5321508" y="572661"/>
            <a:ext cx="68704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jQuery(document).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ready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Ici, DOM entièrement défini</a:t>
            </a:r>
          </a:p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ACECF81-787B-4D83-8F55-FC09E1F1D14E}"/>
              </a:ext>
            </a:extLst>
          </p:cNvPr>
          <p:cNvSpPr txBox="1"/>
          <p:nvPr/>
        </p:nvSpPr>
        <p:spPr>
          <a:xfrm>
            <a:off x="5321508" y="2589982"/>
            <a:ext cx="68704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$(document).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ready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Ici, DOM entièrement défini</a:t>
            </a:r>
          </a:p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ACB9F73-F181-4F1E-AE94-0747B2F27BE3}"/>
              </a:ext>
            </a:extLst>
          </p:cNvPr>
          <p:cNvSpPr txBox="1"/>
          <p:nvPr/>
        </p:nvSpPr>
        <p:spPr>
          <a:xfrm>
            <a:off x="5321508" y="4607304"/>
            <a:ext cx="6870492" cy="120032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BE" b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 function</a:t>
            </a:r>
            <a:r>
              <a:rPr lang="fr-BE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Ici, DOM entièrement défini</a:t>
            </a:r>
          </a:p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3509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A49AF3E-D88A-4180-B1F4-DFBB5FD8F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Première commande jQuery </a:t>
            </a:r>
            <a:r>
              <a:rPr lang="fr-BE"/>
              <a:t>: exo01</a:t>
            </a:r>
            <a:endParaRPr lang="fr-BE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D0F869B-AF8C-48DD-A5B9-51D05D6FE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$("#exo1601")</a:t>
            </a:r>
            <a:r>
              <a:rPr lang="fr-BE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>
                <a:solidFill>
                  <a:schemeClr val="accent6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html(</a:t>
            </a:r>
            <a:r>
              <a:rPr lang="fr-BE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 World !"</a:t>
            </a:r>
            <a:r>
              <a:rPr lang="fr-BE" b="1" dirty="0">
                <a:solidFill>
                  <a:schemeClr val="accent6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$("#exo1601")</a:t>
            </a:r>
            <a:r>
              <a:rPr lang="fr-BE" dirty="0"/>
              <a:t> 	: sélecteur</a:t>
            </a:r>
          </a:p>
          <a:p>
            <a:pPr lvl="1"/>
            <a:r>
              <a:rPr lang="fr-BE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dirty="0"/>
              <a:t> 				: lien entre sélecteur et action</a:t>
            </a:r>
          </a:p>
          <a:p>
            <a:pPr lvl="1"/>
            <a:r>
              <a:rPr lang="fr-BE" b="1" dirty="0">
                <a:solidFill>
                  <a:schemeClr val="accent6">
                    <a:lumMod val="2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.html(…) 		</a:t>
            </a:r>
            <a:r>
              <a:rPr lang="fr-BE" dirty="0"/>
              <a:t>: méthode appliquée </a:t>
            </a:r>
            <a:br>
              <a:rPr lang="fr-BE" dirty="0"/>
            </a:br>
            <a:r>
              <a:rPr lang="fr-BE" dirty="0"/>
              <a:t>					  aux éléments sélectionnés</a:t>
            </a:r>
          </a:p>
          <a:p>
            <a:pPr lvl="1"/>
            <a:r>
              <a:rPr lang="fr-BE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"Hello World !"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dirty="0"/>
              <a:t>: argument de la méthode</a:t>
            </a:r>
          </a:p>
          <a:p>
            <a:pPr lvl="1"/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fr-BE" dirty="0"/>
              <a:t> 				: fin de commande jQuery</a:t>
            </a:r>
          </a:p>
        </p:txBody>
      </p:sp>
    </p:spTree>
    <p:extLst>
      <p:ext uri="{BB962C8B-B14F-4D97-AF65-F5344CB8AC3E}">
        <p14:creationId xmlns:p14="http://schemas.microsoft.com/office/powerpoint/2010/main" val="151121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A47BCD8-9B71-4A9B-80D2-7D266358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Commandes </a:t>
            </a:r>
            <a:r>
              <a:rPr lang="fr-BE" dirty="0"/>
              <a:t>essentielles</a:t>
            </a:r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5FDCD69-4BA1-7D3F-4A35-F4AA79A57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59A40EF-01BD-FF08-B661-1A1C6A49CE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Picture 2" descr="Le logo de jQuery avec son slogan">
            <a:extLst>
              <a:ext uri="{FF2B5EF4-FFF2-40B4-BE49-F238E27FC236}">
                <a16:creationId xmlns:a16="http://schemas.microsoft.com/office/drawing/2014/main" id="{6553CF31-08FF-52B4-89AD-8AC4DE0FE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0991" y="210828"/>
            <a:ext cx="4168775" cy="104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891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C706ADD9-1DD0-4509-B686-CEF93BCF4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Créer </a:t>
            </a:r>
            <a:r>
              <a:rPr lang="fr-BE"/>
              <a:t>un objet : JSON</a:t>
            </a:r>
            <a:endParaRPr lang="fr-BE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FCF26D54-9D6E-4C3A-86F1-3AF155EC0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BE" dirty="0"/>
              <a:t>Créer un objet de toute pièce 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prop1: 'prop1Value', 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prop2: 'prop2Value', 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child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{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childProp1: 'childProp1Value'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fr-BE" dirty="0"/>
              <a:t>Exemple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my_image_position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top  : 100,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100,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41206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28B4E9-562C-4BE1-AAC2-B239B53A9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Lire un objet : plusieurs façons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FBC972-B87A-4A52-9E18-C2B55BECA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45125"/>
            <a:ext cx="11234057" cy="4731839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fr-BE" sz="3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console.log(</a:t>
            </a:r>
            <a:r>
              <a:rPr lang="fr-BE" sz="32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my_image_position</a:t>
            </a:r>
            <a:r>
              <a:rPr lang="fr-BE" sz="3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fr-BE" dirty="0" err="1"/>
              <a:t>Debugging</a:t>
            </a:r>
            <a:r>
              <a:rPr lang="fr-BE" dirty="0"/>
              <a:t> </a:t>
            </a:r>
            <a:r>
              <a:rPr lang="fr-BE" dirty="0" err="1"/>
              <a:t>purpose</a:t>
            </a:r>
            <a:endParaRPr lang="fr-BE" dirty="0"/>
          </a:p>
          <a:p>
            <a:pPr marL="742950" indent="-742950">
              <a:buFont typeface="+mj-lt"/>
              <a:buAutoNum type="arabicPeriod"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alert(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JSON.stringify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my_image_position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lvl="1"/>
            <a:r>
              <a:rPr lang="fr-BE" dirty="0" err="1"/>
              <a:t>Debugging</a:t>
            </a:r>
            <a:r>
              <a:rPr lang="fr-BE" dirty="0"/>
              <a:t> </a:t>
            </a:r>
            <a:r>
              <a:rPr lang="fr-BE" dirty="0" err="1"/>
              <a:t>purpose</a:t>
            </a:r>
            <a:endParaRPr lang="fr-BE" dirty="0"/>
          </a:p>
          <a:p>
            <a:pPr marL="742950" indent="-742950">
              <a:buFont typeface="+mj-lt"/>
              <a:buAutoNum type="arabicPeriod"/>
            </a:pP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$.each(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my_image_position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function(k, v) {</a:t>
            </a: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alert(k + ":" + v);</a:t>
            </a:r>
            <a:b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pPr lvl="1"/>
            <a:r>
              <a:rPr lang="en-US" dirty="0"/>
              <a:t>Process purpose</a:t>
            </a:r>
            <a:endParaRPr lang="fr-BE" dirty="0"/>
          </a:p>
          <a:p>
            <a:pPr marL="742950" indent="-742950">
              <a:buFont typeface="+mj-lt"/>
              <a:buAutoNum type="arabicPeriod"/>
            </a:pPr>
            <a:endParaRPr lang="fr-BE" sz="2800" dirty="0"/>
          </a:p>
          <a:p>
            <a:endParaRPr lang="fr-BE" sz="2800" dirty="0"/>
          </a:p>
        </p:txBody>
      </p:sp>
    </p:spTree>
    <p:extLst>
      <p:ext uri="{BB962C8B-B14F-4D97-AF65-F5344CB8AC3E}">
        <p14:creationId xmlns:p14="http://schemas.microsoft.com/office/powerpoint/2010/main" val="276011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A47BCD8-9B71-4A9B-80D2-7D266358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Selector</a:t>
            </a:r>
            <a:endParaRPr lang="fr-BE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8FD7E2F-7AB4-2997-4674-B039E36A7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D9862E2-AACC-8F3D-9745-BADDDC6C355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Picture 2" descr="Le logo de jQuery avec son slogan">
            <a:extLst>
              <a:ext uri="{FF2B5EF4-FFF2-40B4-BE49-F238E27FC236}">
                <a16:creationId xmlns:a16="http://schemas.microsoft.com/office/drawing/2014/main" id="{D5DD109F-79F6-61FE-E32D-A0762A241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0991" y="210828"/>
            <a:ext cx="4168775" cy="104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541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FC8037-3555-43A5-BB27-0047837B0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Sélection d'éléments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4A40CF-0B32-48EB-B036-9D426533D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666" y="1445125"/>
            <a:ext cx="11197652" cy="4731839"/>
          </a:xfrm>
        </p:spPr>
        <p:txBody>
          <a:bodyPr numCol="2" spcCol="180000">
            <a:normAutofit/>
          </a:bodyPr>
          <a:lstStyle/>
          <a:p>
            <a:pPr marL="0" indent="0">
              <a:buNone/>
            </a:pPr>
            <a:r>
              <a:rPr lang="fr-BE" sz="3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$('</a:t>
            </a:r>
            <a:r>
              <a:rPr lang="fr-BE" sz="3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ul.bleu</a:t>
            </a:r>
            <a:r>
              <a:rPr lang="fr-BE" sz="3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')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Éléments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&lt;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ul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&gt;</a:t>
            </a:r>
            <a:r>
              <a:rPr lang="fr-BE" dirty="0">
                <a:sym typeface="Wingdings" panose="05000000000000000000" pitchFamily="2" charset="2"/>
              </a:rPr>
              <a:t> de classe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bleu</a:t>
            </a:r>
          </a:p>
          <a:p>
            <a:pPr marL="0" indent="0">
              <a:buNone/>
            </a:pP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$('</a:t>
            </a:r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ul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li[class="pair"]')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Éléments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&lt;li&gt;</a:t>
            </a:r>
            <a:r>
              <a:rPr lang="fr-BE" dirty="0">
                <a:sym typeface="Wingdings" panose="05000000000000000000" pitchFamily="2" charset="2"/>
              </a:rPr>
              <a:t>, contenus dans un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&lt;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ul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&gt;</a:t>
            </a:r>
            <a:r>
              <a:rPr lang="fr-BE" dirty="0">
                <a:sym typeface="Wingdings" panose="05000000000000000000" pitchFamily="2" charset="2"/>
              </a:rPr>
              <a:t>, avec attribut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class</a:t>
            </a:r>
            <a:r>
              <a:rPr lang="fr-BE" dirty="0">
                <a:sym typeface="Wingdings" panose="05000000000000000000" pitchFamily="2" charset="2"/>
              </a:rPr>
              <a:t> de valeur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pair</a:t>
            </a: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b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</a:br>
            <a:endParaRPr lang="fr-BE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BE" sz="3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$('li[class]')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Éléments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&lt;li&gt;</a:t>
            </a:r>
            <a:r>
              <a:rPr lang="fr-BE" dirty="0">
                <a:sym typeface="Wingdings" panose="05000000000000000000" pitchFamily="2" charset="2"/>
              </a:rPr>
              <a:t> avec attribut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class</a:t>
            </a:r>
          </a:p>
          <a:p>
            <a:pPr marL="0" indent="0">
              <a:buNone/>
            </a:pPr>
            <a:r>
              <a:rPr lang="fr-BE" sz="3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$('[</a:t>
            </a:r>
            <a:r>
              <a:rPr lang="fr-BE" sz="3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width</a:t>
            </a:r>
            <a:r>
              <a:rPr lang="fr-BE" sz="3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="40"]')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Éléments ayant attribut </a:t>
            </a:r>
            <a:r>
              <a:rPr lang="fr-BE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width</a:t>
            </a:r>
            <a:r>
              <a:rPr lang="fr-BE" dirty="0">
                <a:sym typeface="Wingdings" panose="05000000000000000000" pitchFamily="2" charset="2"/>
              </a:rPr>
              <a:t> de valeur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40</a:t>
            </a:r>
          </a:p>
          <a:p>
            <a:pPr marL="0" indent="0">
              <a:buNone/>
            </a:pPr>
            <a:r>
              <a:rPr lang="fr-BE" sz="3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$('*')</a:t>
            </a:r>
          </a:p>
          <a:p>
            <a:pPr lvl="1"/>
            <a:r>
              <a:rPr lang="fr-BE" dirty="0">
                <a:sym typeface="Wingdings" panose="05000000000000000000" pitchFamily="2" charset="2"/>
              </a:rPr>
              <a:t>Tous les éléments du document</a:t>
            </a:r>
          </a:p>
        </p:txBody>
      </p:sp>
    </p:spTree>
    <p:extLst>
      <p:ext uri="{BB962C8B-B14F-4D97-AF65-F5344CB8AC3E}">
        <p14:creationId xmlns:p14="http://schemas.microsoft.com/office/powerpoint/2010/main" val="1538972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CAE807-5190-4134-8BA6-E69FDB334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Sélection d'éléments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937B9A-6147-45EB-99CB-D98925237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Bien réviser son CSS !  </a:t>
            </a:r>
            <a:r>
              <a:rPr lang="fr-BE" dirty="0">
                <a:sym typeface="Wingdings" panose="05000000000000000000" pitchFamily="2" charset="2"/>
              </a:rPr>
              <a:t></a:t>
            </a:r>
          </a:p>
          <a:p>
            <a:r>
              <a:rPr lang="fr-BE" dirty="0"/>
              <a:t>Retour d'un sélecteur : </a:t>
            </a:r>
          </a:p>
          <a:p>
            <a:pPr lvl="1"/>
            <a:r>
              <a:rPr lang="fr-BE" dirty="0"/>
              <a:t>Toujours un "objet jQuery"</a:t>
            </a:r>
          </a:p>
          <a:p>
            <a:pPr lvl="1"/>
            <a:r>
              <a:rPr lang="fr-BE" dirty="0"/>
              <a:t>Similaire à un tableau</a:t>
            </a:r>
          </a:p>
          <a:p>
            <a:pPr lvl="1"/>
            <a:r>
              <a:rPr lang="fr-BE" dirty="0"/>
              <a:t>Propriété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dirty="0"/>
              <a:t>Index </a:t>
            </a:r>
          </a:p>
          <a:p>
            <a:pPr marL="914377" lvl="2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ul.bleu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')[</a:t>
            </a:r>
            <a:r>
              <a:rPr lang="fr-BE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fr-BE" dirty="0"/>
              <a:t> </a:t>
            </a:r>
            <a:br>
              <a:rPr lang="fr-BE" dirty="0"/>
            </a:br>
            <a:r>
              <a:rPr lang="fr-BE" dirty="0"/>
              <a:t>retourne la </a:t>
            </a:r>
            <a:r>
              <a:rPr lang="fr-BE" dirty="0">
                <a:solidFill>
                  <a:schemeClr val="accent2"/>
                </a:solidFill>
              </a:rPr>
              <a:t>4</a:t>
            </a:r>
            <a:r>
              <a:rPr lang="fr-BE" baseline="30000" dirty="0">
                <a:solidFill>
                  <a:schemeClr val="accent2"/>
                </a:solidFill>
              </a:rPr>
              <a:t>ème</a:t>
            </a:r>
            <a:r>
              <a:rPr lang="fr-BE" dirty="0">
                <a:solidFill>
                  <a:schemeClr val="accent2"/>
                </a:solidFill>
              </a:rPr>
              <a:t> </a:t>
            </a:r>
            <a:r>
              <a:rPr lang="fr-BE" dirty="0"/>
              <a:t>balise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fr-BE" dirty="0"/>
              <a:t> de classe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bleu.</a:t>
            </a:r>
          </a:p>
        </p:txBody>
      </p:sp>
    </p:spTree>
    <p:extLst>
      <p:ext uri="{BB962C8B-B14F-4D97-AF65-F5344CB8AC3E}">
        <p14:creationId xmlns:p14="http://schemas.microsoft.com/office/powerpoint/2010/main" val="10814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A76C1B-F847-41FB-B88B-E6AEE81C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Sélecteur et Méthode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09A126-2031-4348-AAF7-F4E729169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</a:t>
            </a:r>
            <a:r>
              <a:rPr lang="fr-BE" b="1" i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selector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fr-BE" b="1" i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method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BE" b="1" i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params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</a:t>
            </a:r>
            <a:r>
              <a:rPr lang="fr-BE" b="1" i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selector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fr-BE" dirty="0"/>
              <a:t>	: sélectionner des éléments</a:t>
            </a:r>
          </a:p>
          <a:p>
            <a:pPr lvl="1"/>
            <a:r>
              <a:rPr lang="fr-BE" b="1" i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méthod</a:t>
            </a:r>
            <a:r>
              <a:rPr lang="fr-BE" dirty="0"/>
              <a:t>  		: effectuer un traitement sur la sélection</a:t>
            </a:r>
          </a:p>
          <a:p>
            <a:r>
              <a:rPr lang="fr-BE" dirty="0"/>
              <a:t>Exemple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span#resultat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').html('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blabla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');</a:t>
            </a:r>
          </a:p>
          <a:p>
            <a:pPr lvl="1"/>
            <a:r>
              <a:rPr lang="fr-BE" dirty="0"/>
              <a:t>Écrire un message dans une balise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fr-BE" dirty="0"/>
              <a:t>d'identifiant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resultat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68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A47BCD8-9B71-4A9B-80D2-7D266358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Méthodes</a:t>
            </a:r>
            <a:endParaRPr lang="fr-BE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97F5334-4495-43FF-4AE3-7B72D8CC2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A3F8AEB-BF9F-AB1D-54F6-2E16B0B636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Picture 2" descr="Le logo de jQuery avec son slogan">
            <a:extLst>
              <a:ext uri="{FF2B5EF4-FFF2-40B4-BE49-F238E27FC236}">
                <a16:creationId xmlns:a16="http://schemas.microsoft.com/office/drawing/2014/main" id="{FCE16F0D-A001-79B8-6B9F-3B30D05777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0991" y="210828"/>
            <a:ext cx="4168775" cy="104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14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94E162-F347-4C0E-8302-0A8D576AD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Sélecteur et Méthode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CC5D9A-7FC1-4F90-A0FE-B5C59121BA1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BE" dirty="0">
                <a:solidFill>
                  <a:schemeClr val="accent2"/>
                </a:solidFill>
              </a:rPr>
              <a:t>Getters</a:t>
            </a:r>
          </a:p>
          <a:p>
            <a:pPr lvl="1"/>
            <a:r>
              <a:rPr lang="fr-BE" dirty="0"/>
              <a:t>Lire une valeur</a:t>
            </a:r>
          </a:p>
          <a:p>
            <a:pPr lvl="1"/>
            <a:r>
              <a:rPr lang="fr-BE" dirty="0"/>
              <a:t>Souvent </a:t>
            </a:r>
            <a:r>
              <a:rPr lang="fr-BE" dirty="0">
                <a:solidFill>
                  <a:schemeClr val="accent2"/>
                </a:solidFill>
              </a:rPr>
              <a:t>un</a:t>
            </a:r>
            <a:r>
              <a:rPr lang="fr-BE" dirty="0"/>
              <a:t> paramètre</a:t>
            </a:r>
          </a:p>
          <a:p>
            <a:pPr lvl="1"/>
            <a:r>
              <a:rPr lang="fr-BE" dirty="0"/>
              <a:t>Aucune valeur en paramètre</a:t>
            </a:r>
          </a:p>
          <a:p>
            <a:pPr lvl="1"/>
            <a:r>
              <a:rPr lang="fr-BE" dirty="0"/>
              <a:t>Retour : zéro, un ou plusieurs éléments</a:t>
            </a:r>
            <a:endParaRPr lang="en-US" sz="24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7EFB857-E390-44A7-AAC1-9A03D9CA056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BE" dirty="0">
                <a:solidFill>
                  <a:schemeClr val="accent2"/>
                </a:solidFill>
              </a:rPr>
              <a:t>Setters</a:t>
            </a:r>
          </a:p>
          <a:p>
            <a:pPr lvl="1"/>
            <a:r>
              <a:rPr lang="fr-BE" dirty="0"/>
              <a:t>Écrire une valeur</a:t>
            </a:r>
          </a:p>
          <a:p>
            <a:pPr lvl="1"/>
            <a:r>
              <a:rPr lang="fr-BE" dirty="0"/>
              <a:t>Souvent </a:t>
            </a:r>
            <a:r>
              <a:rPr lang="fr-BE" dirty="0">
                <a:solidFill>
                  <a:schemeClr val="accent2"/>
                </a:solidFill>
              </a:rPr>
              <a:t>deux</a:t>
            </a:r>
            <a:r>
              <a:rPr lang="fr-BE" dirty="0"/>
              <a:t> paramètres</a:t>
            </a:r>
          </a:p>
          <a:p>
            <a:pPr lvl="1"/>
            <a:r>
              <a:rPr lang="fr-BE" dirty="0"/>
              <a:t>Une valeur mise en paramètre</a:t>
            </a:r>
          </a:p>
          <a:p>
            <a:pPr lvl="1"/>
            <a:endParaRPr lang="fr-BE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917E8AF-6ACC-41DD-93EC-ADAC39C722C1}"/>
              </a:ext>
            </a:extLst>
          </p:cNvPr>
          <p:cNvSpPr txBox="1"/>
          <p:nvPr/>
        </p:nvSpPr>
        <p:spPr>
          <a:xfrm>
            <a:off x="507999" y="5661878"/>
            <a:ext cx="6959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 = $('h2').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'font-size'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endParaRPr lang="fr-BE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4BDBCF2-113B-4383-93E8-7524E7ED3CE9}"/>
              </a:ext>
            </a:extLst>
          </p:cNvPr>
          <p:cNvSpPr txBox="1"/>
          <p:nvPr/>
        </p:nvSpPr>
        <p:spPr>
          <a:xfrm>
            <a:off x="5791200" y="4290881"/>
            <a:ext cx="6265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$('h2').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('font-size',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'2em'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07871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E115B68A-83EA-4EDC-ABE2-B671E9E4C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Méthodes </a:t>
            </a:r>
            <a:r>
              <a:rPr lang="fr-BE"/>
              <a:t>: contenu </a:t>
            </a:r>
            <a:r>
              <a:rPr lang="fr-BE" dirty="0"/>
              <a:t>des éléments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E3DC4B0-1496-4472-ADC9-7BF84643E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Accéder à la valeur textuelle stockée dans l'élément.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.html()</a:t>
            </a:r>
          </a:p>
          <a:p>
            <a:pPr lvl="1"/>
            <a:r>
              <a:rPr lang="fr-BE" dirty="0"/>
              <a:t>Accéder au code HTML stocké dans </a:t>
            </a:r>
            <a:r>
              <a:rPr lang="fr-BE"/>
              <a:t>l'élément.</a:t>
            </a:r>
          </a:p>
          <a:p>
            <a:pPr marL="0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$(this)</a:t>
            </a:r>
          </a:p>
          <a:p>
            <a:pPr lvl="1">
              <a:lnSpc>
                <a:spcPct val="100000"/>
              </a:lnSpc>
            </a:pPr>
            <a:r>
              <a:rPr lang="fr-BE"/>
              <a:t>Accéder à l'élément sélectionné</a:t>
            </a:r>
          </a:p>
          <a:p>
            <a:pPr marL="0" indent="0">
              <a:buNone/>
            </a:pP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612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EC00A9-96DE-4B72-93D3-049C1AA8F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Méthodes : insérer du contenu dans un élément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FC5637-CA1F-4144-BCCA-8499F8C20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.append()</a:t>
            </a:r>
          </a:p>
          <a:p>
            <a:pPr lvl="1"/>
            <a:r>
              <a:rPr lang="fr-BE" dirty="0"/>
              <a:t>Insérer du contenu à la fin de la sélection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prepend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Insérer du contenu au début de la sélection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before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Insérer du contenu avant la sélection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after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Insérer du contenu après la sélection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replaceWith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Remplacer </a:t>
            </a:r>
            <a:r>
              <a:rPr lang="fr-BE"/>
              <a:t>la sélection (la sélection elle-même et non son contenu)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62492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C0BFC2-2DB9-442C-9D7F-3468D9DB8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Méthodes : insérer des éléments dans le DOM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3914BB8-9977-4AE0-AC21-705C3E083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 fontScale="55000" lnSpcReduction="20000"/>
          </a:bodyPr>
          <a:lstStyle/>
          <a:p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eai.appendTo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(cible)</a:t>
            </a:r>
          </a:p>
          <a:p>
            <a:pPr lvl="1"/>
            <a:r>
              <a:rPr lang="fr-BE" dirty="0"/>
              <a:t>Insérer un élément à la fin de la cible</a:t>
            </a:r>
          </a:p>
          <a:p>
            <a:pPr lvl="1"/>
            <a:r>
              <a:rPr lang="fr-BE" sz="3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eai</a:t>
            </a:r>
            <a:r>
              <a:rPr lang="fr-BE" dirty="0"/>
              <a:t> 	: élément à insérer (sélecteur jQuery, nom d'élément, …)</a:t>
            </a:r>
          </a:p>
          <a:p>
            <a:pPr lvl="1"/>
            <a:r>
              <a:rPr lang="fr-BE" sz="3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cible</a:t>
            </a:r>
            <a:r>
              <a:rPr lang="fr-BE" dirty="0"/>
              <a:t> 	: élément dans lequel se fera l'insertion (sélecteur jQuery, nom d'élément, …)</a:t>
            </a:r>
          </a:p>
          <a:p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eai.prependTo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(cible)</a:t>
            </a:r>
          </a:p>
          <a:p>
            <a:pPr lvl="1"/>
            <a:r>
              <a:rPr lang="fr-BE" dirty="0" err="1"/>
              <a:t>Inséree</a:t>
            </a:r>
            <a:r>
              <a:rPr lang="fr-BE" dirty="0"/>
              <a:t> un élément au début de la cible</a:t>
            </a:r>
          </a:p>
          <a:p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eai.insertBefore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(cible)</a:t>
            </a:r>
          </a:p>
          <a:p>
            <a:pPr lvl="1"/>
            <a:r>
              <a:rPr lang="fr-BE" dirty="0"/>
              <a:t>Insérer un élément avant la cible</a:t>
            </a:r>
          </a:p>
          <a:p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eai.insertAfter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(cible)</a:t>
            </a:r>
          </a:p>
          <a:p>
            <a:pPr lvl="1"/>
            <a:r>
              <a:rPr lang="fr-BE" dirty="0"/>
              <a:t>Insérer un élément après la cible</a:t>
            </a:r>
          </a:p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.wrap(), 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wrapAll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Entourer un élément par un ou plusieurs autres éléments créés à la volée.</a:t>
            </a:r>
          </a:p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Supprimer les éléments sélectionnés</a:t>
            </a:r>
          </a:p>
        </p:txBody>
      </p:sp>
    </p:spTree>
    <p:extLst>
      <p:ext uri="{BB962C8B-B14F-4D97-AF65-F5344CB8AC3E}">
        <p14:creationId xmlns:p14="http://schemas.microsoft.com/office/powerpoint/2010/main" val="2664055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F42B91-2880-4A46-8C31-EC15B6EE1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Méthode : manipuler les attributs (getter)</a:t>
            </a:r>
            <a:endParaRPr lang="fr-BE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64DB220-7573-435B-A8F5-0A5B7C35F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fr-BE" dirty="0"/>
              <a:t> : Capturer la valeur d'un attribut</a:t>
            </a:r>
          </a:p>
          <a:p>
            <a:r>
              <a:rPr lang="fr-BE" dirty="0"/>
              <a:t>Ce getter ne renvoie qu'une seule valeur, celle du premier élément</a:t>
            </a:r>
          </a:p>
          <a:p>
            <a:r>
              <a:rPr lang="fr-BE" dirty="0"/>
              <a:t>Exemple: Dans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&lt;a </a:t>
            </a:r>
            <a:r>
              <a:rPr lang="fr-BE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href="http://api.jquery.com"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API jQuery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&lt;/a&gt;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&lt;a href="http://docs.jquery.com"&gt;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Documentation jQuery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&lt;/a&gt;</a:t>
            </a:r>
          </a:p>
          <a:p>
            <a:pPr marL="0" indent="0">
              <a:buNone/>
            </a:pPr>
            <a:r>
              <a:rPr lang="fr-BE" dirty="0"/>
              <a:t>	… l'expression</a:t>
            </a:r>
            <a:br>
              <a:rPr lang="fr-BE" dirty="0"/>
            </a:br>
            <a:r>
              <a:rPr lang="fr-BE" dirty="0"/>
              <a:t>	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$('a').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('href')</a:t>
            </a:r>
            <a:br>
              <a:rPr lang="fr-BE" dirty="0"/>
            </a:br>
            <a:r>
              <a:rPr lang="fr-BE" dirty="0"/>
              <a:t>	renvoie seulement </a:t>
            </a:r>
            <a:r>
              <a:rPr lang="fr-BE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http://api.jquery.com</a:t>
            </a:r>
            <a:endParaRPr lang="fr-BE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764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1F8B06-53F4-4719-8A1E-1F892AF2B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Méthode : manipuler les attributs (setter)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65D189-C476-4005-8DA7-65E4B5887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038680"/>
            <a:ext cx="11183911" cy="4731839"/>
          </a:xfrm>
        </p:spPr>
        <p:txBody>
          <a:bodyPr>
            <a:normAutofit fontScale="85000" lnSpcReduction="20000"/>
          </a:bodyPr>
          <a:lstStyle/>
          <a:p>
            <a:r>
              <a:rPr lang="fr-BE" dirty="0"/>
              <a:t>Définir la valeur d'un attribut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$('#logo').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BE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'src',</a:t>
            </a:r>
            <a:r>
              <a:rPr lang="fr-BE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'logo.gif'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fr-BE" dirty="0"/>
              <a:t>Définir la valeur d'une série d'attributs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$('#logo').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fr-BE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fr-BE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fr-BE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'logo.gif', </a:t>
            </a:r>
            <a:br>
              <a:rPr lang="fr-BE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lang="fr-BE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alt</a:t>
            </a:r>
            <a:r>
              <a:rPr lang="fr-BE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'Logo de la société' }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r>
              <a:rPr lang="fr-BE" dirty="0"/>
              <a:t>Définir la valeur d'un attribut par fonction (algorithme)</a:t>
            </a:r>
          </a:p>
          <a:p>
            <a:pPr marL="457189" lvl="1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$('a').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attr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'target',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function() {</a:t>
            </a:r>
          </a:p>
          <a:p>
            <a:pPr marL="457189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if(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this.host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location.host</a:t>
            </a: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return '_self'</a:t>
            </a:r>
          </a:p>
          <a:p>
            <a:pPr marL="457189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else return '_blank'</a:t>
            </a:r>
          </a:p>
          <a:p>
            <a:pPr marL="457189" lvl="1" indent="0">
              <a:buNone/>
            </a:pPr>
            <a:r>
              <a:rPr lang="en-US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 err="1"/>
              <a:t>Supprimer</a:t>
            </a:r>
            <a:r>
              <a:rPr lang="en-US" dirty="0"/>
              <a:t> un </a:t>
            </a:r>
            <a:r>
              <a:rPr lang="en-US" dirty="0" err="1"/>
              <a:t>attribut</a:t>
            </a:r>
            <a:endParaRPr lang="en-US" dirty="0"/>
          </a:p>
          <a:p>
            <a:pPr lvl="1"/>
            <a:r>
              <a:rPr lang="fr-BE" sz="3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sz="3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removeAttr</a:t>
            </a:r>
            <a:r>
              <a:rPr lang="fr-BE" sz="3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594922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A80C0C-D7E5-4EF4-AC23-202AA6BCF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Méthodes : CSS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ACCFD5-645C-45C7-82E7-BD3A78504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 fontScale="92500" lnSpcReduction="10000"/>
          </a:bodyPr>
          <a:lstStyle/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Accéder aux propriétés CSS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addClass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Ajouter une classe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removeClass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Supprimer une classe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hasClass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Tester si l'élément est d'une certaine classe</a:t>
            </a:r>
          </a:p>
        </p:txBody>
      </p:sp>
    </p:spTree>
    <p:extLst>
      <p:ext uri="{BB962C8B-B14F-4D97-AF65-F5344CB8AC3E}">
        <p14:creationId xmlns:p14="http://schemas.microsoft.com/office/powerpoint/2010/main" val="419926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8D4F38-80AD-49D3-9F5F-0E65BB880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Méthodes : effets spéciaux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61F954-A680-43FF-A578-8EF63451F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hide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Masquer un élément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.show()</a:t>
            </a:r>
          </a:p>
          <a:p>
            <a:pPr lvl="1"/>
            <a:r>
              <a:rPr lang="en-US" dirty="0" err="1"/>
              <a:t>Afficher</a:t>
            </a:r>
            <a:r>
              <a:rPr lang="en-US" dirty="0"/>
              <a:t> un </a:t>
            </a:r>
            <a:r>
              <a:rPr lang="en-US" dirty="0" err="1"/>
              <a:t>élément</a:t>
            </a:r>
            <a:endParaRPr lang="fr-BE" dirty="0"/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.fadeIn()</a:t>
            </a:r>
          </a:p>
          <a:p>
            <a:pPr lvl="1"/>
            <a:r>
              <a:rPr lang="en-US" dirty="0" err="1"/>
              <a:t>Afficher</a:t>
            </a:r>
            <a:r>
              <a:rPr lang="en-US" dirty="0"/>
              <a:t> un </a:t>
            </a:r>
            <a:r>
              <a:rPr lang="en-US" dirty="0" err="1"/>
              <a:t>élément</a:t>
            </a:r>
            <a:r>
              <a:rPr lang="en-US" dirty="0"/>
              <a:t> </a:t>
            </a:r>
            <a:r>
              <a:rPr lang="en-US" dirty="0" err="1"/>
              <a:t>progressivement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.fadeOut()</a:t>
            </a:r>
          </a:p>
          <a:p>
            <a:pPr lvl="1"/>
            <a:r>
              <a:rPr lang="fr-BE" dirty="0"/>
              <a:t>Masquer un élément </a:t>
            </a:r>
            <a:r>
              <a:rPr lang="en-US" dirty="0" err="1"/>
              <a:t>progressivement</a:t>
            </a:r>
            <a:endParaRPr lang="fr-BE" dirty="0"/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.toggle()</a:t>
            </a:r>
          </a:p>
          <a:p>
            <a:pPr lvl="1"/>
            <a:r>
              <a:rPr lang="fr-BE" dirty="0"/>
              <a:t>Afficher ou masquer un élément</a:t>
            </a:r>
          </a:p>
          <a:p>
            <a:r>
              <a:rPr lang="fr-BE" dirty="0">
                <a:hlinkClick r:id="rId2"/>
              </a:rPr>
              <a:t>Tous les effets spéciaux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8406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EC317D-9FCF-4849-A152-F1514B3AF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Méthode : données :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$.data()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BEFFEFF-A58F-4CD8-9A0B-28DAFF44B3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70000" lnSpcReduction="20000"/>
          </a:bodyPr>
          <a:lstStyle/>
          <a:p>
            <a:r>
              <a:rPr lang="fr-BE" dirty="0">
                <a:solidFill>
                  <a:schemeClr val="accent2"/>
                </a:solidFill>
              </a:rPr>
              <a:t>Associer des </a:t>
            </a:r>
            <a:r>
              <a:rPr lang="fr-BE" dirty="0">
                <a:solidFill>
                  <a:schemeClr val="accent1"/>
                </a:solidFill>
              </a:rPr>
              <a:t>données</a:t>
            </a:r>
            <a:r>
              <a:rPr lang="fr-BE" dirty="0">
                <a:solidFill>
                  <a:schemeClr val="accent2"/>
                </a:solidFill>
              </a:rPr>
              <a:t> à un élément du DOM.</a:t>
            </a:r>
          </a:p>
          <a:p>
            <a:pPr lvl="1"/>
            <a:r>
              <a:rPr lang="fr-BE" dirty="0"/>
              <a:t>Données textuelles, complémentaires, quelconques.</a:t>
            </a:r>
          </a:p>
          <a:p>
            <a:pPr lvl="1"/>
            <a:r>
              <a:rPr lang="fr-BE" dirty="0"/>
              <a:t>Indépendant du contenu HTML.</a:t>
            </a:r>
          </a:p>
          <a:p>
            <a:r>
              <a:rPr lang="fr-BE" dirty="0"/>
              <a:t>Setter :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$.data(el, 'nom',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json_data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fr-BE" dirty="0"/>
              <a:t> 		: nom de l'élément concerné, sans apostrophes</a:t>
            </a:r>
          </a:p>
          <a:p>
            <a:pPr lvl="1"/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'nom'</a:t>
            </a:r>
            <a:r>
              <a:rPr lang="fr-BE" dirty="0"/>
              <a:t> 		: nom dans lequel sera stockée la donnée</a:t>
            </a:r>
          </a:p>
          <a:p>
            <a:pPr lvl="1"/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json_data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: {nom_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don1:val_don1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nom_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don2:val_don2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etc.}</a:t>
            </a:r>
          </a:p>
          <a:p>
            <a:pPr lvl="2"/>
            <a:r>
              <a:rPr lang="fr-BE" dirty="0"/>
              <a:t>nom_don1, nom_don2, etc. 	: noms associés aux données</a:t>
            </a:r>
          </a:p>
          <a:p>
            <a:pPr lvl="2"/>
            <a:r>
              <a:rPr lang="fr-BE"/>
              <a:t>val_don1, val_don2</a:t>
            </a:r>
            <a:r>
              <a:rPr lang="fr-BE" dirty="0"/>
              <a:t>, etc. </a:t>
            </a:r>
            <a:r>
              <a:rPr lang="fr-BE"/>
              <a:t>	: </a:t>
            </a:r>
            <a:r>
              <a:rPr lang="fr-BE" dirty="0"/>
              <a:t>données quelconques</a:t>
            </a:r>
          </a:p>
          <a:p>
            <a:r>
              <a:rPr lang="fr-BE" dirty="0"/>
              <a:t>Getter :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uneVariable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$.data(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el,'nom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nom_don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uneVariable</a:t>
            </a:r>
            <a:r>
              <a:rPr lang="fr-BE" dirty="0"/>
              <a:t> 	: variable quelconque</a:t>
            </a:r>
          </a:p>
          <a:p>
            <a:pPr lvl="1"/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</a:t>
            </a:r>
            <a:r>
              <a:rPr lang="fr-BE" dirty="0"/>
              <a:t> 		: nom de l'élément auquel une donnée a été associée</a:t>
            </a:r>
          </a:p>
          <a:p>
            <a:pPr lvl="1"/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'nom'</a:t>
            </a:r>
            <a:r>
              <a:rPr lang="fr-BE" dirty="0"/>
              <a:t> 		: nom dans lequel a été stockée la donnée</a:t>
            </a:r>
          </a:p>
          <a:p>
            <a:pPr lvl="1"/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nom_don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	</a:t>
            </a:r>
            <a:r>
              <a:rPr lang="fr-BE"/>
              <a:t>: </a:t>
            </a:r>
            <a:r>
              <a:rPr lang="fr-BE" dirty="0"/>
              <a:t>nom de la donnée à retrouver.</a:t>
            </a:r>
          </a:p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removeData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Supprimer les données associées à un élément</a:t>
            </a:r>
          </a:p>
        </p:txBody>
      </p:sp>
    </p:spTree>
    <p:extLst>
      <p:ext uri="{BB962C8B-B14F-4D97-AF65-F5344CB8AC3E}">
        <p14:creationId xmlns:p14="http://schemas.microsoft.com/office/powerpoint/2010/main" val="3355747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EC317D-9FCF-4849-A152-F1514B3AF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Méthode : données :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$.data()</a:t>
            </a:r>
            <a:r>
              <a:rPr lang="fr-BE" dirty="0"/>
              <a:t>: exemple</a:t>
            </a:r>
            <a:endParaRPr lang="fr-BE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BEFFEFF-A58F-4CD8-9A0B-28DAFF44B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defTabSz="363538">
              <a:spcBef>
                <a:spcPts val="0"/>
              </a:spcBef>
              <a:buNone/>
            </a:pPr>
            <a:r>
              <a:rPr lang="fr-BE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élément dans lequel on va stocker des données</a:t>
            </a:r>
          </a:p>
          <a:p>
            <a:pPr marL="0" indent="0" defTabSz="363538">
              <a:spcBef>
                <a:spcPts val="0"/>
              </a:spcBef>
              <a:buNone/>
            </a:pPr>
            <a:r>
              <a:rPr lang="fr-BE" sz="3700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fr-BE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3700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my_div</a:t>
            </a:r>
            <a:r>
              <a:rPr lang="fr-BE" sz="37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37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BE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</a:rPr>
              <a:t>'div'</a:t>
            </a: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)[</a:t>
            </a: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fr-BE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fr-BE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defTabSz="363538">
              <a:spcBef>
                <a:spcPts val="0"/>
              </a:spcBef>
              <a:buNone/>
            </a:pPr>
            <a:endParaRPr lang="fr-BE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defTabSz="363538">
              <a:spcBef>
                <a:spcPts val="0"/>
              </a:spcBef>
              <a:buNone/>
            </a:pPr>
            <a:r>
              <a:rPr lang="fr-BE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données en question</a:t>
            </a:r>
          </a:p>
          <a:p>
            <a:pPr marL="0" indent="0" defTabSz="363538">
              <a:spcBef>
                <a:spcPts val="0"/>
              </a:spcBef>
              <a:buNone/>
            </a:pPr>
            <a:r>
              <a:rPr lang="fr-BE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grandfather_json</a:t>
            </a: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fr-BE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defTabSz="363538">
              <a:spcBef>
                <a:spcPts val="0"/>
              </a:spcBef>
              <a:buNone/>
            </a:pP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BE" dirty="0" err="1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Peulafenetre</a:t>
            </a:r>
            <a:r>
              <a:rPr lang="fr-BE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BE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fr-BE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defTabSz="363538">
              <a:spcBef>
                <a:spcPts val="0"/>
              </a:spcBef>
              <a:buNone/>
            </a:pP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"Firmin"</a:t>
            </a:r>
            <a:r>
              <a:rPr lang="fr-BE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fr-BE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defTabSz="363538">
              <a:spcBef>
                <a:spcPts val="0"/>
              </a:spcBef>
              <a:buNone/>
            </a:pP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  <a:r>
              <a:rPr lang="fr-BE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fr-BE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defTabSz="363538">
              <a:spcBef>
                <a:spcPts val="0"/>
              </a:spcBef>
              <a:buNone/>
            </a:pPr>
            <a:r>
              <a:rPr lang="fr-BE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fr-BE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defTabSz="363538">
              <a:spcBef>
                <a:spcPts val="0"/>
              </a:spcBef>
              <a:buNone/>
            </a:pP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 defTabSz="363538">
              <a:spcBef>
                <a:spcPts val="0"/>
              </a:spcBef>
              <a:buNone/>
            </a:pPr>
            <a:r>
              <a:rPr lang="fr-BE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on stocke les données dans l'élément</a:t>
            </a:r>
          </a:p>
          <a:p>
            <a:pPr marL="0" indent="0" defTabSz="363538">
              <a:spcBef>
                <a:spcPts val="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my_div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'grandfather'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grandfather_json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defTabSz="363538">
              <a:spcBef>
                <a:spcPts val="0"/>
              </a:spcBef>
              <a:buNone/>
            </a:pP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 defTabSz="363538">
              <a:spcBef>
                <a:spcPts val="0"/>
              </a:spcBef>
              <a:buNone/>
            </a:pPr>
            <a:r>
              <a:rPr lang="fr-BE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on récupère les données de l'élément pour les afficher</a:t>
            </a:r>
          </a:p>
          <a:p>
            <a:pPr marL="0" indent="0" defTabSz="363538">
              <a:spcBef>
                <a:spcPts val="0"/>
              </a:spcBef>
              <a:buNone/>
            </a:pP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val3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data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div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'grandfather'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defTabSz="363538">
              <a:spcBef>
                <a:spcPts val="0"/>
              </a:spcBef>
              <a:buNone/>
            </a:pP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</a:t>
            </a:r>
            <a:r>
              <a:rPr lang="fr-BE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BE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'#sp3'</a:t>
            </a:r>
            <a:r>
              <a:rPr lang="fr-BE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fr-BE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fr-BE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BE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val3</a:t>
            </a:r>
            <a:r>
              <a:rPr lang="fr-BE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fr-BE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712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A47BCD8-9B71-4A9B-80D2-7D266358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Évènements </a:t>
            </a:r>
            <a:r>
              <a:rPr lang="fr-BE" dirty="0"/>
              <a:t>: souris, clavier, focus, </a:t>
            </a:r>
            <a:r>
              <a:rPr lang="fr-BE" dirty="0" err="1"/>
              <a:t>timer</a:t>
            </a:r>
            <a:endParaRPr lang="fr-BE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D3C711F-3F20-1728-2B73-FD68191642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552E9DF-2946-3CA2-CA98-861593756F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Picture 2" descr="Le logo de jQuery avec son slogan">
            <a:extLst>
              <a:ext uri="{FF2B5EF4-FFF2-40B4-BE49-F238E27FC236}">
                <a16:creationId xmlns:a16="http://schemas.microsoft.com/office/drawing/2014/main" id="{8788E85B-B464-17F0-659B-C29D0BEDE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0991" y="210828"/>
            <a:ext cx="4168775" cy="104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511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AB1A47-7052-435D-827F-712117E92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Évènements</a:t>
            </a:r>
            <a:endParaRPr lang="fr-BE" i="1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EF93E9D-2021-410A-89CE-08E07AD53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</a:t>
            </a:r>
            <a:r>
              <a:rPr lang="fr-BE" b="1" i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).on( "</a:t>
            </a:r>
            <a:r>
              <a:rPr lang="fr-BE" b="1" i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mge",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fr-B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instructions jQuery </a:t>
            </a:r>
            <a:br>
              <a:rPr lang="fr-B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gérant l'événement</a:t>
            </a:r>
            <a:br>
              <a:rPr lang="fr-B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! code de "callback" !</a:t>
            </a:r>
            <a:br>
              <a:rPr lang="fr-B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càd exécuté plus tard 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fr-BE" b="1" i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fr-BE" dirty="0"/>
              <a:t> : sélecteur jQuery </a:t>
            </a:r>
          </a:p>
          <a:p>
            <a:pPr lvl="1"/>
            <a:r>
              <a:rPr lang="fr-BE" b="1" i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mge</a:t>
            </a:r>
            <a:r>
              <a:rPr lang="fr-BE" dirty="0"/>
              <a:t> : méthode de gestion événementielle (cf slide suivant)</a:t>
            </a:r>
          </a:p>
        </p:txBody>
      </p:sp>
    </p:spTree>
    <p:extLst>
      <p:ext uri="{BB962C8B-B14F-4D97-AF65-F5344CB8AC3E}">
        <p14:creationId xmlns:p14="http://schemas.microsoft.com/office/powerpoint/2010/main" val="1603573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AB1A47-7052-435D-827F-712117E92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Évènements multiples </a:t>
            </a:r>
            <a:endParaRPr lang="fr-BE" i="1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EF93E9D-2021-410A-89CE-08E07AD53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</a:t>
            </a:r>
            <a:r>
              <a:rPr lang="fr-BE" b="1" i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).on( {</a:t>
            </a:r>
          </a:p>
          <a:p>
            <a:pPr marL="0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b="1" i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mge1 :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	</a:t>
            </a:r>
            <a:r>
              <a:rPr lang="fr-BE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instructions évén. 1</a:t>
            </a:r>
            <a:br>
              <a:rPr lang="fr-BE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},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b="1" i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mge1 :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function() {</a:t>
            </a:r>
            <a:b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	</a:t>
            </a:r>
            <a:r>
              <a:rPr lang="fr-BE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instructions évén. 2</a:t>
            </a:r>
            <a:br>
              <a:rPr lang="fr-BE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},</a:t>
            </a:r>
          </a:p>
          <a:p>
            <a:pPr marL="0" indent="0">
              <a:buNone/>
            </a:pP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  <a:p>
            <a:r>
              <a:rPr lang="fr-BE" b="1" i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fr-BE"/>
              <a:t> </a:t>
            </a:r>
            <a:r>
              <a:rPr lang="fr-BE" dirty="0"/>
              <a:t>: sélecteur jQuery </a:t>
            </a:r>
          </a:p>
          <a:p>
            <a:r>
              <a:rPr lang="fr-BE" b="1" i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mge1</a:t>
            </a:r>
            <a:r>
              <a:rPr lang="fr-BE"/>
              <a:t>, </a:t>
            </a:r>
            <a:r>
              <a:rPr lang="fr-BE" b="1" i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mge2</a:t>
            </a:r>
            <a:r>
              <a:rPr lang="fr-BE"/>
              <a:t> </a:t>
            </a:r>
            <a:r>
              <a:rPr lang="fr-BE" dirty="0"/>
              <a:t>: méthode de </a:t>
            </a:r>
            <a:r>
              <a:rPr lang="fr-BE"/>
              <a:t>gestion événementielle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1539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AB1A47-7052-435D-827F-712117E92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Évènements </a:t>
            </a:r>
            <a:r>
              <a:rPr lang="fr-BE" i="1"/>
              <a:t>(deprecated)</a:t>
            </a:r>
            <a:endParaRPr lang="fr-BE" i="1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3EF93E9D-2021-410A-89CE-08E07AD53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</a:t>
            </a:r>
            <a:r>
              <a:rPr lang="fr-BE" b="1" i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fr-BE" b="1" i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mge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	</a:t>
            </a:r>
            <a:r>
              <a:rPr lang="fr-B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instructions jQuery </a:t>
            </a:r>
            <a:br>
              <a:rPr lang="fr-B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gérant l'événement</a:t>
            </a:r>
            <a:br>
              <a:rPr lang="fr-B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! code de "callback" !</a:t>
            </a:r>
            <a:br>
              <a:rPr lang="fr-B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càd exécuté plus tard 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fr-BE" b="1" i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</a:t>
            </a:r>
            <a:r>
              <a:rPr lang="fr-BE" dirty="0"/>
              <a:t> : sélecteur jQuery </a:t>
            </a:r>
          </a:p>
          <a:p>
            <a:pPr lvl="1"/>
            <a:r>
              <a:rPr lang="fr-BE" b="1" i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mge</a:t>
            </a:r>
            <a:r>
              <a:rPr lang="fr-BE" dirty="0"/>
              <a:t> : méthode de gestion événementielle (cf slide suivant)</a:t>
            </a:r>
          </a:p>
        </p:txBody>
      </p:sp>
    </p:spTree>
    <p:extLst>
      <p:ext uri="{BB962C8B-B14F-4D97-AF65-F5344CB8AC3E}">
        <p14:creationId xmlns:p14="http://schemas.microsoft.com/office/powerpoint/2010/main" val="3206444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E67D69-7763-4855-83AB-2FAC1CAC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Méthode événementielle : souris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72ABA9-1FA5-4B00-BD21-F5B439EFC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.click()</a:t>
            </a:r>
          </a:p>
          <a:p>
            <a:pPr lvl="1"/>
            <a:r>
              <a:rPr lang="fr-BE" dirty="0"/>
              <a:t>Clic gauche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mouseover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Début de survol de l'élément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mouseout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Arrêt de survol de l'élément</a:t>
            </a:r>
          </a:p>
          <a:p>
            <a:r>
              <a:rPr lang="fr-BE" dirty="0">
                <a:hlinkClick r:id="rId2"/>
              </a:rPr>
              <a:t>Tous les évènements souris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82824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E67D69-7763-4855-83AB-2FAC1CAC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Méthode événementielle : clavier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72ABA9-1FA5-4B00-BD21-F5B439EFCB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numCol="1">
            <a:normAutofit fontScale="70000" lnSpcReduction="20000"/>
          </a:bodyPr>
          <a:lstStyle/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keydown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Appui sur une touche du clavier</a:t>
            </a:r>
          </a:p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keyup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Relâchement d'une touche du clavier</a:t>
            </a:r>
          </a:p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keypress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Maintien d'une touche </a:t>
            </a:r>
            <a:r>
              <a:rPr lang="fr-BE" dirty="0">
                <a:solidFill>
                  <a:schemeClr val="accent2"/>
                </a:solidFill>
              </a:rPr>
              <a:t>textuelle</a:t>
            </a:r>
            <a:r>
              <a:rPr lang="fr-BE" dirty="0"/>
              <a:t> du clavier enfoncée</a:t>
            </a:r>
          </a:p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.change()</a:t>
            </a:r>
          </a:p>
          <a:p>
            <a:pPr lvl="1"/>
            <a:r>
              <a:rPr lang="fr-BE" dirty="0"/>
              <a:t>À chaque modification du contenu d'un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fr-BE" dirty="0"/>
              <a:t>,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fr-BE" dirty="0"/>
              <a:t> ou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fr-BE" dirty="0"/>
              <a:t>.</a:t>
            </a:r>
          </a:p>
          <a:p>
            <a:r>
              <a:rPr lang="fr-BE" dirty="0">
                <a:hlinkClick r:id="rId2"/>
              </a:rPr>
              <a:t>Tous les évènements clavier</a:t>
            </a:r>
            <a:endParaRPr lang="fr-BE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633F99E0-6A1C-4A97-AA98-B04085E141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BE" dirty="0"/>
              <a:t>Sur l'évènement lui-même :</a:t>
            </a:r>
          </a:p>
          <a:p>
            <a:r>
              <a:rPr lang="fr-BE" b="1" i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.which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dirty="0"/>
              <a:t>Déterminer la touche du clavier pressée</a:t>
            </a:r>
          </a:p>
          <a:p>
            <a:pPr lvl="1"/>
            <a:r>
              <a:rPr lang="fr-BE" dirty="0"/>
              <a:t>Valeur renvoyée : code de la touche</a:t>
            </a:r>
          </a:p>
          <a:p>
            <a:r>
              <a:rPr lang="fr-BE" b="1" i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event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.type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dirty="0"/>
              <a:t>Déterminer le type d'événement </a:t>
            </a:r>
          </a:p>
          <a:p>
            <a:pPr lvl="1"/>
            <a:r>
              <a:rPr lang="fr-BE" dirty="0"/>
              <a:t>Valeur renvoyée</a:t>
            </a:r>
          </a:p>
          <a:p>
            <a:pPr lvl="2"/>
            <a:r>
              <a:rPr lang="fr-BE" dirty="0" err="1"/>
              <a:t>keydown</a:t>
            </a:r>
            <a:endParaRPr lang="fr-BE" dirty="0"/>
          </a:p>
          <a:p>
            <a:pPr lvl="2"/>
            <a:r>
              <a:rPr lang="fr-BE" dirty="0" err="1"/>
              <a:t>keypress</a:t>
            </a:r>
            <a:endParaRPr lang="fr-BE" dirty="0"/>
          </a:p>
          <a:p>
            <a:pPr lvl="2"/>
            <a:r>
              <a:rPr lang="fr-BE" dirty="0" err="1"/>
              <a:t>keyup</a:t>
            </a:r>
            <a:r>
              <a:rPr lang="fr-BE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1012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E67D69-7763-4855-83AB-2FAC1CAC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/>
              <a:t>Méthode événementielle : focus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572ABA9-1FA5-4B00-BD21-F5B439EFC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.focus()</a:t>
            </a:r>
          </a:p>
          <a:p>
            <a:pPr lvl="1"/>
            <a:r>
              <a:rPr lang="fr-BE" dirty="0"/>
              <a:t>À la réception du focus</a:t>
            </a:r>
          </a:p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blur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À la perte du focus</a:t>
            </a:r>
          </a:p>
          <a:p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focusin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focusout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(), 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resize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dirty="0"/>
              <a:t>Autres méthodes potentiellement intéressantes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0726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D88B6E-9801-40EB-9EC8-DD55E21BC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Évènement souris </a:t>
            </a:r>
            <a:r>
              <a:rPr lang="fr-BE"/>
              <a:t>: exo 31</a:t>
            </a:r>
            <a:endParaRPr lang="fr-BE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7A04BFB-6191-4E83-842D-8D0A49652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7136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id="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target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 </a:t>
            </a:r>
            <a:b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src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="logo103x90-V6-beige_bg.png"&gt;</a:t>
            </a:r>
            <a:b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…</a:t>
            </a:r>
            <a:b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$("#</a:t>
            </a:r>
            <a:r>
              <a:rPr lang="en-US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target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").</a:t>
            </a:r>
            <a:r>
              <a:rPr lang="en-US">
                <a:solidFill>
                  <a:schemeClr val="accent5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on( "click", </a:t>
            </a:r>
            <a:r>
              <a:rPr lang="en-US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function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{	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code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exécuté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au moment de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l'évènement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!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var 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mip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{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top :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Math.floor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Math.random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()*480),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	left : 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Math.floor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Math.random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()*640)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};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$('#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target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').offset(</a:t>
            </a:r>
            <a:r>
              <a:rPr lang="en-US" dirty="0" err="1">
                <a:solidFill>
                  <a:schemeClr val="accent6">
                    <a:lumMod val="1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mip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fin du code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évènementiel</a:t>
            </a:r>
            <a:endParaRPr lang="en-US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});</a:t>
            </a:r>
            <a:endParaRPr lang="fr-BE" dirty="0">
              <a:solidFill>
                <a:schemeClr val="accent6">
                  <a:lumMod val="50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694987-6420-43AF-985C-D6DFB75FC66A}"/>
              </a:ext>
            </a:extLst>
          </p:cNvPr>
          <p:cNvSpPr txBox="1"/>
          <p:nvPr/>
        </p:nvSpPr>
        <p:spPr>
          <a:xfrm>
            <a:off x="8161867" y="4979444"/>
            <a:ext cx="23029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dirty="0">
                <a:solidFill>
                  <a:schemeClr val="bg2">
                    <a:lumMod val="25000"/>
                  </a:schemeClr>
                </a:solidFill>
              </a:rPr>
              <a:t>Question : </a:t>
            </a:r>
            <a:br>
              <a:rPr lang="fr-BE" sz="28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fr-BE" sz="2800" dirty="0">
                <a:solidFill>
                  <a:schemeClr val="bg2">
                    <a:lumMod val="25000"/>
                  </a:schemeClr>
                </a:solidFill>
              </a:rPr>
              <a:t>Que fait ce code jQuery ?</a:t>
            </a:r>
          </a:p>
        </p:txBody>
      </p:sp>
    </p:spTree>
    <p:extLst>
      <p:ext uri="{BB962C8B-B14F-4D97-AF65-F5344CB8AC3E}">
        <p14:creationId xmlns:p14="http://schemas.microsoft.com/office/powerpoint/2010/main" val="1806934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0834C1-7812-47A5-9B43-E726AAD02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Évènement souris </a:t>
            </a:r>
            <a:r>
              <a:rPr lang="fr-BE"/>
              <a:t>: exo 32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074FB9-C12C-45B4-A4F3-D42F001BB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BE" dirty="0"/>
              <a:t>Fichier de départ </a:t>
            </a:r>
            <a:r>
              <a:rPr lang="fr-BE"/>
              <a:t>: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exo32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_image_bouton_start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.html</a:t>
            </a:r>
          </a:p>
          <a:p>
            <a:pPr marL="446088" indent="-446088">
              <a:buFont typeface="+mj-lt"/>
              <a:buAutoNum type="arabicPeriod"/>
            </a:pPr>
            <a:r>
              <a:rPr lang="fr-BE"/>
              <a:t>Positionner l'image en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top:100</a:t>
            </a:r>
            <a:r>
              <a:rPr lang="fr-BE"/>
              <a:t> et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left:</a:t>
            </a:r>
            <a:r>
              <a:rPr lang="fr-BE" b="1" i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milieu</a:t>
            </a:r>
            <a:r>
              <a:rPr lang="fr-BE"/>
              <a:t> de la page. Tuyaux : </a:t>
            </a:r>
          </a:p>
          <a:p>
            <a:pPr lvl="1"/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.offset()</a:t>
            </a:r>
          </a:p>
          <a:p>
            <a:pPr marL="446088" indent="-446088">
              <a:buFont typeface="+mj-lt"/>
              <a:buAutoNum type="arabicPeriod"/>
            </a:pPr>
            <a:r>
              <a:rPr lang="fr-BE" dirty="0"/>
              <a:t>Que l'image bouge de 10 pixels vers le bas à chaque clic sur le bouton. Tuyaux :</a:t>
            </a:r>
          </a:p>
          <a:p>
            <a:pPr lvl="1"/>
            <a:r>
              <a:rPr lang="fr-BE" sz="33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e.which</a:t>
            </a:r>
            <a:endParaRPr lang="fr-BE" sz="33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sz="33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.click()</a:t>
            </a:r>
          </a:p>
          <a:p>
            <a:pPr lvl="1"/>
            <a:r>
              <a:rPr lang="fr-BE" sz="33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.offset()</a:t>
            </a:r>
          </a:p>
          <a:p>
            <a:pPr marL="444500" indent="-444500">
              <a:buFont typeface="+mj-lt"/>
              <a:buAutoNum type="arabicPeriod"/>
            </a:pPr>
            <a:r>
              <a:rPr lang="fr-BE" dirty="0"/>
              <a:t>Que le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span</a:t>
            </a:r>
            <a:r>
              <a:rPr lang="fr-BE" dirty="0"/>
              <a:t>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id="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my_index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BE" dirty="0"/>
              <a:t> (dans le bouton)  affiche le nombre de clics. Tuyaux :</a:t>
            </a:r>
          </a:p>
          <a:p>
            <a:pPr lvl="1"/>
            <a:r>
              <a:rPr lang="fr-BE" dirty="0"/>
              <a:t>compteur en variable globale</a:t>
            </a:r>
          </a:p>
          <a:p>
            <a:pPr lvl="1"/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.html()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4741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D88B6E-9801-40EB-9EC8-DD55E21BC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Évènement clavier </a:t>
            </a:r>
            <a:r>
              <a:rPr lang="fr-BE"/>
              <a:t>: exo 33</a:t>
            </a:r>
            <a:endParaRPr lang="fr-BE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57A04BFB-6191-4E83-842D-8D0A49652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1852"/>
            <a:ext cx="11353800" cy="46210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&lt;div id=</a:t>
            </a:r>
            <a:r>
              <a:rPr lang="fr-BE" sz="2800" b="1" dirty="0">
                <a:solidFill>
                  <a:srgbClr val="8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BE" sz="28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lumiere</a:t>
            </a:r>
            <a:r>
              <a:rPr lang="fr-BE" sz="2800" b="1" dirty="0">
                <a:solidFill>
                  <a:srgbClr val="8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BE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fr-BE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id=</a:t>
            </a:r>
            <a:r>
              <a:rPr lang="fr-BE" sz="2800" b="1" dirty="0">
                <a:solidFill>
                  <a:srgbClr val="8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BE" sz="28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fr-BE" sz="2800" b="1" dirty="0">
                <a:solidFill>
                  <a:srgbClr val="8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&gt;&lt;/</a:t>
            </a:r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textarea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  <a:b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fr-BE" sz="28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</a:t>
            </a:r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b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$(</a:t>
            </a:r>
            <a:r>
              <a:rPr lang="fr-BE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'#</a:t>
            </a:r>
            <a:r>
              <a:rPr lang="fr-BE" sz="28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fr-BE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fr-BE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fr-BE" sz="2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keydown</a:t>
            </a:r>
            <a:r>
              <a:rPr lang="fr-BE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$('#</a:t>
            </a:r>
            <a:r>
              <a:rPr lang="fr-BE" sz="28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lumiere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</a:t>
            </a:r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('background-</a:t>
            </a:r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 'green');</a:t>
            </a:r>
            <a:b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r>
              <a:rPr lang="fr-BE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fr-BE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$(</a:t>
            </a:r>
            <a:r>
              <a:rPr lang="fr-BE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'#</a:t>
            </a:r>
            <a:r>
              <a:rPr lang="fr-BE" sz="28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target</a:t>
            </a:r>
            <a:r>
              <a:rPr lang="fr-BE" sz="2800" b="1" dirty="0">
                <a:solidFill>
                  <a:srgbClr val="8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  <a:r>
              <a:rPr lang="fr-BE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fr-BE" sz="28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keyup</a:t>
            </a:r>
            <a:r>
              <a:rPr lang="fr-BE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b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$('#</a:t>
            </a:r>
            <a:r>
              <a:rPr lang="fr-BE" sz="2800" b="1" dirty="0" err="1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lumiere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</a:t>
            </a:r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css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('background-</a:t>
            </a:r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', 'white');</a:t>
            </a:r>
            <a:b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r>
              <a:rPr lang="fr-BE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fr-BE" sz="28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0E023F7-994F-49E8-BF76-74D8079350D8}"/>
              </a:ext>
            </a:extLst>
          </p:cNvPr>
          <p:cNvSpPr txBox="1"/>
          <p:nvPr/>
        </p:nvSpPr>
        <p:spPr>
          <a:xfrm>
            <a:off x="9544505" y="1445125"/>
            <a:ext cx="23029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800" dirty="0">
                <a:solidFill>
                  <a:schemeClr val="bg2">
                    <a:lumMod val="25000"/>
                  </a:schemeClr>
                </a:solidFill>
              </a:rPr>
              <a:t>Question : </a:t>
            </a:r>
            <a:br>
              <a:rPr lang="fr-BE" sz="28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fr-BE" sz="2800" dirty="0">
                <a:solidFill>
                  <a:schemeClr val="bg2">
                    <a:lumMod val="25000"/>
                  </a:schemeClr>
                </a:solidFill>
              </a:rPr>
              <a:t>Que fait ce code jQuery ?</a:t>
            </a:r>
          </a:p>
        </p:txBody>
      </p:sp>
    </p:spTree>
    <p:extLst>
      <p:ext uri="{BB962C8B-B14F-4D97-AF65-F5344CB8AC3E}">
        <p14:creationId xmlns:p14="http://schemas.microsoft.com/office/powerpoint/2010/main" val="421504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0834C1-7812-47A5-9B43-E726AAD02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Évènement clavier </a:t>
            </a:r>
            <a:r>
              <a:rPr lang="fr-BE"/>
              <a:t>: exo 35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074FB9-C12C-45B4-A4F3-D42F001BB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dirty="0"/>
              <a:t>Fichier de départ </a:t>
            </a:r>
            <a:r>
              <a:rPr lang="fr-BE"/>
              <a:t>: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exo35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_image_clavier_start.html</a:t>
            </a:r>
          </a:p>
          <a:p>
            <a:pPr marL="446088" indent="-446088">
              <a:buFont typeface="+mj-lt"/>
              <a:buAutoNum type="arabicPeriod"/>
            </a:pPr>
            <a:r>
              <a:rPr lang="fr-BE" dirty="0"/>
              <a:t>Positionner l'image au milieu de la page</a:t>
            </a:r>
          </a:p>
          <a:p>
            <a:pPr lvl="1"/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.offset()</a:t>
            </a:r>
          </a:p>
          <a:p>
            <a:pPr marL="446088" indent="-446088">
              <a:buFont typeface="+mj-lt"/>
              <a:buAutoNum type="arabicPeriod"/>
            </a:pPr>
            <a:r>
              <a:rPr lang="fr-BE" dirty="0"/>
              <a:t>Afficher le code de la touche pressée dans le </a:t>
            </a:r>
            <a:r>
              <a:rPr lang="fr-BE" dirty="0" err="1"/>
              <a:t>span</a:t>
            </a:r>
            <a:r>
              <a:rPr lang="fr-BE" dirty="0"/>
              <a:t> </a:t>
            </a:r>
            <a:r>
              <a:rPr lang="fr-BE" dirty="0" err="1"/>
              <a:t>d'id</a:t>
            </a:r>
            <a:r>
              <a:rPr lang="fr-BE" dirty="0"/>
              <a:t> "</a:t>
            </a:r>
            <a:r>
              <a:rPr lang="fr-BE" dirty="0" err="1"/>
              <a:t>unelettre</a:t>
            </a:r>
            <a:r>
              <a:rPr lang="fr-BE" dirty="0"/>
              <a:t>"</a:t>
            </a:r>
          </a:p>
          <a:p>
            <a:pPr lvl="1"/>
            <a:r>
              <a:rPr lang="fr-BE" sz="31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e.which</a:t>
            </a:r>
            <a:endParaRPr lang="fr-BE" sz="31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sz="31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fr-BE" sz="31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fr-BE" sz="31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46088" indent="-446088">
              <a:buFont typeface="+mj-lt"/>
              <a:buAutoNum type="arabicPeriod"/>
            </a:pPr>
            <a:r>
              <a:rPr lang="fr-BE" dirty="0"/>
              <a:t>Que l'image bouge de 10 pixels vers le haut/bas/G/D, en fonction de la touche de flèche pressée : flèche haut/bas/G/D</a:t>
            </a:r>
          </a:p>
          <a:p>
            <a:pPr lvl="1"/>
            <a:r>
              <a:rPr lang="fr-BE" sz="31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e.which</a:t>
            </a:r>
            <a:endParaRPr lang="fr-BE" sz="31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sz="31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.offset()</a:t>
            </a:r>
          </a:p>
        </p:txBody>
      </p:sp>
    </p:spTree>
    <p:extLst>
      <p:ext uri="{BB962C8B-B14F-4D97-AF65-F5344CB8AC3E}">
        <p14:creationId xmlns:p14="http://schemas.microsoft.com/office/powerpoint/2010/main" val="2904418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73E5A5-E830-4484-8C77-7A3535F5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Événement : </a:t>
            </a:r>
            <a:r>
              <a:rPr lang="fr-BE" dirty="0" err="1"/>
              <a:t>timer</a:t>
            </a:r>
            <a:r>
              <a:rPr lang="fr-BE" dirty="0"/>
              <a:t> </a:t>
            </a:r>
            <a:r>
              <a:rPr lang="fr-BE"/>
              <a:t>: exo 37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82B0C8-1605-46C9-A6CA-D18AA6EC2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5072062"/>
          </a:xfrm>
        </p:spPr>
        <p:txBody>
          <a:bodyPr>
            <a:normAutofit fontScale="92500" lnSpcReduction="10000"/>
          </a:bodyPr>
          <a:lstStyle/>
          <a:p>
            <a:r>
              <a:rPr lang="fr-BE" sz="3200" dirty="0"/>
              <a:t>Évènement déclenché automatiquement par le navigateur à intervalle de temps régulier</a:t>
            </a:r>
          </a:p>
          <a:p>
            <a:r>
              <a:rPr lang="fr-BE" sz="3200" dirty="0"/>
              <a:t>Fonction principale : </a:t>
            </a:r>
            <a:r>
              <a:rPr lang="fr-BE" sz="32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setInterval</a:t>
            </a:r>
            <a:r>
              <a:rPr lang="fr-BE" sz="3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fr-BE" sz="3200" b="1" i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function,délai</a:t>
            </a:r>
            <a:r>
              <a:rPr lang="fr-BE" sz="32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);</a:t>
            </a:r>
          </a:p>
          <a:p>
            <a:pPr lvl="1"/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2800" dirty="0"/>
              <a:t>: code à exécuter à chaque intervalle de temps</a:t>
            </a:r>
            <a:endParaRPr lang="fr-BE" sz="28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délai </a:t>
            </a:r>
            <a:r>
              <a:rPr lang="fr-BE" sz="2800" dirty="0"/>
              <a:t>: intervalle de temps, en millisecondes</a:t>
            </a:r>
          </a:p>
          <a:p>
            <a:r>
              <a:rPr lang="fr-BE" sz="3200" dirty="0"/>
              <a:t>Exemple : Une horloge sur la page web est rafraichie chaque seconde.</a:t>
            </a:r>
          </a:p>
          <a:p>
            <a:pPr lvl="1"/>
            <a:r>
              <a:rPr lang="fr-BE" sz="2800" dirty="0"/>
              <a:t>Application de </a:t>
            </a:r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setInterval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fr-BE" sz="2800" dirty="0"/>
          </a:p>
          <a:p>
            <a:pPr lvl="1"/>
            <a:r>
              <a:rPr lang="fr-BE" sz="2800" dirty="0"/>
              <a:t>La fonction 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Horloge()</a:t>
            </a:r>
            <a:r>
              <a:rPr lang="fr-BE" dirty="0"/>
              <a:t> </a:t>
            </a:r>
            <a:r>
              <a:rPr lang="fr-BE" sz="2800" dirty="0"/>
              <a:t>est exécutée chaque seconde.</a:t>
            </a:r>
          </a:p>
          <a:p>
            <a:pPr marL="457189" lvl="1" indent="0">
              <a:buNone/>
            </a:pP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 </a:t>
            </a:r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function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457189" lvl="1" indent="0">
              <a:buNone/>
            </a:pP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setInterval</a:t>
            </a: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(Horloge, 1000);</a:t>
            </a:r>
          </a:p>
          <a:p>
            <a:pPr marL="457189" lvl="1" indent="0">
              <a:buNone/>
            </a:pPr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});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568C58C-0574-4339-814E-F621E3315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565" y="5083278"/>
            <a:ext cx="2482902" cy="159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363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7A47BCD8-9B71-4A9B-80D2-7D266358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/>
              <a:t>Formulaire</a:t>
            </a:r>
            <a:endParaRPr lang="fr-BE" dirty="0"/>
          </a:p>
        </p:txBody>
      </p:sp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1E8E477F-C0AD-5E68-12A8-41CBC0262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A98558A-822E-6757-F736-5A1F374B9CA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fr-BE"/>
          </a:p>
        </p:txBody>
      </p:sp>
      <p:pic>
        <p:nvPicPr>
          <p:cNvPr id="5" name="Picture 2" descr="Le logo de jQuery avec son slogan">
            <a:extLst>
              <a:ext uri="{FF2B5EF4-FFF2-40B4-BE49-F238E27FC236}">
                <a16:creationId xmlns:a16="http://schemas.microsoft.com/office/drawing/2014/main" id="{62F4C321-D073-F1CA-ED20-1582C9E9C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10991" y="210828"/>
            <a:ext cx="4168775" cy="1046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0923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3CE7FD-074E-4B32-9748-C6D307BB1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Formulaire : Méthode :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.val()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FB0940-C187-4BB7-81E7-03D2462E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45124"/>
            <a:ext cx="5700486" cy="4731839"/>
          </a:xfrm>
        </p:spPr>
        <p:txBody>
          <a:bodyPr>
            <a:normAutofit fontScale="70000" lnSpcReduction="20000"/>
          </a:bodyPr>
          <a:lstStyle/>
          <a:p>
            <a:r>
              <a:rPr lang="fr-BE" sz="4000" dirty="0"/>
              <a:t>Accéder à la valeur d'un élément</a:t>
            </a:r>
          </a:p>
          <a:p>
            <a:pPr lvl="1"/>
            <a:r>
              <a:rPr lang="fr-BE" sz="4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</a:p>
          <a:p>
            <a:pPr lvl="1"/>
            <a:r>
              <a:rPr lang="fr-BE" sz="4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radio</a:t>
            </a:r>
          </a:p>
          <a:p>
            <a:pPr lvl="1"/>
            <a:r>
              <a:rPr lang="fr-BE" sz="4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checkbox</a:t>
            </a:r>
            <a:endParaRPr lang="fr-BE" sz="40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sz="4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select/option </a:t>
            </a:r>
          </a:p>
          <a:p>
            <a:r>
              <a:rPr lang="fr-BE" sz="4000" dirty="0"/>
              <a:t>Exemples</a:t>
            </a:r>
            <a:endParaRPr lang="fr-BE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$('#nom').val()</a:t>
            </a:r>
          </a:p>
          <a:p>
            <a:pPr lvl="2"/>
            <a:r>
              <a:rPr lang="fr-BE" sz="3600" dirty="0"/>
              <a:t>Lit le nom de l'utilisateur.</a:t>
            </a:r>
          </a:p>
          <a:p>
            <a:pPr lvl="1"/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$(':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radio#H:checked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').val() </a:t>
            </a:r>
          </a:p>
          <a:p>
            <a:pPr lvl="2"/>
            <a:r>
              <a:rPr lang="fr-BE" sz="3600" dirty="0"/>
              <a:t>Lit l'état du bouton </a:t>
            </a:r>
            <a:r>
              <a:rPr lang="fr-BE" sz="3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radioH</a:t>
            </a:r>
            <a:r>
              <a:rPr lang="fr-BE" sz="3600" dirty="0"/>
              <a:t> et renvoie</a:t>
            </a:r>
            <a:r>
              <a:rPr lang="fr-BE" sz="3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BE" sz="3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fr-BE" sz="3600" dirty="0"/>
              <a:t> si le bouton est sélectionné, sinon</a:t>
            </a:r>
            <a:r>
              <a:rPr lang="fr-BE" sz="3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false.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E49E2A-9B68-4B42-8DF8-460679B067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58000" y="1445124"/>
            <a:ext cx="4495800" cy="4731839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pPr marL="0" indent="0" algn="ctr">
              <a:buNone/>
            </a:pPr>
            <a:r>
              <a:rPr lang="fr-BE" sz="4000" dirty="0"/>
              <a:t>Code HTML</a:t>
            </a:r>
          </a:p>
          <a:p>
            <a:pPr marL="0" indent="0">
              <a:buNone/>
            </a:pPr>
            <a:r>
              <a:rPr lang="fr-B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 d'utilisateur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&lt;input type="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	id="nom"&gt;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Sexe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&lt;input type="radio" 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id="H" 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="sexe" 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value="H"&gt;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&lt;input type="radio" 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id="F" 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="sexe" </a:t>
            </a:r>
            <a:b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value="F"&gt;</a:t>
            </a:r>
          </a:p>
        </p:txBody>
      </p:sp>
    </p:spTree>
    <p:extLst>
      <p:ext uri="{BB962C8B-B14F-4D97-AF65-F5344CB8AC3E}">
        <p14:creationId xmlns:p14="http://schemas.microsoft.com/office/powerpoint/2010/main" val="213339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3CE7FD-074E-4B32-9748-C6D307BB1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Formulaire : Méthode : </a:t>
            </a:r>
            <a:r>
              <a:rPr lang="fr-BE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.val()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0FB0940-C187-4BB7-81E7-03D2462E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445125"/>
            <a:ext cx="5384799" cy="4731839"/>
          </a:xfrm>
        </p:spPr>
        <p:txBody>
          <a:bodyPr>
            <a:normAutofit fontScale="92500" lnSpcReduction="10000"/>
          </a:bodyPr>
          <a:lstStyle/>
          <a:p>
            <a:r>
              <a:rPr lang="fr-BE" sz="3000" dirty="0"/>
              <a:t>Accéder à la valeur d'un élément</a:t>
            </a:r>
          </a:p>
          <a:p>
            <a:pPr lvl="1"/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</a:p>
          <a:p>
            <a:pPr lvl="1"/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radio</a:t>
            </a:r>
          </a:p>
          <a:p>
            <a:pPr lvl="1"/>
            <a:r>
              <a:rPr lang="fr-BE" sz="28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checkbox</a:t>
            </a:r>
            <a:endParaRPr lang="fr-BE" sz="28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sz="28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select/option </a:t>
            </a:r>
          </a:p>
          <a:p>
            <a:r>
              <a:rPr lang="fr-BE" sz="3000" dirty="0"/>
              <a:t>Exemples</a:t>
            </a:r>
            <a:endParaRPr lang="fr-BE" sz="2400" b="1" dirty="0">
              <a:solidFill>
                <a:schemeClr val="accent6">
                  <a:lumMod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fr-BE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</a:t>
            </a:r>
            <a:r>
              <a:rPr lang="fr-BE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select#fonction</a:t>
            </a:r>
            <a:r>
              <a:rPr lang="fr-BE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').val()</a:t>
            </a:r>
          </a:p>
          <a:p>
            <a:pPr lvl="2"/>
            <a:r>
              <a:rPr lang="fr-BE" sz="2400" dirty="0"/>
              <a:t>Lit l'élément sélectionné dans la liste déroulante.</a:t>
            </a:r>
          </a:p>
          <a:p>
            <a:pPr lvl="1"/>
            <a:r>
              <a:rPr lang="fr-BE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$('#fonction').val('retraite')</a:t>
            </a:r>
          </a:p>
          <a:p>
            <a:pPr lvl="2"/>
            <a:r>
              <a:rPr lang="fr-BE" sz="2400" dirty="0"/>
              <a:t>Sélectionne</a:t>
            </a: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Retraité </a:t>
            </a:r>
            <a:r>
              <a:rPr lang="fr-BE" sz="2400" dirty="0"/>
              <a:t>dans la liste déroulante.</a:t>
            </a:r>
          </a:p>
          <a:p>
            <a:endParaRPr lang="fr-BE" sz="240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1B5E550-1DA9-43CF-A7D6-291239EAF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4427" y="1445125"/>
            <a:ext cx="5181600" cy="4731839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fr-BE" sz="2800" dirty="0"/>
              <a:t>Code HTML</a:t>
            </a:r>
          </a:p>
          <a:p>
            <a:pPr marL="0" indent="0" defTabSz="355600">
              <a:buNone/>
            </a:pPr>
            <a:r>
              <a:rPr lang="fr-BE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Fonction</a:t>
            </a:r>
            <a:br>
              <a:rPr lang="fr-BE" sz="2400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&lt;select id="fonction"&gt;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&lt;option value="</a:t>
            </a:r>
            <a:r>
              <a:rPr lang="fr-BE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etudiant</a:t>
            </a: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Etudiant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&lt;/option&gt;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&lt;option value="</a:t>
            </a:r>
            <a:r>
              <a:rPr lang="fr-BE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ingenieur</a:t>
            </a: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Ingénieur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&lt;/option&gt;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&lt;option value="enseignant"&gt;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Enseignant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&lt;/option&gt;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&lt;option value="retraite"&gt;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Retraité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&lt;/option&gt;</a:t>
            </a:r>
            <a:b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fr-BE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&lt;/select&gt;</a:t>
            </a:r>
          </a:p>
        </p:txBody>
      </p:sp>
    </p:spTree>
    <p:extLst>
      <p:ext uri="{BB962C8B-B14F-4D97-AF65-F5344CB8AC3E}">
        <p14:creationId xmlns:p14="http://schemas.microsoft.com/office/powerpoint/2010/main" val="811335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A5EF43-AC70-4917-8A73-1DFDEA2B7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Formulaire </a:t>
            </a:r>
            <a:r>
              <a:rPr lang="fr-BE"/>
              <a:t>: exo 41</a:t>
            </a:r>
            <a:endParaRPr lang="fr-BE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12949F27-367D-4A0E-87CD-894422ACC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BE" dirty="0"/>
              <a:t>Écrire dans un champ input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input#nom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').val('Michel');</a:t>
            </a:r>
          </a:p>
          <a:p>
            <a:r>
              <a:rPr lang="fr-BE" dirty="0"/>
              <a:t>Écrire dans un champ </a:t>
            </a:r>
            <a:r>
              <a:rPr lang="fr-BE" dirty="0" err="1"/>
              <a:t>password</a:t>
            </a:r>
            <a:endParaRPr lang="fr-BE" dirty="0"/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input#pass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').val( 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CeciEstMonMotDePasse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 );</a:t>
            </a:r>
          </a:p>
          <a:p>
            <a:r>
              <a:rPr lang="fr-BE" dirty="0"/>
              <a:t>Imposer une sélection dans une liste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$('#fonction').val('retraite');</a:t>
            </a:r>
          </a:p>
          <a:p>
            <a:r>
              <a:rPr lang="fr-BE" dirty="0"/>
              <a:t>Imposer une sélection dans une radio </a:t>
            </a:r>
          </a:p>
          <a:p>
            <a:pPr marL="457189" lvl="1" indent="0">
              <a:buNone/>
            </a:pP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input:radio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').val(['H']);</a:t>
            </a:r>
          </a:p>
          <a:p>
            <a:r>
              <a:rPr lang="fr-BE" dirty="0"/>
              <a:t>Lire une sélection dans une radio </a:t>
            </a:r>
          </a:p>
          <a:p>
            <a:pPr marL="457189" lvl="1" indent="0">
              <a:buNone/>
            </a:pP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alert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("H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selected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" + $('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input:radio#H:checked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').val());</a:t>
            </a:r>
          </a:p>
          <a:p>
            <a:pPr marL="457189" lvl="1" indent="0">
              <a:buNone/>
            </a:pP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alert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("F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selected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? " + $('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input:radio#F:checked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').val());</a:t>
            </a:r>
          </a:p>
        </p:txBody>
      </p:sp>
    </p:spTree>
    <p:extLst>
      <p:ext uri="{BB962C8B-B14F-4D97-AF65-F5344CB8AC3E}">
        <p14:creationId xmlns:p14="http://schemas.microsoft.com/office/powerpoint/2010/main" val="93265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C35DF3-1DE7-495D-9A70-6C1740899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Formulaire </a:t>
            </a:r>
            <a:r>
              <a:rPr lang="fr-BE"/>
              <a:t>: exo 42</a:t>
            </a:r>
            <a:endParaRPr lang="fr-BE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4118F0-72F9-4E65-A285-2E9023E04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BE" dirty="0"/>
              <a:t>Manipulation d'une table HTML à l'aide du clavier</a:t>
            </a:r>
          </a:p>
          <a:p>
            <a:pPr lvl="1"/>
            <a:r>
              <a:rPr lang="fr-BE" dirty="0"/>
              <a:t>Navigation :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down, right, up</a:t>
            </a:r>
          </a:p>
          <a:p>
            <a:pPr lvl="1"/>
            <a:r>
              <a:rPr lang="fr-BE" dirty="0"/>
              <a:t>Édition :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F2</a:t>
            </a:r>
          </a:p>
          <a:p>
            <a:r>
              <a:rPr lang="fr-BE" dirty="0"/>
              <a:t>Fichier </a:t>
            </a:r>
            <a:r>
              <a:rPr lang="fr-BE"/>
              <a:t>: </a:t>
            </a:r>
            <a:r>
              <a:rPr lang="fr-BE" b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exo42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_navigate_in_table.html</a:t>
            </a:r>
          </a:p>
          <a:p>
            <a:pPr lvl="1"/>
            <a:r>
              <a:rPr lang="fr-BE" dirty="0"/>
              <a:t>Comprenez d'abord le code</a:t>
            </a:r>
          </a:p>
          <a:p>
            <a:pPr lvl="2"/>
            <a:r>
              <a:rPr lang="fr-BE" dirty="0"/>
              <a:t>.index() ? </a:t>
            </a:r>
            <a:r>
              <a:rPr lang="fr-BE" dirty="0" err="1"/>
              <a:t>nb_cols</a:t>
            </a:r>
            <a:r>
              <a:rPr lang="fr-BE" dirty="0"/>
              <a:t> ? </a:t>
            </a:r>
          </a:p>
          <a:p>
            <a:pPr lvl="1"/>
            <a:r>
              <a:rPr lang="fr-BE" dirty="0"/>
              <a:t>Exercice : Si l'utilisateur a le focus sur le premier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TD</a:t>
            </a:r>
            <a:r>
              <a:rPr lang="fr-BE" dirty="0"/>
              <a:t> du premier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fr-BE" dirty="0"/>
              <a:t>, alors que </a:t>
            </a:r>
            <a:r>
              <a:rPr lang="fr-BE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</a:t>
            </a:r>
            <a:r>
              <a:rPr lang="fr-BE" dirty="0"/>
              <a:t> déplace le focus sur le dernier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TD</a:t>
            </a:r>
            <a:r>
              <a:rPr lang="fr-BE" dirty="0"/>
              <a:t> du dernier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fr-BE" dirty="0"/>
              <a:t>.  Et vice-versa.</a:t>
            </a:r>
          </a:p>
          <a:p>
            <a:pPr lvl="1"/>
            <a:r>
              <a:rPr lang="fr-BE" dirty="0"/>
              <a:t>Exercice : Si l'utilisateur a le focus sur un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TD</a:t>
            </a:r>
            <a:r>
              <a:rPr lang="fr-BE" dirty="0"/>
              <a:t> du premier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fr-BE" dirty="0"/>
              <a:t>, alors que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</a:t>
            </a:r>
            <a:r>
              <a:rPr lang="fr-BE" dirty="0"/>
              <a:t> déplace le focus sur le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TD</a:t>
            </a:r>
            <a:r>
              <a:rPr lang="fr-BE" dirty="0"/>
              <a:t> correspondant du dernier </a:t>
            </a:r>
            <a:r>
              <a:rPr lang="fr-BE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</a:t>
            </a:r>
            <a:r>
              <a:rPr lang="fr-BE" dirty="0"/>
              <a:t>. Et vice-versa.</a:t>
            </a:r>
          </a:p>
          <a:p>
            <a:pPr lvl="1"/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6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burotix">
  <a:themeElements>
    <a:clrScheme name="Custom 4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DD3D1"/>
      </a:accent1>
      <a:accent2>
        <a:srgbClr val="1963A1"/>
      </a:accent2>
      <a:accent3>
        <a:srgbClr val="E5CBAD"/>
      </a:accent3>
      <a:accent4>
        <a:srgbClr val="5DF5F3"/>
      </a:accent4>
      <a:accent5>
        <a:srgbClr val="56A4E4"/>
      </a:accent5>
      <a:accent6>
        <a:srgbClr val="EFDFCD"/>
      </a:accent6>
      <a:hlink>
        <a:srgbClr val="000000"/>
      </a:hlink>
      <a:folHlink>
        <a:srgbClr val="3F3F3F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lides discret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rotix2022.potm" id="{7A707283-01BA-4932-B574-4A389620091B}" vid="{093B5C4F-DD58-40B6-A0EE-0D8451AE62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burotix2022</Template>
  <TotalTime>8149</TotalTime>
  <Words>3118</Words>
  <Application>Microsoft Office PowerPoint</Application>
  <PresentationFormat>Grand écran</PresentationFormat>
  <Paragraphs>444</Paragraphs>
  <Slides>49</Slides>
  <Notes>4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49</vt:i4>
      </vt:variant>
      <vt:variant>
        <vt:lpstr>Diaporamas personnalisés</vt:lpstr>
      </vt:variant>
      <vt:variant>
        <vt:i4>1</vt:i4>
      </vt:variant>
    </vt:vector>
  </HeadingPairs>
  <TitlesOfParts>
    <vt:vector size="57" baseType="lpstr">
      <vt:lpstr>Arial</vt:lpstr>
      <vt:lpstr>Calibri</vt:lpstr>
      <vt:lpstr>Consolas</vt:lpstr>
      <vt:lpstr>Courier New</vt:lpstr>
      <vt:lpstr>Garamond</vt:lpstr>
      <vt:lpstr>Wingdings</vt:lpstr>
      <vt:lpstr>burotix</vt:lpstr>
      <vt:lpstr>Bachelier en Informatique de Gestion  Web : principes de base Projet de Développement Web</vt:lpstr>
      <vt:lpstr>Table des matières</vt:lpstr>
      <vt:lpstr>18. Framework jQuery</vt:lpstr>
      <vt:lpstr>Prologue</vt:lpstr>
      <vt:lpstr>Propos liminaire : Pourquoi JQuery ? </vt:lpstr>
      <vt:lpstr>Principe</vt:lpstr>
      <vt:lpstr>Références</vt:lpstr>
      <vt:lpstr>Prérequis</vt:lpstr>
      <vt:lpstr>Syntaxe de base</vt:lpstr>
      <vt:lpstr>Installation</vt:lpstr>
      <vt:lpstr>Emplacement du code jQuery</vt:lpstr>
      <vt:lpstr>Architecture du code jQuery </vt:lpstr>
      <vt:lpstr>DOM-ready</vt:lpstr>
      <vt:lpstr>Première commande jQuery : exo01</vt:lpstr>
      <vt:lpstr>Commandes essentielles</vt:lpstr>
      <vt:lpstr>Créer un objet : JSON</vt:lpstr>
      <vt:lpstr>Lire un objet : plusieurs façons</vt:lpstr>
      <vt:lpstr>Selector</vt:lpstr>
      <vt:lpstr>Sélection d'éléments</vt:lpstr>
      <vt:lpstr>Sélection d'éléments</vt:lpstr>
      <vt:lpstr>Sélecteur et Méthode</vt:lpstr>
      <vt:lpstr>Méthodes</vt:lpstr>
      <vt:lpstr>Sélecteur et Méthode</vt:lpstr>
      <vt:lpstr>Méthodes : contenu des éléments</vt:lpstr>
      <vt:lpstr>Méthodes : insérer du contenu dans un élément</vt:lpstr>
      <vt:lpstr>Méthodes : insérer des éléments dans le DOM</vt:lpstr>
      <vt:lpstr>Méthode : manipuler les attributs (getter)</vt:lpstr>
      <vt:lpstr>Méthode : manipuler les attributs (setter)</vt:lpstr>
      <vt:lpstr>Méthodes : CSS</vt:lpstr>
      <vt:lpstr>Méthodes : effets spéciaux</vt:lpstr>
      <vt:lpstr>Méthode : données : $.data()</vt:lpstr>
      <vt:lpstr>Méthode : données : $.data(): exemple</vt:lpstr>
      <vt:lpstr>Évènements : souris, clavier, focus, timer</vt:lpstr>
      <vt:lpstr>Évènements</vt:lpstr>
      <vt:lpstr>Évènements multiples </vt:lpstr>
      <vt:lpstr>Évènements (deprecated)</vt:lpstr>
      <vt:lpstr>Méthode événementielle : souris</vt:lpstr>
      <vt:lpstr>Méthode événementielle : clavier</vt:lpstr>
      <vt:lpstr>Méthode événementielle : focus</vt:lpstr>
      <vt:lpstr>Évènement souris : exo 31</vt:lpstr>
      <vt:lpstr>Évènement souris : exo 32</vt:lpstr>
      <vt:lpstr>Évènement clavier : exo 33</vt:lpstr>
      <vt:lpstr>Évènement clavier : exo 35</vt:lpstr>
      <vt:lpstr>Événement : timer : exo 37</vt:lpstr>
      <vt:lpstr>Formulaire</vt:lpstr>
      <vt:lpstr>Formulaire : Méthode : .val()</vt:lpstr>
      <vt:lpstr>Formulaire : Méthode : .val()</vt:lpstr>
      <vt:lpstr>Formulaire : exo 41</vt:lpstr>
      <vt:lpstr>Formulaire : exo 42</vt:lpstr>
      <vt:lpstr>cefora powerpoint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18. Bibliothèque jQuery</dc:title>
  <dc:creator>Alain Wafflard</dc:creator>
  <cp:lastModifiedBy>Alain Wafflard</cp:lastModifiedBy>
  <cp:revision>156</cp:revision>
  <dcterms:created xsi:type="dcterms:W3CDTF">2020-03-25T17:28:30Z</dcterms:created>
  <dcterms:modified xsi:type="dcterms:W3CDTF">2026-09-07T12:00:07Z</dcterms:modified>
</cp:coreProperties>
</file>