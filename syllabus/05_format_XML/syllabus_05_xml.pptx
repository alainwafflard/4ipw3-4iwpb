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29"/>
  </p:notesMasterIdLst>
  <p:sldIdLst>
    <p:sldId id="256" r:id="rId2"/>
    <p:sldId id="408" r:id="rId3"/>
    <p:sldId id="571" r:id="rId4"/>
    <p:sldId id="637" r:id="rId5"/>
    <p:sldId id="636" r:id="rId6"/>
    <p:sldId id="569" r:id="rId7"/>
    <p:sldId id="579" r:id="rId8"/>
    <p:sldId id="581" r:id="rId9"/>
    <p:sldId id="570" r:id="rId10"/>
    <p:sldId id="580" r:id="rId11"/>
    <p:sldId id="572" r:id="rId12"/>
    <p:sldId id="582" r:id="rId13"/>
    <p:sldId id="588" r:id="rId14"/>
    <p:sldId id="592" r:id="rId15"/>
    <p:sldId id="573" r:id="rId16"/>
    <p:sldId id="574" r:id="rId17"/>
    <p:sldId id="583" r:id="rId18"/>
    <p:sldId id="575" r:id="rId19"/>
    <p:sldId id="576" r:id="rId20"/>
    <p:sldId id="577" r:id="rId21"/>
    <p:sldId id="584" r:id="rId22"/>
    <p:sldId id="578" r:id="rId23"/>
    <p:sldId id="586" r:id="rId24"/>
    <p:sldId id="585" r:id="rId25"/>
    <p:sldId id="589" r:id="rId26"/>
    <p:sldId id="639" r:id="rId27"/>
    <p:sldId id="591" r:id="rId28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5. Données XML" id="{C0487E63-9FDE-4475-8BFB-2900301392B8}">
          <p14:sldIdLst>
            <p14:sldId id="256"/>
            <p14:sldId id="408"/>
            <p14:sldId id="571"/>
          </p14:sldIdLst>
        </p14:section>
        <p14:section name="XML : description" id="{7F8A6415-ED1B-429D-A648-5447F9383358}">
          <p14:sldIdLst>
            <p14:sldId id="637"/>
            <p14:sldId id="636"/>
            <p14:sldId id="569"/>
            <p14:sldId id="579"/>
            <p14:sldId id="581"/>
            <p14:sldId id="570"/>
            <p14:sldId id="580"/>
            <p14:sldId id="572"/>
            <p14:sldId id="582"/>
            <p14:sldId id="588"/>
            <p14:sldId id="592"/>
            <p14:sldId id="573"/>
            <p14:sldId id="574"/>
            <p14:sldId id="583"/>
            <p14:sldId id="575"/>
            <p14:sldId id="576"/>
            <p14:sldId id="577"/>
            <p14:sldId id="584"/>
            <p14:sldId id="578"/>
            <p14:sldId id="586"/>
            <p14:sldId id="585"/>
            <p14:sldId id="589"/>
          </p14:sldIdLst>
        </p14:section>
        <p14:section name="XML : références" id="{9F0DC562-09C0-4037-9784-CB223E9B87B9}">
          <p14:sldIdLst>
            <p14:sldId id="639"/>
            <p14:sldId id="5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4" autoAdjust="0"/>
    <p:restoredTop sz="86419" autoAdjust="0"/>
  </p:normalViewPr>
  <p:slideViewPr>
    <p:cSldViewPr snapToGrid="0">
      <p:cViewPr varScale="1">
        <p:scale>
          <a:sx n="58" d="100"/>
          <a:sy n="58" d="100"/>
        </p:scale>
        <p:origin x="102" y="9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440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0E0807B-C513-4C70-836D-DAAC2CDC3EB4}" type="slidenum">
              <a:rPr/>
              <a:t>6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5280" y="5077440"/>
            <a:ext cx="6047640" cy="5306399"/>
          </a:xfrm>
          <a:solidFill>
            <a:srgbClr val="FFFFFF"/>
          </a:solidFill>
        </p:spPr>
        <p:txBody>
          <a:bodyPr>
            <a:spAutoFit/>
          </a:bodyPr>
          <a:lstStyle/>
          <a:p>
            <a:pPr lvl="1"/>
            <a:endParaRPr lang="fr-BE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DE9CF65-F521-4FCA-807C-F37618A3ADBA}" type="slidenum">
              <a:rPr/>
              <a:t>9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160"/>
            <a:ext cx="6047640" cy="5489279"/>
          </a:xfrm>
          <a:solidFill>
            <a:srgbClr val="FFFFFF"/>
          </a:solidFill>
        </p:spPr>
        <p:txBody>
          <a:bodyPr/>
          <a:lstStyle/>
          <a:p>
            <a:pPr lvl="0"/>
            <a:endParaRPr lang="fr-BE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460AE96-A74F-4ECB-867B-38198F5970FC}" type="slidenum">
              <a:rPr/>
              <a:t>10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56000" y="5078160"/>
            <a:ext cx="6047640" cy="5057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 fichier XML est composé de 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 prologue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  arbre des données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Cet exemple illustre le prologue.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Les premières lignes forment le prologue, constitué de :</a:t>
            </a:r>
            <a:b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</a:b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une déclaration XML obligatoire, constituée de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la balise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xml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version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: jusqu'à présent toujours 1.0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encoding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: jeu de codage de caractère (facultatif)</a:t>
            </a:r>
          </a:p>
          <a:p>
            <a:pPr marL="0" marR="0" lvl="2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Français : ISO-8859-1</a:t>
            </a:r>
          </a:p>
          <a:p>
            <a:pPr marL="0" marR="0" lvl="2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Anglais : UTF-8 (par défaut)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standalone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: booléen exprimant la non-existence d'un DTD externe (facultatif)</a:t>
            </a:r>
          </a:p>
          <a:p>
            <a:pPr marL="0" marR="0" lvl="2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yes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s'il n'y a pas de DTD externe (par défaut)</a:t>
            </a:r>
          </a:p>
          <a:p>
            <a:pPr marL="0" marR="0" lvl="2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no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s'il y a un DTD externe</a:t>
            </a:r>
            <a:b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</a:b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une déclaration optionelle du DTD, constituée de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la balise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!DOCTYPE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l'élément-racine, ici «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salut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»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si DTD externe, alors il faut préciser</a:t>
            </a:r>
          </a:p>
          <a:p>
            <a:pPr marL="0" marR="0" lvl="2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SYSTEM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si le DTD se trouve a un endroit explicitement nommé (fichier, URL, etc.)</a:t>
            </a:r>
          </a:p>
          <a:p>
            <a:pPr marL="0" marR="0" lvl="2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PUBLIC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si le DTD est référencé par un identificateur public (institution, ...)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une déclaration optionelle du XSL, constituée de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la balise </a:t>
            </a:r>
            <a:r>
              <a:rPr lang="fr-BE" sz="1200" b="0" i="0" u="none" strike="noStrike" kern="1200">
                <a:ln>
                  <a:noFill/>
                </a:ln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xml-stylesheet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solidFill>
                  <a:srgbClr val="000000"/>
                </a:solidFill>
                <a:latin typeface="Garamond" pitchFamily="18"/>
                <a:ea typeface="Courier New" pitchFamily="49"/>
                <a:cs typeface="Courier New" pitchFamily="49"/>
              </a:rPr>
              <a:t>l'attribut </a:t>
            </a:r>
            <a:r>
              <a:rPr lang="fr-BE" sz="1200" b="0" i="0" u="none" strike="noStrike" kern="1200">
                <a:ln>
                  <a:noFill/>
                </a:ln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type</a:t>
            </a:r>
            <a:r>
              <a:rPr lang="fr-BE" sz="1200" b="0" i="0" u="none" strike="noStrike" kern="1200">
                <a:ln>
                  <a:noFill/>
                </a:ln>
                <a:solidFill>
                  <a:srgbClr val="000000"/>
                </a:solidFill>
                <a:latin typeface="Garamond" pitchFamily="18"/>
                <a:ea typeface="Courier New" pitchFamily="49"/>
                <a:cs typeface="Courier New" pitchFamily="49"/>
              </a:rPr>
              <a:t> avec pour valeur habituelle </a:t>
            </a:r>
            <a:r>
              <a:rPr lang="fr-BE" sz="1200" b="0" i="0" u="none" strike="noStrike" kern="1200">
                <a:ln>
                  <a:noFill/>
                </a:ln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"text/xsl"</a:t>
            </a:r>
          </a:p>
          <a:p>
            <a:pPr marL="0" marR="0" lvl="1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solidFill>
                  <a:srgbClr val="000000"/>
                </a:solidFill>
                <a:latin typeface="Garamond" pitchFamily="18"/>
                <a:ea typeface="Courier New" pitchFamily="49"/>
                <a:cs typeface="Courier New" pitchFamily="49"/>
              </a:rPr>
              <a:t>l'attribut </a:t>
            </a:r>
            <a:r>
              <a:rPr lang="fr-BE" sz="1200" b="0" i="0" u="none" strike="noStrike" kern="1200">
                <a:ln>
                  <a:noFill/>
                </a:ln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href</a:t>
            </a:r>
            <a:r>
              <a:rPr lang="fr-BE" sz="1200" b="0" i="0" u="none" strike="noStrike" kern="1200">
                <a:ln>
                  <a:noFill/>
                </a:ln>
                <a:solidFill>
                  <a:srgbClr val="000000"/>
                </a:solidFill>
                <a:latin typeface="Garamond" pitchFamily="18"/>
                <a:ea typeface="Courier New" pitchFamily="49"/>
                <a:cs typeface="Courier New" pitchFamily="49"/>
              </a:rPr>
              <a:t> avec le nom de la ressource (fichier, URL, etc.)</a:t>
            </a:r>
          </a:p>
        </p:txBody>
      </p:sp>
      <p:sp>
        <p:nvSpPr>
          <p:cNvPr id="4" name="Espace réservé des notes 3">
            <a:extLst>
              <a:ext uri="{FF2B5EF4-FFF2-40B4-BE49-F238E27FC236}">
                <a16:creationId xmlns:a16="http://schemas.microsoft.com/office/drawing/2014/main" id="{ED801FC2-58E2-4789-836B-D36313FCB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0718255-62CD-4D35-A429-A7412629E50C}" type="slidenum">
              <a:rPr/>
              <a:t>11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160"/>
            <a:ext cx="6047640" cy="4811040"/>
          </a:xfrm>
        </p:spPr>
        <p:txBody>
          <a:bodyPr>
            <a:spAutoFit/>
          </a:bodyPr>
          <a:lstStyle/>
          <a:p>
            <a:pPr lvl="0">
              <a:buSzPct val="45000"/>
              <a:buFont typeface="StarSymbol"/>
              <a:buChar char="●"/>
            </a:pPr>
            <a:endParaRPr lang="fr-BE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9B557F2-E924-4ACD-83FA-459B057A28BD}" type="slidenum">
              <a:rPr/>
              <a:t>15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56000" y="5078160"/>
            <a:ext cx="6047640" cy="4863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 fichier XML est composé de 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 prologue,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 élément racine,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un arbre, constitué d'éléments imbriqués les uns dans les autres.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En toute généralité, un élément est constitué de 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couples { attribut + valeur }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contenu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autres éléments (« enfants »)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On évite en pratique de définir à la fois un contenu et d'autres éléments, càd on définit de préférence soit un contenu soit des éléments enfants mais pas les deux.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Cet exemple illustre surtout l'arbre constitué d'éléments.  Le prologue n'est constitué que de la balise XML, le seul élément obligatoire.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L'élément racine est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biblio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L'élément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biblio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est constitué de trois éléments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livre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Chaque élément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livre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est constitué d'un élément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titre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, un élément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auteur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et éventuellement un élément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nb_tomes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et un élément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couverture.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L'élément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livre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peut avoir un attribut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lang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L'élément </a:t>
            </a:r>
            <a:r>
              <a:rPr lang="fr-BE" sz="1200" b="0" i="0" u="none" strike="noStrike" kern="1200">
                <a:ln>
                  <a:noFill/>
                </a:ln>
                <a:latin typeface="Courier New" pitchFamily="49"/>
                <a:ea typeface="Microsoft YaHei" pitchFamily="2"/>
                <a:cs typeface="Mangal" pitchFamily="2"/>
              </a:rPr>
              <a:t>couverture</a:t>
            </a:r>
            <a:r>
              <a:rPr lang="fr-BE" sz="1200" b="0" i="0" u="none" strike="noStrike" kern="1200">
                <a:ln>
                  <a:noFill/>
                </a:ln>
                <a:latin typeface="Garamond" pitchFamily="18"/>
                <a:ea typeface="Microsoft YaHei" pitchFamily="2"/>
                <a:cs typeface="Mangal" pitchFamily="2"/>
              </a:rPr>
              <a:t> n'a pas de contenu.  Il n'est défini que par ses attributs.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BE" sz="1200" b="0" i="0" u="none" strike="noStrike" kern="1200">
              <a:ln>
                <a:noFill/>
              </a:ln>
              <a:latin typeface="Garamond" pitchFamily="18"/>
              <a:ea typeface="Microsoft YaHei" pitchFamily="2"/>
              <a:cs typeface="Mangal" pitchFamily="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0115932-7FB7-4EC5-A224-EAF3F16445EA}" type="slidenum">
              <a:rPr/>
              <a:t>16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755639" y="5136480"/>
            <a:ext cx="6047640" cy="4868280"/>
          </a:xfrm>
          <a:prstGeom prst="rect">
            <a:avLst/>
          </a:prstGeom>
          <a:noFill/>
          <a:ln w="0">
            <a:solidFill>
              <a:srgbClr val="80808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Type de contenu 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3333"/>
                </a:solidFill>
                <a:latin typeface="Garamond" pitchFamily="18"/>
                <a:ea typeface="Microsoft YaHei" pitchFamily="2"/>
                <a:cs typeface="Mangal" pitchFamily="2"/>
              </a:rPr>
              <a:t>(#PCDATA) 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: contenu textuel uniquement, pas d'élément enfant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3333"/>
                </a:solidFill>
                <a:latin typeface="Garamond" pitchFamily="18"/>
                <a:ea typeface="Microsoft YaHei" pitchFamily="2"/>
                <a:cs typeface="Mangal" pitchFamily="2"/>
              </a:rPr>
              <a:t>EMPTY 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: pas de contenu, pas d'élément enfant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00CC00"/>
                </a:solidFill>
                <a:latin typeface="Garamond" pitchFamily="18"/>
                <a:ea typeface="Microsoft YaHei" pitchFamily="2"/>
                <a:cs typeface="Mangal" pitchFamily="2"/>
              </a:rPr>
              <a:t>(titre, auteur, nb_pages)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 : séquence imposée d'éléments enfants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00CC00"/>
                </a:solidFill>
                <a:latin typeface="Garamond" pitchFamily="18"/>
                <a:ea typeface="Microsoft YaHei" pitchFamily="2"/>
                <a:cs typeface="Mangal" pitchFamily="2"/>
              </a:rPr>
              <a:t>(titre | auteur | nb_pages)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 : choix d'un élément enfant dans l' énumération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ANY : tout ce qu'on veut ... mais à éviter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3333"/>
                </a:solidFill>
                <a:latin typeface="Garamond" pitchFamily="18"/>
                <a:ea typeface="Microsoft YaHei" pitchFamily="2"/>
                <a:cs typeface="Mangal" pitchFamily="2"/>
              </a:rPr>
              <a:t>(#PCDATA, auteur)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 : contenu textuel et éléments enfants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3333"/>
                </a:solidFill>
                <a:latin typeface="Garamond" pitchFamily="18"/>
                <a:ea typeface="Microsoft YaHei" pitchFamily="2"/>
                <a:cs typeface="Mangal" pitchFamily="2"/>
              </a:rPr>
              <a:t>(#PCDATA | auteur)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 : contenu textuel ou éléments enfants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endParaRPr lang="fr-BE" sz="1200" b="0" i="0" u="none" strike="noStrike" kern="1200" spc="0">
              <a:ln>
                <a:noFill/>
              </a:ln>
              <a:solidFill>
                <a:srgbClr val="FF0000"/>
              </a:solidFill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Indicateur d'occurence 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? : 0 ou 1 fois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+ : de 1 ou N fois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* : de 0 à N fois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rien d'indiqué : 1 fois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0" spc="0">
                <a:latin typeface="Garamond" pitchFamily="18"/>
              </a:defRPr>
            </a:pPr>
            <a:endParaRPr lang="fr-BE" sz="1200" b="0" i="0" u="none" strike="noStrike" kern="1200" spc="0">
              <a:ln>
                <a:noFill/>
              </a:ln>
              <a:solidFill>
                <a:srgbClr val="FF0000"/>
              </a:solidFill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Une série d'attributs est définie par 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l'expression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0000FF"/>
                </a:solidFill>
                <a:latin typeface="Garamond" pitchFamily="18"/>
                <a:ea typeface="Microsoft YaHei" pitchFamily="2"/>
                <a:cs typeface="Mangal" pitchFamily="2"/>
              </a:rPr>
              <a:t> &lt;!ATTLIST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le nom de l'élément pour lequel on définit les attributs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par attribut, une ligne avec les mentions sur le type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l'expression 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0000FF"/>
                </a:solidFill>
                <a:latin typeface="Garamond" pitchFamily="18"/>
                <a:ea typeface="Microsoft YaHei" pitchFamily="2"/>
                <a:cs typeface="Mangal" pitchFamily="2"/>
              </a:rPr>
              <a:t>&gt;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0" spc="0">
                <a:latin typeface="Garamond" pitchFamily="18"/>
              </a:defRPr>
            </a:pPr>
            <a:endParaRPr lang="fr-BE" sz="1200" b="0" i="0" u="none" strike="noStrike" kern="1200" spc="0">
              <a:ln>
                <a:noFill/>
              </a:ln>
              <a:solidFill>
                <a:srgbClr val="FF0000"/>
              </a:solidFill>
              <a:latin typeface="Garamond" pitchFamily="18"/>
              <a:ea typeface="Microsoft YaHei" pitchFamily="2"/>
              <a:cs typeface="Mangal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Type d'attribut 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00CC33"/>
                </a:solidFill>
                <a:latin typeface="Garamond" pitchFamily="18"/>
                <a:ea typeface="Microsoft YaHei" pitchFamily="2"/>
                <a:cs typeface="Mangal" pitchFamily="2"/>
              </a:rPr>
              <a:t>CDATA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 "défaut": chaîne de caractère, dont la valeur par défaut est précisée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00CC00"/>
                </a:solidFill>
                <a:latin typeface="Garamond" pitchFamily="18"/>
                <a:ea typeface="Microsoft YaHei" pitchFamily="2"/>
                <a:cs typeface="Mangal" pitchFamily="2"/>
              </a:rPr>
              <a:t>CDATA #REQUIRED 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: chaîne de caractère, sans valeur par défaut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00CC00"/>
                </a:solidFill>
                <a:latin typeface="Garamond" pitchFamily="18"/>
                <a:ea typeface="Microsoft YaHei" pitchFamily="2"/>
                <a:cs typeface="Mangal" pitchFamily="2"/>
              </a:rPr>
              <a:t>CDATA #IMPLIED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 : chaîne de caractère à la présence optionnelle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00CC00"/>
                </a:solidFill>
                <a:latin typeface="Garamond" pitchFamily="18"/>
                <a:ea typeface="Microsoft YaHei" pitchFamily="2"/>
                <a:cs typeface="Mangal" pitchFamily="2"/>
              </a:rPr>
              <a:t>CDATA #FIXED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 "fixe": chaîne de caractère, dont la valeur est fixe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00CC00"/>
                </a:solidFill>
                <a:latin typeface="Garamond" pitchFamily="18"/>
                <a:ea typeface="Microsoft YaHei" pitchFamily="2"/>
                <a:cs typeface="Mangal" pitchFamily="2"/>
              </a:rPr>
              <a:t>ID #IMPLIED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 : chaîne de caractère unique (servant ainsi d'identifiant)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sz="1200" b="0" spc="0">
                <a:latin typeface="Garamond" pitchFamily="18"/>
              </a:defRPr>
            </a:pPr>
            <a:r>
              <a:rPr lang="fr-BE" sz="1200" b="0" i="0" u="none" strike="noStrike" kern="1200" spc="0">
                <a:ln>
                  <a:noFill/>
                </a:ln>
                <a:solidFill>
                  <a:srgbClr val="00CC00"/>
                </a:solidFill>
                <a:latin typeface="Garamond" pitchFamily="18"/>
                <a:ea typeface="Microsoft YaHei" pitchFamily="2"/>
                <a:cs typeface="Mangal" pitchFamily="2"/>
              </a:rPr>
              <a:t>(roman | nouvelles | poemes | théâtre)</a:t>
            </a:r>
            <a:r>
              <a:rPr lang="fr-BE" sz="1200" b="0" i="0" u="none" strike="noStrike" kern="1200" spc="0">
                <a:ln>
                  <a:noFill/>
                </a:ln>
                <a:solidFill>
                  <a:srgbClr val="FF0000"/>
                </a:solidFill>
                <a:latin typeface="Garamond" pitchFamily="18"/>
                <a:ea typeface="Microsoft YaHei" pitchFamily="2"/>
                <a:cs typeface="Mangal" pitchFamily="2"/>
              </a:rPr>
              <a:t> : choix dans l'énumération</a:t>
            </a:r>
          </a:p>
        </p:txBody>
      </p:sp>
      <p:sp>
        <p:nvSpPr>
          <p:cNvPr id="4" name="Espace réservé des notes 3">
            <a:extLst>
              <a:ext uri="{FF2B5EF4-FFF2-40B4-BE49-F238E27FC236}">
                <a16:creationId xmlns:a16="http://schemas.microsoft.com/office/drawing/2014/main" id="{8F2D6EEC-4E26-4973-92FC-5AD4D1206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FE76ECE-18B4-4BB3-A866-DDF149F1EA3A}" type="slidenum">
              <a:rPr/>
              <a:t>17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5639" y="5078160"/>
            <a:ext cx="6047640" cy="4811040"/>
          </a:xfrm>
        </p:spPr>
        <p:txBody>
          <a:bodyPr>
            <a:spAutoFit/>
          </a:bodyPr>
          <a:lstStyle/>
          <a:p>
            <a:pPr marL="139700" lvl="0" indent="0">
              <a:buNone/>
            </a:pP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61828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2FE76ECE-18B4-4BB3-A866-DDF149F1EA3A}" type="slidenum">
              <a:rPr/>
              <a:t>18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5639" y="5078160"/>
            <a:ext cx="6047640" cy="4811040"/>
          </a:xfrm>
        </p:spPr>
        <p:txBody>
          <a:bodyPr>
            <a:spAutoFit/>
          </a:bodyPr>
          <a:lstStyle/>
          <a:p>
            <a:pPr lvl="0"/>
            <a:endParaRPr lang="fr-BE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2925AF1-734D-4B8C-AB0E-8519E9CE859C}" type="slidenum">
              <a:rPr/>
              <a:t>19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160"/>
            <a:ext cx="6047640" cy="4811040"/>
          </a:xfrm>
        </p:spPr>
        <p:txBody>
          <a:bodyPr>
            <a:spAutoFit/>
          </a:bodyPr>
          <a:lstStyle/>
          <a:p>
            <a:endParaRPr lang="fr-B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A5980B1-9DD6-4D4C-8CD0-307D872FA619}" type="slidenum">
              <a:rPr/>
              <a:t>20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160"/>
            <a:ext cx="6047640" cy="5313960"/>
          </a:xfrm>
        </p:spPr>
        <p:txBody>
          <a:bodyPr>
            <a:spAutoFit/>
          </a:bodyPr>
          <a:lstStyle/>
          <a:p>
            <a:pPr lvl="0"/>
            <a:endParaRPr lang="fr-BE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B883D5A-E9AE-4565-9FE4-C0F639B21A83}" type="slidenum">
              <a:rPr/>
              <a:t>22</a:t>
            </a:fld>
            <a:r>
              <a:rPr lang="fr-BE"/>
              <a:t>/</a:t>
            </a: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114160"/>
            <a:ext cx="6047640" cy="4811040"/>
          </a:xfrm>
        </p:spPr>
        <p:txBody>
          <a:bodyPr>
            <a:spAutoFit/>
          </a:bodyPr>
          <a:lstStyle/>
          <a:p>
            <a:pPr lvl="0"/>
            <a:endParaRPr lang="fr-BE" sz="1200" b="1">
              <a:solidFill>
                <a:srgbClr val="8000FF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4259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5604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551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2288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9248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1602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381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1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0277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fr-BE" dirty="0"/>
            </a:lvl1pPr>
          </a:lstStyle>
          <a:p>
            <a:pPr lvl="0"/>
            <a:r>
              <a:rPr lang="en-US" dirty="0"/>
              <a:t>Click to edit Master title style</a:t>
            </a:r>
            <a:endParaRPr lang="fr-BE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47804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027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3040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53" r:id="rId11"/>
    <p:sldLayoutId id="2147483852" r:id="rId12"/>
    <p:sldLayoutId id="2147483867" r:id="rId13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05. Format XML</a:t>
            </a:r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r>
              <a:rPr lang="fr-BE">
                <a:sym typeface="Calibri"/>
              </a:rPr>
              <a:t>SGML</a:t>
            </a:r>
          </a:p>
          <a:p>
            <a:r>
              <a:rPr lang="fr-BE">
                <a:sym typeface="Calibri"/>
              </a:rPr>
              <a:t>HTML</a:t>
            </a:r>
          </a:p>
          <a:p>
            <a:r>
              <a:rPr lang="fr-BE">
                <a:sym typeface="Calibri"/>
              </a:rPr>
              <a:t>XML</a:t>
            </a:r>
          </a:p>
          <a:p>
            <a:r>
              <a:rPr lang="fr-BE">
                <a:sym typeface="Calibri"/>
              </a:rPr>
              <a:t>XHTML</a:t>
            </a:r>
          </a:p>
          <a:p>
            <a:r>
              <a:rPr lang="fr-BE">
                <a:sym typeface="Calibri"/>
              </a:rPr>
              <a:t>DTD</a:t>
            </a:r>
          </a:p>
          <a:p>
            <a:r>
              <a:rPr lang="fr-BE">
                <a:sym typeface="Calibri"/>
              </a:rPr>
              <a:t>XSD</a:t>
            </a:r>
          </a:p>
          <a:p>
            <a:r>
              <a:rPr lang="fr-BE">
                <a:sym typeface="Calibri"/>
              </a:rPr>
              <a:t>XSL</a:t>
            </a:r>
          </a:p>
          <a:p>
            <a:r>
              <a:rPr lang="fr-BE" err="1">
                <a:sym typeface="Calibri"/>
              </a:rPr>
              <a:t>Xpath</a:t>
            </a:r>
            <a:endParaRPr lang="fr-BE">
              <a:sym typeface="Calibri"/>
            </a:endParaRPr>
          </a:p>
          <a:p>
            <a:r>
              <a:rPr lang="fr-BE" err="1">
                <a:sym typeface="Calibri"/>
              </a:rPr>
              <a:t>Xquery</a:t>
            </a:r>
            <a:endParaRPr lang="fr-BE">
              <a:sym typeface="Calibri"/>
            </a:endParaRPr>
          </a:p>
        </p:txBody>
      </p:sp>
      <p:pic>
        <p:nvPicPr>
          <p:cNvPr id="4" name="Espace réservé pour une image  3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EC52C856-01E2-463F-887A-CA24292B940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>
          <a:xfrm>
            <a:off x="9399646" y="317500"/>
            <a:ext cx="2160587" cy="2159000"/>
          </a:xfrm>
        </p:spPr>
      </p:pic>
    </p:spTree>
    <p:extLst>
      <p:ext uri="{BB962C8B-B14F-4D97-AF65-F5344CB8AC3E}">
        <p14:creationId xmlns:p14="http://schemas.microsoft.com/office/powerpoint/2010/main" val="77950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EC1BD-3EF0-ED4C-F0D5-741F8C8A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XML : description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363BE3-08BD-3D8C-A0B1-C617237C5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r>
              <a:rPr lang="fr-BE"/>
              <a:t>SGML</a:t>
            </a:r>
          </a:p>
          <a:p>
            <a:r>
              <a:rPr lang="fr-BE"/>
              <a:t>HTML</a:t>
            </a:r>
          </a:p>
          <a:p>
            <a:r>
              <a:rPr lang="fr-BE"/>
              <a:t>XML</a:t>
            </a:r>
          </a:p>
          <a:p>
            <a:r>
              <a:rPr lang="fr-BE"/>
              <a:t>DTD</a:t>
            </a:r>
          </a:p>
          <a:p>
            <a:r>
              <a:rPr lang="fr-BE"/>
              <a:t>XSL</a:t>
            </a:r>
          </a:p>
          <a:p>
            <a:r>
              <a:rPr lang="fr-BE"/>
              <a:t>XSD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D11F239-EE61-87E9-741B-46A4950FDD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96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47F5B67-E7E5-435E-BF50-F59E6F58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530830" cy="900545"/>
          </a:xfrm>
        </p:spPr>
        <p:txBody>
          <a:bodyPr anchor="b">
            <a:normAutofit/>
          </a:bodyPr>
          <a:lstStyle/>
          <a:p>
            <a:r>
              <a:rPr lang="fr-BE"/>
              <a:t>XML en quelques  mots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1D8E2A-02FA-4FCA-B9C5-252AF42B2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24891"/>
            <a:ext cx="6530830" cy="4592781"/>
          </a:xfrm>
        </p:spPr>
        <p:txBody>
          <a:bodyPr>
            <a:normAutofit/>
          </a:bodyPr>
          <a:lstStyle/>
          <a:p>
            <a:r>
              <a:rPr lang="fr-BE" sz="2400"/>
              <a:t>Extensible Markup Language</a:t>
            </a:r>
          </a:p>
          <a:p>
            <a:pPr lvl="1"/>
            <a:r>
              <a:rPr lang="fr-BE" sz="2400" i="1"/>
              <a:t>"langage de balisage extensible"</a:t>
            </a:r>
            <a:r>
              <a:rPr lang="fr-BE" sz="2400"/>
              <a:t> (chevrons)</a:t>
            </a:r>
          </a:p>
          <a:p>
            <a:pPr lvl="1"/>
            <a:r>
              <a:rPr lang="fr-BE" sz="2400"/>
              <a:t>Méta-langage informatique de balisage générique </a:t>
            </a:r>
          </a:p>
          <a:p>
            <a:r>
              <a:rPr lang="fr-BE" sz="2400"/>
              <a:t>Syntaxe « extensible » car elle permet </a:t>
            </a:r>
          </a:p>
          <a:p>
            <a:pPr lvl="1"/>
            <a:r>
              <a:rPr lang="fr-BE" sz="2400"/>
              <a:t>Différents vocabulaires</a:t>
            </a:r>
          </a:p>
          <a:p>
            <a:pPr lvl="1"/>
            <a:r>
              <a:rPr lang="fr-BE" sz="2400"/>
              <a:t>Différentes grammaires</a:t>
            </a:r>
          </a:p>
          <a:p>
            <a:r>
              <a:rPr lang="fr-BE" sz="2400"/>
              <a:t>Objectif : interopérabilité </a:t>
            </a:r>
          </a:p>
          <a:p>
            <a:pPr lvl="1"/>
            <a:r>
              <a:rPr lang="fr-BE" sz="2400"/>
              <a:t>Échange automatisé de contenus entre systèmes d'informations</a:t>
            </a:r>
          </a:p>
          <a:p>
            <a:pPr lvl="1"/>
            <a:r>
              <a:rPr lang="fr-BE" sz="2400"/>
              <a:t>Lisibilité humaine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3A04FC98-73A1-4D38-A3E7-29B3AF627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58423" y="193098"/>
            <a:ext cx="4288204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6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1367292" y="1432627"/>
            <a:ext cx="2066752" cy="783805"/>
          </a:xfrm>
          <a:prstGeom prst="rect">
            <a:avLst/>
          </a:prstGeom>
          <a:solidFill>
            <a:schemeClr val="bg1"/>
          </a:solidFill>
          <a:ln cap="sq">
            <a:noFill/>
            <a:prstDash val="solid"/>
          </a:ln>
        </p:spPr>
        <p:txBody>
          <a:bodyPr vert="horz" wrap="square" lIns="84259" tIns="77727" rIns="84259" bIns="77727" anchorCtr="0" compatLnSpc="0">
            <a:noAutofit/>
          </a:bodyPr>
          <a:lstStyle/>
          <a:p>
            <a:pPr algn="ctr" hangingPunct="0"/>
            <a:r>
              <a:rPr lang="fr-BE" sz="4355">
                <a:latin typeface="Arial" pitchFamily="34"/>
                <a:ea typeface="Microsoft YaHei" pitchFamily="2"/>
                <a:cs typeface="Mangal" pitchFamily="2"/>
              </a:rPr>
              <a:t>HTML</a:t>
            </a:r>
          </a:p>
          <a:p>
            <a:pPr algn="ctr" hangingPunct="0"/>
            <a:endParaRPr lang="fr-BE" sz="4355">
              <a:latin typeface="Arial" pitchFamily="34"/>
              <a:ea typeface="Microsoft YaHei" pitchFamily="2"/>
              <a:cs typeface="Mangal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1327567" y="3486271"/>
            <a:ext cx="2155466" cy="783805"/>
          </a:xfrm>
          <a:prstGeom prst="rect">
            <a:avLst/>
          </a:prstGeom>
          <a:solidFill>
            <a:schemeClr val="bg1"/>
          </a:solidFill>
          <a:ln cap="sq">
            <a:solidFill>
              <a:schemeClr val="tx2"/>
            </a:solidFill>
            <a:prstDash val="solid"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4355">
                <a:latin typeface="Arial" pitchFamily="34"/>
                <a:ea typeface="Microsoft YaHei" pitchFamily="2"/>
                <a:cs typeface="Mangal" pitchFamily="2"/>
              </a:rPr>
              <a:t>SGML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1755" y="5680709"/>
            <a:ext cx="1546961" cy="1077017"/>
          </a:xfrm>
          <a:prstGeom prst="rect">
            <a:avLst/>
          </a:prstGeom>
          <a:noFill/>
          <a:ln>
            <a:noFill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1800"/>
              <a:t>Standard </a:t>
            </a:r>
            <a:r>
              <a:rPr lang="fr-BE" sz="1800" err="1"/>
              <a:t>Generalized</a:t>
            </a:r>
            <a:r>
              <a:rPr lang="fr-BE" sz="1800"/>
              <a:t> Markup </a:t>
            </a:r>
            <a:r>
              <a:rPr lang="fr-BE" sz="1800" err="1"/>
              <a:t>Language</a:t>
            </a:r>
            <a:endParaRPr lang="fr-BE" sz="1800"/>
          </a:p>
        </p:txBody>
      </p:sp>
      <p:sp>
        <p:nvSpPr>
          <p:cNvPr id="7" name="Freeform 6"/>
          <p:cNvSpPr/>
          <p:nvPr/>
        </p:nvSpPr>
        <p:spPr>
          <a:xfrm>
            <a:off x="4325332" y="1428357"/>
            <a:ext cx="2482050" cy="783805"/>
          </a:xfrm>
          <a:prstGeom prst="rect">
            <a:avLst/>
          </a:prstGeom>
          <a:solidFill>
            <a:schemeClr val="bg1"/>
          </a:solidFill>
          <a:ln cap="sq">
            <a:solidFill>
              <a:schemeClr val="tx2"/>
            </a:solidFill>
            <a:prstDash val="solid"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4355">
                <a:latin typeface="Arial" pitchFamily="34"/>
                <a:ea typeface="Microsoft YaHei" pitchFamily="2"/>
                <a:cs typeface="Mangal" pitchFamily="2"/>
              </a:rPr>
              <a:t>XHTML</a:t>
            </a:r>
          </a:p>
        </p:txBody>
      </p:sp>
      <p:cxnSp>
        <p:nvCxnSpPr>
          <p:cNvPr id="8" name="Curved Connector 7"/>
          <p:cNvCxnSpPr>
            <a:cxnSpLocks/>
          </p:cNvCxnSpPr>
          <p:nvPr/>
        </p:nvCxnSpPr>
        <p:spPr>
          <a:xfrm rot="16200000" flipV="1">
            <a:off x="1768065" y="2849036"/>
            <a:ext cx="1269839" cy="4632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accent6">
                <a:lumMod val="50000"/>
              </a:schemeClr>
            </a:solidFill>
            <a:prstDash val="solid"/>
            <a:tailEnd type="triangle" w="lg" len="lg"/>
          </a:ln>
        </p:spPr>
      </p:cxnSp>
      <p:cxnSp>
        <p:nvCxnSpPr>
          <p:cNvPr id="9" name="Curved Connector 8"/>
          <p:cNvCxnSpPr>
            <a:cxnSpLocks/>
          </p:cNvCxnSpPr>
          <p:nvPr/>
        </p:nvCxnSpPr>
        <p:spPr>
          <a:xfrm rot="5400000" flipH="1" flipV="1">
            <a:off x="4968368" y="2848802"/>
            <a:ext cx="1265489" cy="9451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prstDash val="solid"/>
            <a:tailEnd type="arrow"/>
          </a:ln>
        </p:spPr>
      </p:cxnSp>
      <p:sp>
        <p:nvSpPr>
          <p:cNvPr id="10" name="TextBox 9"/>
          <p:cNvSpPr txBox="1"/>
          <p:nvPr/>
        </p:nvSpPr>
        <p:spPr>
          <a:xfrm>
            <a:off x="268810" y="1368396"/>
            <a:ext cx="1093848" cy="903363"/>
          </a:xfrm>
          <a:prstGeom prst="rect">
            <a:avLst/>
          </a:prstGeom>
          <a:noFill/>
          <a:ln>
            <a:noFill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hangingPunct="0"/>
            <a:r>
              <a:rPr lang="fr-BE" sz="1800" err="1"/>
              <a:t>Hypertext</a:t>
            </a:r>
            <a:r>
              <a:rPr lang="fr-BE" sz="1800"/>
              <a:t> Markup </a:t>
            </a:r>
            <a:r>
              <a:rPr lang="fr-BE" sz="1800" err="1"/>
              <a:t>Language</a:t>
            </a:r>
            <a:endParaRPr lang="fr-BE" sz="1800"/>
          </a:p>
        </p:txBody>
      </p:sp>
      <p:cxnSp>
        <p:nvCxnSpPr>
          <p:cNvPr id="11" name="Curved Connector 10"/>
          <p:cNvCxnSpPr>
            <a:cxnSpLocks/>
          </p:cNvCxnSpPr>
          <p:nvPr/>
        </p:nvCxnSpPr>
        <p:spPr>
          <a:xfrm>
            <a:off x="3483033" y="3878174"/>
            <a:ext cx="1362208" cy="127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accent6">
                <a:lumMod val="50000"/>
              </a:schemeClr>
            </a:solidFill>
            <a:prstDash val="solid"/>
            <a:tailEnd type="triangle" w="lg" len="lg"/>
          </a:ln>
        </p:spPr>
      </p:cxnSp>
      <p:sp>
        <p:nvSpPr>
          <p:cNvPr id="12" name="TextBox 11"/>
          <p:cNvSpPr txBox="1"/>
          <p:nvPr/>
        </p:nvSpPr>
        <p:spPr>
          <a:xfrm>
            <a:off x="5939976" y="4326660"/>
            <a:ext cx="1241691" cy="795339"/>
          </a:xfrm>
          <a:prstGeom prst="rect">
            <a:avLst/>
          </a:prstGeom>
          <a:noFill/>
          <a:ln>
            <a:noFill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1800" err="1"/>
              <a:t>eXtensible</a:t>
            </a:r>
            <a:r>
              <a:rPr lang="fr-BE" sz="1800"/>
              <a:t> Markup </a:t>
            </a:r>
            <a:r>
              <a:rPr lang="fr-BE" sz="1800" err="1"/>
              <a:t>Language</a:t>
            </a:r>
            <a:endParaRPr lang="fr-BE" sz="1800"/>
          </a:p>
        </p:txBody>
      </p:sp>
      <p:sp>
        <p:nvSpPr>
          <p:cNvPr id="13" name="Freeform 12"/>
          <p:cNvSpPr/>
          <p:nvPr/>
        </p:nvSpPr>
        <p:spPr>
          <a:xfrm>
            <a:off x="6193693" y="2431867"/>
            <a:ext cx="1502292" cy="783805"/>
          </a:xfrm>
          <a:prstGeom prst="rect">
            <a:avLst/>
          </a:prstGeom>
          <a:solidFill>
            <a:schemeClr val="bg1"/>
          </a:solidFill>
          <a:ln cap="sq">
            <a:solidFill>
              <a:schemeClr val="tx2"/>
            </a:solidFill>
            <a:prstDash val="solid"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4355">
                <a:latin typeface="Arial" pitchFamily="34"/>
                <a:ea typeface="Microsoft YaHei" pitchFamily="2"/>
                <a:cs typeface="Mangal" pitchFamily="2"/>
              </a:rPr>
              <a:t>XSL</a:t>
            </a:r>
          </a:p>
        </p:txBody>
      </p:sp>
      <p:cxnSp>
        <p:nvCxnSpPr>
          <p:cNvPr id="14" name="Curved Connector 13"/>
          <p:cNvCxnSpPr>
            <a:cxnSpLocks/>
          </p:cNvCxnSpPr>
          <p:nvPr/>
        </p:nvCxnSpPr>
        <p:spPr>
          <a:xfrm rot="5400000" flipH="1" flipV="1">
            <a:off x="4025996" y="1318575"/>
            <a:ext cx="547001" cy="3788393"/>
          </a:xfrm>
          <a:prstGeom prst="bentConnector2">
            <a:avLst/>
          </a:prstGeom>
          <a:noFill/>
          <a:ln w="25400">
            <a:solidFill>
              <a:schemeClr val="accent6">
                <a:lumMod val="50000"/>
              </a:schemeClr>
            </a:solidFill>
            <a:prstDash val="solid"/>
            <a:tailEnd type="triangle" w="lg" len="lg"/>
          </a:ln>
        </p:spPr>
      </p:cxnSp>
      <p:cxnSp>
        <p:nvCxnSpPr>
          <p:cNvPr id="15" name="Curved Connector 14"/>
          <p:cNvCxnSpPr>
            <a:cxnSpLocks/>
          </p:cNvCxnSpPr>
          <p:nvPr/>
        </p:nvCxnSpPr>
        <p:spPr>
          <a:xfrm>
            <a:off x="3434044" y="1824530"/>
            <a:ext cx="930769" cy="435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accent6">
                <a:lumMod val="50000"/>
              </a:schemeClr>
            </a:solidFill>
            <a:prstDash val="solid"/>
            <a:tailEnd type="triangle" w="lg" len="lg"/>
          </a:ln>
        </p:spPr>
      </p:cxnSp>
      <p:sp>
        <p:nvSpPr>
          <p:cNvPr id="16" name="Freeform 15"/>
          <p:cNvSpPr/>
          <p:nvPr/>
        </p:nvSpPr>
        <p:spPr>
          <a:xfrm>
            <a:off x="4851450" y="5973922"/>
            <a:ext cx="1502292" cy="783805"/>
          </a:xfrm>
          <a:prstGeom prst="rect">
            <a:avLst/>
          </a:prstGeom>
          <a:solidFill>
            <a:srgbClr val="EEEEEE"/>
          </a:solidFill>
          <a:ln cap="sq">
            <a:noFill/>
            <a:prstDash val="solid"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4355">
                <a:latin typeface="Arial" pitchFamily="34"/>
                <a:ea typeface="Microsoft YaHei" pitchFamily="2"/>
                <a:cs typeface="Mangal" pitchFamily="2"/>
              </a:rPr>
              <a:t>DTD</a:t>
            </a:r>
          </a:p>
        </p:txBody>
      </p:sp>
      <p:sp>
        <p:nvSpPr>
          <p:cNvPr id="18" name="Freeform 17"/>
          <p:cNvSpPr/>
          <p:nvPr/>
        </p:nvSpPr>
        <p:spPr>
          <a:xfrm>
            <a:off x="8381816" y="5973919"/>
            <a:ext cx="1502292" cy="783805"/>
          </a:xfrm>
          <a:prstGeom prst="rect">
            <a:avLst/>
          </a:prstGeom>
          <a:solidFill>
            <a:srgbClr val="EEEEEE"/>
          </a:solidFill>
          <a:ln cap="sq">
            <a:noFill/>
            <a:prstDash val="solid"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4355">
                <a:latin typeface="Arial" pitchFamily="34"/>
                <a:ea typeface="Microsoft YaHei" pitchFamily="2"/>
                <a:cs typeface="Mangal" pitchFamily="2"/>
              </a:rPr>
              <a:t>XSD</a:t>
            </a:r>
          </a:p>
        </p:txBody>
      </p:sp>
      <p:cxnSp>
        <p:nvCxnSpPr>
          <p:cNvPr id="19" name="Curved Connector 18"/>
          <p:cNvCxnSpPr>
            <a:cxnSpLocks/>
          </p:cNvCxnSpPr>
          <p:nvPr/>
        </p:nvCxnSpPr>
        <p:spPr>
          <a:xfrm>
            <a:off x="6353742" y="6365825"/>
            <a:ext cx="2028074" cy="127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accent6">
                <a:lumMod val="50000"/>
              </a:schemeClr>
            </a:solidFill>
            <a:prstDash val="solid"/>
            <a:tailEnd type="triangle"/>
          </a:ln>
        </p:spPr>
      </p:cxnSp>
      <p:cxnSp>
        <p:nvCxnSpPr>
          <p:cNvPr id="20" name="Curved Connector 19"/>
          <p:cNvCxnSpPr>
            <a:cxnSpLocks/>
          </p:cNvCxnSpPr>
          <p:nvPr/>
        </p:nvCxnSpPr>
        <p:spPr>
          <a:xfrm>
            <a:off x="6338082" y="4149090"/>
            <a:ext cx="2794880" cy="1824832"/>
          </a:xfrm>
          <a:prstGeom prst="bentConnector2">
            <a:avLst/>
          </a:prstGeom>
          <a:noFill/>
          <a:ln w="25400">
            <a:solidFill>
              <a:schemeClr val="accent5"/>
            </a:solidFill>
            <a:prstDash val="solid"/>
          </a:ln>
        </p:spPr>
      </p:cxnSp>
      <p:sp>
        <p:nvSpPr>
          <p:cNvPr id="21" name="TextBox 20"/>
          <p:cNvSpPr txBox="1"/>
          <p:nvPr/>
        </p:nvSpPr>
        <p:spPr>
          <a:xfrm>
            <a:off x="7698670" y="2113002"/>
            <a:ext cx="1170339" cy="877333"/>
          </a:xfrm>
          <a:prstGeom prst="rect">
            <a:avLst/>
          </a:prstGeom>
          <a:noFill/>
          <a:ln>
            <a:noFill/>
          </a:ln>
        </p:spPr>
        <p:txBody>
          <a:bodyPr vert="horz" wrap="square" lIns="81646" tIns="40823" rIns="81646" bIns="40823" anchorCtr="0" compatLnSpc="0">
            <a:normAutofit/>
          </a:bodyPr>
          <a:lstStyle/>
          <a:p>
            <a:pPr algn="ctr" hangingPunct="0"/>
            <a:r>
              <a:rPr lang="fr-BE" sz="1800" err="1"/>
              <a:t>eXtensible</a:t>
            </a:r>
            <a:r>
              <a:rPr lang="fr-BE" sz="1800"/>
              <a:t> </a:t>
            </a:r>
            <a:r>
              <a:rPr lang="fr-BE" sz="1800" err="1"/>
              <a:t>Stylesheet</a:t>
            </a:r>
            <a:r>
              <a:rPr lang="fr-BE" sz="1800"/>
              <a:t> Langage</a:t>
            </a:r>
          </a:p>
        </p:txBody>
      </p:sp>
      <p:sp>
        <p:nvSpPr>
          <p:cNvPr id="22" name="Freeform 21"/>
          <p:cNvSpPr/>
          <p:nvPr/>
        </p:nvSpPr>
        <p:spPr>
          <a:xfrm>
            <a:off x="9002326" y="1395851"/>
            <a:ext cx="1852085" cy="849122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3600"/>
              <a:gd name="f9" fmla="val 17800"/>
              <a:gd name="f10" fmla="+- 17800 0 21600"/>
              <a:gd name="f11" fmla="+- 21600 0 10800"/>
              <a:gd name="f12" fmla="val 10800"/>
              <a:gd name="f13" fmla="+- 0 0 0"/>
              <a:gd name="f14" fmla="*/ f4 1 21600"/>
              <a:gd name="f15" fmla="*/ f5 1 21600"/>
              <a:gd name="f16" fmla="+- 21600 0 f9"/>
              <a:gd name="f17" fmla="+- 10800 0 f6"/>
              <a:gd name="f18" fmla="+- 0 0 f1"/>
              <a:gd name="f19" fmla="abs f10"/>
              <a:gd name="f20" fmla="abs f11"/>
              <a:gd name="f21" fmla="?: f11 0 f0"/>
              <a:gd name="f22" fmla="?: f11 f0 0"/>
              <a:gd name="f23" fmla="*/ f13 f0 1"/>
              <a:gd name="f24" fmla="*/ 3600 f14 1"/>
              <a:gd name="f25" fmla="*/ 17800 f14 1"/>
              <a:gd name="f26" fmla="*/ 21600 f15 1"/>
              <a:gd name="f27" fmla="*/ 0 f15 1"/>
              <a:gd name="f28" fmla="abs f16"/>
              <a:gd name="f29" fmla="abs f17"/>
              <a:gd name="f30" fmla="?: f16 f18 f1"/>
              <a:gd name="f31" fmla="?: f16 f1 f18"/>
              <a:gd name="f32" fmla="?: f16 f2 f1"/>
              <a:gd name="f33" fmla="?: f16 f1 f2"/>
              <a:gd name="f34" fmla="?: f10 f18 f1"/>
              <a:gd name="f35" fmla="?: f10 f1 f18"/>
              <a:gd name="f36" fmla="?: f10 f22 f21"/>
              <a:gd name="f37" fmla="?: f10 f21 f22"/>
              <a:gd name="f38" fmla="*/ 10800 f14 1"/>
              <a:gd name="f39" fmla="*/ f23 1 f3"/>
              <a:gd name="f40" fmla="*/ 0 f14 1"/>
              <a:gd name="f41" fmla="*/ 10800 f15 1"/>
              <a:gd name="f42" fmla="*/ 21600 f14 1"/>
              <a:gd name="f43" fmla="?: f16 f33 f32"/>
              <a:gd name="f44" fmla="?: f16 f32 f33"/>
              <a:gd name="f45" fmla="?: f17 f31 f30"/>
              <a:gd name="f46" fmla="?: f11 f36 f37"/>
              <a:gd name="f47" fmla="?: f11 f34 f35"/>
              <a:gd name="f48" fmla="+- f39 0 f1"/>
              <a:gd name="f49" fmla="?: f17 f44 f43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8">
                <a:pos x="f38" y="f27"/>
              </a:cxn>
              <a:cxn ang="f48">
                <a:pos x="f40" y="f41"/>
              </a:cxn>
              <a:cxn ang="f48">
                <a:pos x="f38" y="f26"/>
              </a:cxn>
              <a:cxn ang="f48">
                <a:pos x="f42" y="f41"/>
              </a:cxn>
            </a:cxnLst>
            <a:rect l="f24" t="f27" r="f25" b="f26"/>
            <a:pathLst>
              <a:path w="21600" h="21600">
                <a:moveTo>
                  <a:pt x="f8" y="f6"/>
                </a:moveTo>
                <a:lnTo>
                  <a:pt x="f9" y="f6"/>
                </a:lnTo>
                <a:arcTo wR="f28" hR="f29" stAng="f49" swAng="f45"/>
                <a:arcTo wR="f19" hR="f20" stAng="f46" swAng="f47"/>
                <a:lnTo>
                  <a:pt x="f8" y="f7"/>
                </a:lnTo>
                <a:lnTo>
                  <a:pt x="f6" y="f12"/>
                </a:lnTo>
                <a:close/>
              </a:path>
            </a:pathLst>
          </a:custGeom>
          <a:solidFill>
            <a:srgbClr val="EEEEEE"/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46" tIns="40823" rIns="81646" bIns="40823" anchor="ctr" anchorCtr="0" compatLnSpc="0">
            <a:noAutofit/>
          </a:bodyPr>
          <a:lstStyle/>
          <a:p>
            <a:pPr algn="ctr" hangingPunct="0"/>
            <a:r>
              <a:rPr lang="fr-BE" sz="1996">
                <a:latin typeface="Arial" pitchFamily="18"/>
                <a:ea typeface="Microsoft YaHei" pitchFamily="2"/>
                <a:cs typeface="Mangal" pitchFamily="2"/>
              </a:rPr>
              <a:t>display</a:t>
            </a:r>
          </a:p>
        </p:txBody>
      </p:sp>
      <p:cxnSp>
        <p:nvCxnSpPr>
          <p:cNvPr id="23" name="Curved Connector 22"/>
          <p:cNvCxnSpPr>
            <a:cxnSpLocks/>
            <a:stCxn id="4" idx="0"/>
            <a:endCxn id="22" idx="0"/>
          </p:cNvCxnSpPr>
          <p:nvPr/>
        </p:nvCxnSpPr>
        <p:spPr>
          <a:xfrm rot="5400000" flipH="1" flipV="1">
            <a:off x="6146130" y="-2349611"/>
            <a:ext cx="36776" cy="7527701"/>
          </a:xfrm>
          <a:prstGeom prst="bentConnector3">
            <a:avLst>
              <a:gd name="adj1" fmla="val 1665516"/>
            </a:avLst>
          </a:prstGeom>
          <a:noFill/>
          <a:ln w="25400">
            <a:solidFill>
              <a:schemeClr val="tx2"/>
            </a:solidFill>
            <a:prstDash val="solid"/>
            <a:tailEnd type="arrow" w="lg" len="lg"/>
          </a:ln>
        </p:spPr>
      </p:cxnSp>
      <p:cxnSp>
        <p:nvCxnSpPr>
          <p:cNvPr id="24" name="Curved Connector 23"/>
          <p:cNvCxnSpPr>
            <a:cxnSpLocks/>
            <a:stCxn id="7" idx="3"/>
            <a:endCxn id="22" idx="3"/>
          </p:cNvCxnSpPr>
          <p:nvPr/>
        </p:nvCxnSpPr>
        <p:spPr>
          <a:xfrm>
            <a:off x="6807382" y="1820260"/>
            <a:ext cx="2194944" cy="152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000000"/>
            </a:solidFill>
            <a:prstDash val="solid"/>
            <a:tailEnd type="arrow" w="lg" len="lg"/>
          </a:ln>
        </p:spPr>
      </p:cxnSp>
      <p:cxnSp>
        <p:nvCxnSpPr>
          <p:cNvPr id="26" name="Curved Connector 25"/>
          <p:cNvCxnSpPr>
            <a:cxnSpLocks/>
            <a:endCxn id="22" idx="6"/>
          </p:cNvCxnSpPr>
          <p:nvPr/>
        </p:nvCxnSpPr>
        <p:spPr>
          <a:xfrm flipV="1">
            <a:off x="6347533" y="2244973"/>
            <a:ext cx="3580835" cy="1624734"/>
          </a:xfrm>
          <a:prstGeom prst="bentConnector4">
            <a:avLst>
              <a:gd name="adj1" fmla="val 37069"/>
              <a:gd name="adj2" fmla="val 84"/>
            </a:avLst>
          </a:prstGeom>
          <a:noFill/>
          <a:ln w="25400">
            <a:solidFill>
              <a:srgbClr val="000000"/>
            </a:solidFill>
            <a:prstDash val="solid"/>
            <a:tailEnd type="arrow" w="lg" len="lg"/>
          </a:ln>
        </p:spPr>
      </p:cxnSp>
      <p:sp>
        <p:nvSpPr>
          <p:cNvPr id="27" name="Freeform 26"/>
          <p:cNvSpPr/>
          <p:nvPr/>
        </p:nvSpPr>
        <p:spPr>
          <a:xfrm>
            <a:off x="1972161" y="6006580"/>
            <a:ext cx="2057490" cy="718488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3600"/>
              <a:gd name="f9" fmla="+- 3600 0 0"/>
              <a:gd name="f10" fmla="+- 0 0 10800"/>
              <a:gd name="f11" fmla="+- 21600 0 18000"/>
              <a:gd name="f12" fmla="+- 21600 0 10800"/>
              <a:gd name="f13" fmla="+- 0 0 0"/>
              <a:gd name="f14" fmla="*/ f4 1 21600"/>
              <a:gd name="f15" fmla="*/ f5 1 21600"/>
              <a:gd name="f16" fmla="+- 0 0 f8"/>
              <a:gd name="f17" fmla="+- 10800 0 f7"/>
              <a:gd name="f18" fmla="+- 0 0 f1"/>
              <a:gd name="f19" fmla="abs f9"/>
              <a:gd name="f20" fmla="abs f10"/>
              <a:gd name="f21" fmla="?: f10 0 f0"/>
              <a:gd name="f22" fmla="?: f10 f0 0"/>
              <a:gd name="f23" fmla="+- 18000 0 f7"/>
              <a:gd name="f24" fmla="+- 10800 0 f6"/>
              <a:gd name="f25" fmla="abs f11"/>
              <a:gd name="f26" fmla="abs f12"/>
              <a:gd name="f27" fmla="?: f12 0 f0"/>
              <a:gd name="f28" fmla="?: f12 f0 0"/>
              <a:gd name="f29" fmla="*/ f13 f0 1"/>
              <a:gd name="f30" fmla="*/ 3600 f14 1"/>
              <a:gd name="f31" fmla="*/ 18000 f14 1"/>
              <a:gd name="f32" fmla="*/ 21600 f15 1"/>
              <a:gd name="f33" fmla="*/ 0 f15 1"/>
              <a:gd name="f34" fmla="abs f16"/>
              <a:gd name="f35" fmla="abs f17"/>
              <a:gd name="f36" fmla="?: f16 f18 f1"/>
              <a:gd name="f37" fmla="?: f16 f1 f18"/>
              <a:gd name="f38" fmla="?: f16 f2 f1"/>
              <a:gd name="f39" fmla="?: f16 f1 f2"/>
              <a:gd name="f40" fmla="?: f9 f18 f1"/>
              <a:gd name="f41" fmla="?: f9 f1 f18"/>
              <a:gd name="f42" fmla="?: f9 f22 f21"/>
              <a:gd name="f43" fmla="?: f9 f21 f22"/>
              <a:gd name="f44" fmla="abs f23"/>
              <a:gd name="f45" fmla="abs f24"/>
              <a:gd name="f46" fmla="?: f23 f18 f1"/>
              <a:gd name="f47" fmla="?: f23 f1 f18"/>
              <a:gd name="f48" fmla="?: f23 f2 f1"/>
              <a:gd name="f49" fmla="?: f23 f1 f2"/>
              <a:gd name="f50" fmla="?: f11 f18 f1"/>
              <a:gd name="f51" fmla="?: f11 f1 f18"/>
              <a:gd name="f52" fmla="?: f11 f28 f27"/>
              <a:gd name="f53" fmla="?: f11 f27 f28"/>
              <a:gd name="f54" fmla="*/ 10800 f14 1"/>
              <a:gd name="f55" fmla="*/ f29 1 f3"/>
              <a:gd name="f56" fmla="*/ 0 f14 1"/>
              <a:gd name="f57" fmla="*/ 10800 f15 1"/>
              <a:gd name="f58" fmla="?: f16 f39 f38"/>
              <a:gd name="f59" fmla="?: f16 f38 f39"/>
              <a:gd name="f60" fmla="?: f17 f37 f36"/>
              <a:gd name="f61" fmla="?: f10 f42 f43"/>
              <a:gd name="f62" fmla="?: f10 f40 f41"/>
              <a:gd name="f63" fmla="?: f23 f49 f48"/>
              <a:gd name="f64" fmla="?: f23 f48 f49"/>
              <a:gd name="f65" fmla="?: f24 f47 f46"/>
              <a:gd name="f66" fmla="?: f12 f52 f53"/>
              <a:gd name="f67" fmla="?: f12 f50 f51"/>
              <a:gd name="f68" fmla="+- f55 0 f1"/>
              <a:gd name="f69" fmla="?: f17 f59 f58"/>
              <a:gd name="f70" fmla="?: f24 f64 f63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8">
                <a:pos x="f54" y="f33"/>
              </a:cxn>
              <a:cxn ang="f68">
                <a:pos x="f56" y="f57"/>
              </a:cxn>
              <a:cxn ang="f68">
                <a:pos x="f54" y="f32"/>
              </a:cxn>
              <a:cxn ang="f68">
                <a:pos x="f31" y="f57"/>
              </a:cxn>
            </a:cxnLst>
            <a:rect l="f30" t="f33" r="f31" b="f32"/>
            <a:pathLst>
              <a:path w="21600" h="21600">
                <a:moveTo>
                  <a:pt x="f8" y="f7"/>
                </a:moveTo>
                <a:arcTo wR="f34" hR="f35" stAng="f69" swAng="f60"/>
                <a:arcTo wR="f19" hR="f20" stAng="f61" swAng="f62"/>
                <a:lnTo>
                  <a:pt x="f7" y="f6"/>
                </a:lnTo>
                <a:arcTo wR="f44" hR="f45" stAng="f70" swAng="f65"/>
                <a:arcTo wR="f25" hR="f26" stAng="f66" swAng="f67"/>
                <a:close/>
              </a:path>
            </a:pathLst>
          </a:custGeom>
          <a:solidFill>
            <a:srgbClr val="EEEEEE"/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46" tIns="40823" rIns="81646" bIns="40823" anchor="ctr" anchorCtr="0" compatLnSpc="0">
            <a:noAutofit/>
          </a:bodyPr>
          <a:lstStyle/>
          <a:p>
            <a:pPr algn="just" hangingPunct="0"/>
            <a:r>
              <a:rPr lang="fr-BE" sz="1996" err="1">
                <a:latin typeface="Arial" pitchFamily="18"/>
                <a:ea typeface="Microsoft YaHei" pitchFamily="2"/>
                <a:cs typeface="Mangal" pitchFamily="2"/>
              </a:rPr>
              <a:t>database</a:t>
            </a:r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cxnSp>
        <p:nvCxnSpPr>
          <p:cNvPr id="28" name="Curved Connector 27"/>
          <p:cNvCxnSpPr>
            <a:cxnSpLocks/>
          </p:cNvCxnSpPr>
          <p:nvPr/>
        </p:nvCxnSpPr>
        <p:spPr>
          <a:xfrm rot="5400000">
            <a:off x="5088055" y="5122000"/>
            <a:ext cx="1703845" cy="3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accent5"/>
            </a:solidFill>
            <a:prstDash val="solid"/>
          </a:ln>
        </p:spPr>
      </p:cxnSp>
      <p:cxnSp>
        <p:nvCxnSpPr>
          <p:cNvPr id="29" name="Curved Connector 28"/>
          <p:cNvCxnSpPr>
            <a:cxnSpLocks/>
            <a:stCxn id="27" idx="4"/>
          </p:cNvCxnSpPr>
          <p:nvPr/>
        </p:nvCxnSpPr>
        <p:spPr>
          <a:xfrm rot="5400000" flipH="1" flipV="1">
            <a:off x="3430394" y="3840588"/>
            <a:ext cx="1736504" cy="2595481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0" name="Curved Connector 29"/>
          <p:cNvCxnSpPr>
            <a:cxnSpLocks/>
            <a:stCxn id="27" idx="7"/>
          </p:cNvCxnSpPr>
          <p:nvPr/>
        </p:nvCxnSpPr>
        <p:spPr>
          <a:xfrm rot="16200000" flipH="1">
            <a:off x="4269092" y="5783467"/>
            <a:ext cx="1" cy="1164714"/>
          </a:xfrm>
          <a:prstGeom prst="bentConnector4">
            <a:avLst>
              <a:gd name="adj1" fmla="val -2147483647"/>
              <a:gd name="adj2" fmla="val 97433"/>
            </a:avLst>
          </a:prstGeom>
          <a:noFill/>
          <a:ln w="25400">
            <a:solidFill>
              <a:schemeClr val="accent5"/>
            </a:solidFill>
            <a:prstDash val="solid"/>
          </a:ln>
        </p:spPr>
      </p:cxnSp>
      <p:sp>
        <p:nvSpPr>
          <p:cNvPr id="31" name="TextBox 30"/>
          <p:cNvSpPr txBox="1"/>
          <p:nvPr/>
        </p:nvSpPr>
        <p:spPr>
          <a:xfrm>
            <a:off x="6338082" y="5533917"/>
            <a:ext cx="1155546" cy="945326"/>
          </a:xfrm>
          <a:prstGeom prst="rect">
            <a:avLst/>
          </a:prstGeom>
          <a:noFill/>
          <a:ln>
            <a:noFill/>
          </a:ln>
        </p:spPr>
        <p:txBody>
          <a:bodyPr vert="horz" wrap="square" lIns="81646" tIns="40823" rIns="81646" bIns="40823" anchorCtr="0" compatLnSpc="0">
            <a:normAutofit/>
          </a:bodyPr>
          <a:lstStyle/>
          <a:p>
            <a:pPr algn="ctr" hangingPunct="0"/>
            <a:r>
              <a:rPr lang="fr-BE" sz="1800"/>
              <a:t>Document Type </a:t>
            </a:r>
            <a:br>
              <a:rPr lang="fr-BE" sz="1800"/>
            </a:br>
            <a:r>
              <a:rPr lang="fr-BE" sz="1800" err="1"/>
              <a:t>Definition</a:t>
            </a:r>
            <a:endParaRPr lang="fr-BE" sz="1800"/>
          </a:p>
        </p:txBody>
      </p:sp>
      <p:cxnSp>
        <p:nvCxnSpPr>
          <p:cNvPr id="32" name="Curved Connector 31"/>
          <p:cNvCxnSpPr>
            <a:cxnSpLocks/>
            <a:stCxn id="13" idx="2"/>
          </p:cNvCxnSpPr>
          <p:nvPr/>
        </p:nvCxnSpPr>
        <p:spPr>
          <a:xfrm rot="5400000">
            <a:off x="6432857" y="3130348"/>
            <a:ext cx="426659" cy="597306"/>
          </a:xfrm>
          <a:prstGeom prst="bentConnector2">
            <a:avLst/>
          </a:prstGeom>
          <a:noFill/>
          <a:ln w="25400">
            <a:solidFill>
              <a:schemeClr val="accent5"/>
            </a:solidFill>
            <a:prstDash val="solid"/>
          </a:ln>
        </p:spPr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8DE6EFA-B07D-4F52-AFA3-B82B71B49E68}"/>
              </a:ext>
            </a:extLst>
          </p:cNvPr>
          <p:cNvSpPr/>
          <p:nvPr/>
        </p:nvSpPr>
        <p:spPr>
          <a:xfrm>
            <a:off x="10219839" y="5495819"/>
            <a:ext cx="1972161" cy="1323439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fr-BE" sz="2000" u="sng"/>
              <a:t>Légende</a:t>
            </a:r>
            <a:r>
              <a:rPr lang="fr-BE" sz="2000"/>
              <a:t> </a:t>
            </a:r>
          </a:p>
          <a:p>
            <a:pPr lvl="0"/>
            <a:r>
              <a:rPr lang="fr-BE" sz="2000">
                <a:solidFill>
                  <a:schemeClr val="accent6">
                    <a:lumMod val="50000"/>
                  </a:schemeClr>
                </a:solidFill>
              </a:rPr>
              <a:t>préséance </a:t>
            </a:r>
          </a:p>
          <a:p>
            <a:pPr lvl="0"/>
            <a:r>
              <a:rPr lang="fr-BE" sz="2000"/>
              <a:t>envoi de données </a:t>
            </a:r>
          </a:p>
          <a:p>
            <a:pPr lvl="0"/>
            <a:r>
              <a:rPr lang="fr-BE" sz="2000">
                <a:solidFill>
                  <a:schemeClr val="accent5"/>
                </a:solidFill>
              </a:rPr>
              <a:t>lien logique</a:t>
            </a:r>
          </a:p>
        </p:txBody>
      </p:sp>
      <p:sp>
        <p:nvSpPr>
          <p:cNvPr id="74" name="TextBox 30">
            <a:extLst>
              <a:ext uri="{FF2B5EF4-FFF2-40B4-BE49-F238E27FC236}">
                <a16:creationId xmlns:a16="http://schemas.microsoft.com/office/drawing/2014/main" id="{5FA81B91-8640-4971-94B9-F22B82CD0F9A}"/>
              </a:ext>
            </a:extLst>
          </p:cNvPr>
          <p:cNvSpPr txBox="1"/>
          <p:nvPr/>
        </p:nvSpPr>
        <p:spPr>
          <a:xfrm>
            <a:off x="9132962" y="5390285"/>
            <a:ext cx="946646" cy="44394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1800"/>
              <a:t>XML </a:t>
            </a:r>
            <a:br>
              <a:rPr lang="fr-BE" sz="1800"/>
            </a:br>
            <a:r>
              <a:rPr lang="fr-BE" sz="1800" err="1"/>
              <a:t>Schema</a:t>
            </a:r>
            <a:endParaRPr lang="fr-BE" sz="1800"/>
          </a:p>
        </p:txBody>
      </p:sp>
      <p:cxnSp>
        <p:nvCxnSpPr>
          <p:cNvPr id="84" name="Curved Connector 25">
            <a:extLst>
              <a:ext uri="{FF2B5EF4-FFF2-40B4-BE49-F238E27FC236}">
                <a16:creationId xmlns:a16="http://schemas.microsoft.com/office/drawing/2014/main" id="{877B3C93-86BA-4E2F-B25A-E7AB9EE2EE74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7695985" y="2244973"/>
            <a:ext cx="2232384" cy="685830"/>
          </a:xfrm>
          <a:prstGeom prst="bentConnector2">
            <a:avLst/>
          </a:prstGeom>
          <a:noFill/>
          <a:ln w="25400">
            <a:solidFill>
              <a:srgbClr val="000000"/>
            </a:solidFill>
            <a:prstDash val="solid"/>
            <a:tailEnd type="arrow" w="lg" len="lg"/>
          </a:ln>
        </p:spPr>
      </p:cxnSp>
      <p:sp>
        <p:nvSpPr>
          <p:cNvPr id="3" name="Freeform 2"/>
          <p:cNvSpPr/>
          <p:nvPr/>
        </p:nvSpPr>
        <p:spPr>
          <a:xfrm>
            <a:off x="4845241" y="3486271"/>
            <a:ext cx="1502292" cy="783805"/>
          </a:xfrm>
          <a:prstGeom prst="rect">
            <a:avLst/>
          </a:prstGeom>
          <a:solidFill>
            <a:schemeClr val="bg1"/>
          </a:solidFill>
          <a:ln cap="sq">
            <a:solidFill>
              <a:schemeClr val="tx2"/>
            </a:solidFill>
            <a:prstDash val="solid"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algn="ctr" hangingPunct="0"/>
            <a:r>
              <a:rPr lang="fr-BE" sz="4355">
                <a:latin typeface="Arial" pitchFamily="34"/>
                <a:ea typeface="Microsoft YaHei" pitchFamily="2"/>
                <a:cs typeface="Mangal" pitchFamily="2"/>
              </a:rPr>
              <a:t>XML</a:t>
            </a:r>
          </a:p>
        </p:txBody>
      </p:sp>
      <p:cxnSp>
        <p:nvCxnSpPr>
          <p:cNvPr id="93" name="Connecteur : en angle 92">
            <a:extLst>
              <a:ext uri="{FF2B5EF4-FFF2-40B4-BE49-F238E27FC236}">
                <a16:creationId xmlns:a16="http://schemas.microsoft.com/office/drawing/2014/main" id="{6333027E-01F5-4637-A071-F9205B0A588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483033" y="3878174"/>
            <a:ext cx="1368417" cy="2487651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accent6">
                <a:lumMod val="50000"/>
              </a:schemeClr>
            </a:solidFill>
            <a:prstDash val="solid"/>
            <a:tailEnd type="triangle" w="lg" len="lg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FA06E8-96AE-4F9F-A6D4-63451644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 famille XML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9EA544-810F-4ADE-A2C5-0361E095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lvl="0"/>
            <a:r>
              <a:rPr lang="fr-BE" sz="2400">
                <a:solidFill>
                  <a:schemeClr val="accent2"/>
                </a:solidFill>
              </a:rPr>
              <a:t>SGML</a:t>
            </a:r>
            <a:endParaRPr lang="fr-BE" sz="2400"/>
          </a:p>
          <a:p>
            <a:pPr lvl="1"/>
            <a:r>
              <a:rPr lang="fr-BE" sz="2000"/>
              <a:t>Langage de description à balises (1986)</a:t>
            </a:r>
          </a:p>
          <a:p>
            <a:pPr lvl="1"/>
            <a:r>
              <a:rPr lang="fr-BE" sz="2000"/>
              <a:t>Orientation « document »</a:t>
            </a:r>
          </a:p>
          <a:p>
            <a:pPr lvl="1"/>
            <a:r>
              <a:rPr lang="fr-BE" sz="2000"/>
              <a:t>Riche, complet, lourd : 155 pages </a:t>
            </a:r>
            <a:r>
              <a:rPr lang="fr-BE" sz="2000" err="1"/>
              <a:t>specs</a:t>
            </a:r>
            <a:endParaRPr lang="fr-BE" sz="2000"/>
          </a:p>
          <a:p>
            <a:pPr lvl="0"/>
            <a:r>
              <a:rPr lang="fr-BE" sz="2400">
                <a:solidFill>
                  <a:schemeClr val="accent2"/>
                </a:solidFill>
              </a:rPr>
              <a:t>HTML</a:t>
            </a:r>
          </a:p>
          <a:p>
            <a:pPr lvl="1"/>
            <a:r>
              <a:rPr lang="fr-BE" sz="2000"/>
              <a:t>Orientation « document web »</a:t>
            </a:r>
          </a:p>
          <a:p>
            <a:pPr lvl="1"/>
            <a:r>
              <a:rPr lang="fr-BE" sz="2000"/>
              <a:t>Simple mais limité au web</a:t>
            </a:r>
          </a:p>
          <a:p>
            <a:pPr lvl="0"/>
            <a:r>
              <a:rPr lang="fr-BE" sz="2400">
                <a:solidFill>
                  <a:schemeClr val="accent2"/>
                </a:solidFill>
              </a:rPr>
              <a:t>XML</a:t>
            </a:r>
          </a:p>
          <a:p>
            <a:pPr lvl="1"/>
            <a:r>
              <a:rPr lang="fr-BE" sz="2000"/>
              <a:t>Orientation « données »</a:t>
            </a:r>
          </a:p>
          <a:p>
            <a:pPr lvl="1"/>
            <a:r>
              <a:rPr lang="fr-BE" sz="2000">
                <a:solidFill>
                  <a:schemeClr val="accent2"/>
                </a:solidFill>
              </a:rPr>
              <a:t>SGML</a:t>
            </a:r>
            <a:r>
              <a:rPr lang="fr-BE" sz="2000"/>
              <a:t> simplifié : 35 pages </a:t>
            </a:r>
            <a:r>
              <a:rPr lang="fr-BE" sz="2000" err="1"/>
              <a:t>specs</a:t>
            </a:r>
            <a:endParaRPr lang="fr-BE" sz="2000"/>
          </a:p>
          <a:p>
            <a:pPr lvl="1"/>
            <a:r>
              <a:rPr lang="fr-BE" sz="2000"/>
              <a:t>Souplesse </a:t>
            </a:r>
            <a:r>
              <a:rPr lang="fr-BE" sz="2000">
                <a:solidFill>
                  <a:schemeClr val="accent2"/>
                </a:solidFill>
              </a:rPr>
              <a:t>SGML</a:t>
            </a:r>
            <a:r>
              <a:rPr lang="fr-BE" sz="2000"/>
              <a:t> + Simplicité </a:t>
            </a:r>
            <a:r>
              <a:rPr lang="fr-BE" sz="2000">
                <a:solidFill>
                  <a:schemeClr val="accent2"/>
                </a:solidFill>
              </a:rPr>
              <a:t>HTML</a:t>
            </a:r>
          </a:p>
          <a:p>
            <a:pPr lvl="1"/>
            <a:r>
              <a:rPr lang="fr-BE" sz="2000"/>
              <a:t>Présentation des données : out of scope</a:t>
            </a:r>
          </a:p>
          <a:p>
            <a:pPr lvl="0"/>
            <a:r>
              <a:rPr lang="fr-BE" sz="2400">
                <a:solidFill>
                  <a:schemeClr val="accent2"/>
                </a:solidFill>
              </a:rPr>
              <a:t>XHTML</a:t>
            </a:r>
          </a:p>
          <a:p>
            <a:pPr lvl="1"/>
            <a:r>
              <a:rPr lang="fr-BE" sz="2000">
                <a:solidFill>
                  <a:schemeClr val="accent2"/>
                </a:solidFill>
              </a:rPr>
              <a:t>HTML</a:t>
            </a:r>
            <a:r>
              <a:rPr lang="fr-BE" sz="2000"/>
              <a:t> suivant la norme </a:t>
            </a:r>
            <a:r>
              <a:rPr lang="fr-BE" sz="2000">
                <a:solidFill>
                  <a:schemeClr val="accent2"/>
                </a:solidFill>
              </a:rPr>
              <a:t>XML</a:t>
            </a:r>
          </a:p>
          <a:p>
            <a:pPr lvl="0"/>
            <a:r>
              <a:rPr lang="fr-BE" sz="2400"/>
              <a:t>Les adjoints du </a:t>
            </a:r>
            <a:r>
              <a:rPr lang="fr-BE" sz="2400">
                <a:solidFill>
                  <a:schemeClr val="accent2"/>
                </a:solidFill>
              </a:rPr>
              <a:t>XML</a:t>
            </a:r>
            <a:r>
              <a:rPr lang="fr-BE" sz="2400"/>
              <a:t> :</a:t>
            </a:r>
          </a:p>
          <a:p>
            <a:pPr lvl="1"/>
            <a:r>
              <a:rPr lang="fr-BE" sz="2000">
                <a:solidFill>
                  <a:schemeClr val="accent2"/>
                </a:solidFill>
              </a:rPr>
              <a:t>DTD</a:t>
            </a:r>
            <a:r>
              <a:rPr lang="fr-BE" sz="2000"/>
              <a:t> : la structure du document, permettant sa validation</a:t>
            </a:r>
          </a:p>
          <a:p>
            <a:pPr lvl="1"/>
            <a:r>
              <a:rPr lang="fr-BE" sz="2000">
                <a:solidFill>
                  <a:schemeClr val="accent2"/>
                </a:solidFill>
              </a:rPr>
              <a:t>XSD</a:t>
            </a:r>
            <a:r>
              <a:rPr lang="fr-BE" sz="2000"/>
              <a:t> : le </a:t>
            </a:r>
            <a:r>
              <a:rPr lang="fr-BE" sz="2000">
                <a:solidFill>
                  <a:schemeClr val="accent2"/>
                </a:solidFill>
              </a:rPr>
              <a:t>DTD</a:t>
            </a:r>
            <a:r>
              <a:rPr lang="fr-BE" sz="2000"/>
              <a:t> en plus évolué</a:t>
            </a:r>
          </a:p>
          <a:p>
            <a:pPr lvl="1"/>
            <a:r>
              <a:rPr lang="fr-BE" sz="2000">
                <a:solidFill>
                  <a:schemeClr val="accent2"/>
                </a:solidFill>
              </a:rPr>
              <a:t>XSL</a:t>
            </a:r>
            <a:r>
              <a:rPr lang="fr-BE" sz="2000"/>
              <a:t> : pour transformer </a:t>
            </a:r>
            <a:r>
              <a:rPr lang="fr-BE" sz="2000">
                <a:solidFill>
                  <a:schemeClr val="accent2"/>
                </a:solidFill>
              </a:rPr>
              <a:t>XML</a:t>
            </a:r>
          </a:p>
          <a:p>
            <a:pPr lvl="1"/>
            <a:r>
              <a:rPr lang="fr-BE" sz="2000" err="1">
                <a:solidFill>
                  <a:schemeClr val="accent2"/>
                </a:solidFill>
              </a:rPr>
              <a:t>Namespace</a:t>
            </a:r>
            <a:r>
              <a:rPr lang="fr-BE" sz="2000">
                <a:solidFill>
                  <a:schemeClr val="accent2"/>
                </a:solidFill>
              </a:rPr>
              <a:t>, </a:t>
            </a:r>
            <a:r>
              <a:rPr lang="fr-BE" sz="2000" err="1">
                <a:solidFill>
                  <a:schemeClr val="accent2"/>
                </a:solidFill>
              </a:rPr>
              <a:t>Xpath</a:t>
            </a:r>
            <a:r>
              <a:rPr lang="fr-BE" sz="2000">
                <a:solidFill>
                  <a:schemeClr val="accent2"/>
                </a:solidFill>
              </a:rPr>
              <a:t>, </a:t>
            </a:r>
            <a:r>
              <a:rPr lang="fr-BE" sz="2000" err="1">
                <a:solidFill>
                  <a:schemeClr val="accent2"/>
                </a:solidFill>
              </a:rPr>
              <a:t>Xquery</a:t>
            </a:r>
            <a:r>
              <a:rPr lang="fr-BE" sz="200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8906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73DCCC-6233-4E85-9AC0-74B58922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Ensemble complet de données XML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8C22C1-EE72-486A-A8B0-A88B6FCA0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lvl="0"/>
            <a:r>
              <a:rPr lang="fr-BE">
                <a:solidFill>
                  <a:schemeClr val="accent2"/>
                </a:solidFill>
              </a:rPr>
              <a:t>XML</a:t>
            </a:r>
          </a:p>
          <a:p>
            <a:pPr lvl="1"/>
            <a:r>
              <a:rPr lang="fr-BE"/>
              <a:t>données proprement dites</a:t>
            </a:r>
          </a:p>
          <a:p>
            <a:pPr lvl="1"/>
            <a:r>
              <a:rPr lang="fr-BE"/>
              <a:t>balise ouvrante – contenu – balise fermante</a:t>
            </a:r>
          </a:p>
          <a:p>
            <a:pPr lvl="1"/>
            <a:r>
              <a:rPr lang="fr-BE"/>
              <a:t>balises encastrables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DTD</a:t>
            </a:r>
            <a:r>
              <a:rPr lang="fr-BE"/>
              <a:t> ou </a:t>
            </a:r>
            <a:r>
              <a:rPr lang="fr-BE">
                <a:solidFill>
                  <a:schemeClr val="accent2"/>
                </a:solidFill>
              </a:rPr>
              <a:t>XSD</a:t>
            </a:r>
          </a:p>
          <a:p>
            <a:pPr lvl="1"/>
            <a:r>
              <a:rPr lang="fr-BE"/>
              <a:t>Grammaire du doc </a:t>
            </a:r>
            <a:r>
              <a:rPr lang="fr-BE">
                <a:solidFill>
                  <a:schemeClr val="accent2"/>
                </a:solidFill>
              </a:rPr>
              <a:t>XML</a:t>
            </a:r>
            <a:endParaRPr lang="fr-BE"/>
          </a:p>
          <a:p>
            <a:pPr lvl="1"/>
            <a:r>
              <a:rPr lang="fr-BE"/>
              <a:t>Validation des données échangées</a:t>
            </a:r>
          </a:p>
          <a:p>
            <a:pPr lvl="1"/>
            <a:r>
              <a:rPr lang="fr-BE" b="1">
                <a:solidFill>
                  <a:schemeClr val="accent5"/>
                </a:solidFill>
              </a:rPr>
              <a:t>DTD/XSD + XML =</a:t>
            </a:r>
            <a:br>
              <a:rPr lang="fr-BE" b="1">
                <a:solidFill>
                  <a:schemeClr val="accent5"/>
                </a:solidFill>
              </a:rPr>
            </a:br>
            <a:r>
              <a:rPr lang="fr-BE" b="1">
                <a:solidFill>
                  <a:schemeClr val="accent5"/>
                </a:solidFill>
              </a:rPr>
              <a:t>données validées</a:t>
            </a:r>
          </a:p>
          <a:p>
            <a:pPr lvl="1"/>
            <a:r>
              <a:rPr lang="fr-BE"/>
              <a:t>Elément optionnel.</a:t>
            </a:r>
          </a:p>
          <a:p>
            <a:pPr lvl="1"/>
            <a:r>
              <a:rPr lang="fr-BE"/>
              <a:t>Application : Des partenaires s'échangeant des données par </a:t>
            </a:r>
            <a:r>
              <a:rPr lang="fr-BE">
                <a:solidFill>
                  <a:schemeClr val="accent2"/>
                </a:solidFill>
              </a:rPr>
              <a:t>XML</a:t>
            </a:r>
            <a:r>
              <a:rPr lang="fr-BE"/>
              <a:t> conviennent d'abord d'un </a:t>
            </a:r>
            <a:r>
              <a:rPr lang="fr-BE">
                <a:solidFill>
                  <a:schemeClr val="accent2"/>
                </a:solidFill>
              </a:rPr>
              <a:t>DTD</a:t>
            </a:r>
            <a:r>
              <a:rPr lang="fr-BE"/>
              <a:t>.</a:t>
            </a:r>
          </a:p>
          <a:p>
            <a:pPr lvl="1"/>
            <a:r>
              <a:rPr lang="fr-BE"/>
              <a:t>DTD obsolète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XSL</a:t>
            </a:r>
            <a:r>
              <a:rPr lang="fr-BE"/>
              <a:t> et </a:t>
            </a:r>
            <a:r>
              <a:rPr lang="fr-BE">
                <a:solidFill>
                  <a:schemeClr val="accent2"/>
                </a:solidFill>
              </a:rPr>
              <a:t>CSS</a:t>
            </a:r>
          </a:p>
          <a:p>
            <a:pPr lvl="1"/>
            <a:r>
              <a:rPr lang="fr-BE"/>
              <a:t>Pour présenter un doc </a:t>
            </a:r>
            <a:r>
              <a:rPr lang="fr-BE">
                <a:solidFill>
                  <a:schemeClr val="accent2"/>
                </a:solidFill>
              </a:rPr>
              <a:t>XML</a:t>
            </a:r>
          </a:p>
          <a:p>
            <a:pPr lvl="1"/>
            <a:r>
              <a:rPr lang="fr-BE"/>
              <a:t>un </a:t>
            </a:r>
            <a:r>
              <a:rPr lang="fr-BE">
                <a:solidFill>
                  <a:schemeClr val="accent2"/>
                </a:solidFill>
              </a:rPr>
              <a:t>XSLT</a:t>
            </a:r>
            <a:r>
              <a:rPr lang="fr-BE"/>
              <a:t> par type de présentation</a:t>
            </a:r>
          </a:p>
          <a:p>
            <a:pPr lvl="2"/>
            <a:r>
              <a:rPr lang="fr-BE"/>
              <a:t>Un pour Web, un autre pour Mobile, un pour PDF, un pour l'écran textuel monochrome.</a:t>
            </a:r>
          </a:p>
          <a:p>
            <a:pPr lvl="1"/>
            <a:r>
              <a:rPr lang="fr-BE"/>
              <a:t>Elément optionnel.</a:t>
            </a:r>
          </a:p>
          <a:p>
            <a:pPr lvl="1"/>
            <a:r>
              <a:rPr lang="fr-BE" b="1">
                <a:solidFill>
                  <a:schemeClr val="accent5"/>
                </a:solidFill>
              </a:rPr>
              <a:t>XML + XSL (+ CSS) = doc lisible</a:t>
            </a:r>
          </a:p>
          <a:p>
            <a:pPr lvl="1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9211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Ensemble complet de données XML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74342" y="1431853"/>
            <a:ext cx="6232498" cy="5428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674027"/>
            <a:ext cx="10515600" cy="707758"/>
          </a:xfrm>
        </p:spPr>
        <p:txBody>
          <a:bodyPr>
            <a:spAutoFit/>
          </a:bodyPr>
          <a:lstStyle/>
          <a:p>
            <a:pPr lvl="0"/>
            <a:r>
              <a:rPr lang="fr-BE"/>
              <a:t>XML, exo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089168"/>
            <a:ext cx="10991247" cy="412875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vert="horz" wrap="square" lIns="81646" tIns="40823" rIns="81646" bIns="40823" anchorCtr="0" compatLnSpc="0">
            <a:noAutofit/>
          </a:bodyPr>
          <a:lstStyle/>
          <a:p>
            <a:pPr hangingPunct="0">
              <a:spcAft>
                <a:spcPts val="1800"/>
              </a:spcAft>
            </a:pP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&lt;?</a:t>
            </a:r>
            <a:r>
              <a:rPr lang="fr-BE" sz="2540" b="1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xml</a:t>
            </a:r>
            <a:r>
              <a:rPr lang="fr-BE" sz="2540">
                <a:latin typeface="Courier New" pitchFamily="49"/>
                <a:ea typeface="Courier New" pitchFamily="49"/>
                <a:cs typeface="Courier New" pitchFamily="49"/>
              </a:rPr>
              <a:t>	</a:t>
            </a:r>
            <a:r>
              <a:rPr lang="fr-BE" sz="2540">
                <a:solidFill>
                  <a:srgbClr val="FF0000"/>
                </a:solidFill>
                <a:latin typeface="Courier New" pitchFamily="49"/>
                <a:ea typeface="Courier New" pitchFamily="49"/>
                <a:cs typeface="Courier New" pitchFamily="49"/>
              </a:rPr>
              <a:t>version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=</a:t>
            </a:r>
            <a:r>
              <a:rPr lang="fr-BE" sz="2540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  <a:t>"1.0"</a:t>
            </a:r>
            <a:br>
              <a:rPr lang="fr-BE" sz="2540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</a:br>
            <a:r>
              <a:rPr lang="fr-BE" sz="2540">
                <a:latin typeface="Courier New" pitchFamily="49"/>
                <a:ea typeface="Courier New" pitchFamily="49"/>
                <a:cs typeface="Courier New" pitchFamily="49"/>
              </a:rPr>
              <a:t>	</a:t>
            </a:r>
            <a:r>
              <a:rPr lang="fr-BE" sz="2540" err="1">
                <a:solidFill>
                  <a:srgbClr val="FF0000"/>
                </a:solidFill>
                <a:latin typeface="Courier New" pitchFamily="49"/>
                <a:ea typeface="Courier New" pitchFamily="49"/>
                <a:cs typeface="Courier New" pitchFamily="49"/>
              </a:rPr>
              <a:t>encoding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=</a:t>
            </a:r>
            <a:r>
              <a:rPr lang="fr-BE" sz="2540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  <a:t>"ISO-8859-1"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 </a:t>
            </a:r>
            <a:b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</a:br>
            <a:r>
              <a:rPr lang="fr-BE" sz="2540">
                <a:latin typeface="Courier New" pitchFamily="49"/>
                <a:ea typeface="Courier New" pitchFamily="49"/>
                <a:cs typeface="Courier New" pitchFamily="49"/>
              </a:rPr>
              <a:t>	</a:t>
            </a:r>
            <a:r>
              <a:rPr lang="fr-BE" sz="2540">
                <a:solidFill>
                  <a:srgbClr val="FF0000"/>
                </a:solidFill>
                <a:latin typeface="Courier New" pitchFamily="49"/>
                <a:ea typeface="Courier New" pitchFamily="49"/>
                <a:cs typeface="Courier New" pitchFamily="49"/>
              </a:rPr>
              <a:t>standalone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=</a:t>
            </a:r>
            <a:r>
              <a:rPr lang="fr-BE" sz="2540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  <a:t>"no"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 ?&gt;</a:t>
            </a:r>
          </a:p>
          <a:p>
            <a:pPr hangingPunct="0">
              <a:spcAft>
                <a:spcPts val="1800"/>
              </a:spcAft>
            </a:pP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&lt;?</a:t>
            </a:r>
            <a:r>
              <a:rPr lang="fr-BE" sz="2540" b="1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xml-</a:t>
            </a:r>
            <a:r>
              <a:rPr lang="fr-BE" sz="2540" b="1" err="1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stylesheet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 </a:t>
            </a:r>
            <a:b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</a:br>
            <a:r>
              <a:rPr lang="fr-BE" sz="2540">
                <a:latin typeface="Courier New" pitchFamily="49"/>
                <a:ea typeface="Courier New" pitchFamily="49"/>
                <a:cs typeface="Courier New" pitchFamily="49"/>
              </a:rPr>
              <a:t>	</a:t>
            </a:r>
            <a:r>
              <a:rPr lang="fr-BE" sz="2540">
                <a:solidFill>
                  <a:srgbClr val="FF0000"/>
                </a:solidFill>
                <a:latin typeface="Courier New" pitchFamily="49"/>
                <a:ea typeface="Courier New" pitchFamily="49"/>
                <a:cs typeface="Courier New" pitchFamily="49"/>
              </a:rPr>
              <a:t>type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=</a:t>
            </a:r>
            <a:r>
              <a:rPr lang="fr-BE" sz="2540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  <a:t>"</a:t>
            </a:r>
            <a:r>
              <a:rPr lang="fr-BE" sz="2540" err="1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  <a:t>text</a:t>
            </a:r>
            <a:r>
              <a:rPr lang="fr-BE" sz="2540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  <a:t>/</a:t>
            </a:r>
            <a:r>
              <a:rPr lang="fr-BE" sz="2540" err="1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  <a:t>xsl</a:t>
            </a:r>
            <a:r>
              <a:rPr lang="fr-BE" sz="2540">
                <a:solidFill>
                  <a:srgbClr val="8000FF"/>
                </a:solidFill>
                <a:latin typeface="Courier New" pitchFamily="49"/>
                <a:ea typeface="Courier New" pitchFamily="49"/>
                <a:cs typeface="Courier New" pitchFamily="49"/>
              </a:rPr>
              <a:t>"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 </a:t>
            </a:r>
            <a:b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</a:br>
            <a:r>
              <a:rPr lang="fr-BE" sz="2540">
                <a:latin typeface="Courier New" pitchFamily="49"/>
                <a:ea typeface="Courier New" pitchFamily="49"/>
                <a:cs typeface="Courier New" pitchFamily="49"/>
              </a:rPr>
              <a:t>	</a:t>
            </a:r>
            <a:r>
              <a:rPr lang="fr-BE" sz="2540">
                <a:solidFill>
                  <a:srgbClr val="FF0000"/>
                </a:solidFill>
                <a:latin typeface="Courier New" pitchFamily="49"/>
                <a:ea typeface="Courier New" pitchFamily="49"/>
                <a:cs typeface="Courier New" pitchFamily="49"/>
              </a:rPr>
              <a:t>href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=</a:t>
            </a:r>
            <a:r>
              <a:rPr lang="fr-BE" sz="2540">
                <a:solidFill>
                  <a:srgbClr val="6600FF"/>
                </a:solidFill>
                <a:latin typeface="Courier New" pitchFamily="49"/>
                <a:ea typeface="Courier New" pitchFamily="49"/>
                <a:cs typeface="Courier New" pitchFamily="49"/>
              </a:rPr>
              <a:t>"bonjour.xsl"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 ?&gt;</a:t>
            </a:r>
          </a:p>
          <a:p>
            <a:pPr hangingPunct="0">
              <a:spcAft>
                <a:spcPts val="1800"/>
              </a:spcAft>
            </a:pP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&lt;!</a:t>
            </a:r>
            <a:r>
              <a:rPr lang="fr-BE" sz="2540" b="1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DOCTYPE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 </a:t>
            </a:r>
            <a:r>
              <a:rPr lang="fr-BE" sz="2540" b="1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salut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 SYSTEM </a:t>
            </a:r>
            <a:r>
              <a:rPr lang="fr-BE" sz="2540">
                <a:solidFill>
                  <a:srgbClr val="6600FF"/>
                </a:solidFill>
                <a:latin typeface="Courier New" pitchFamily="49"/>
                <a:ea typeface="Courier New" pitchFamily="49"/>
                <a:cs typeface="Courier New" pitchFamily="49"/>
              </a:rPr>
              <a:t>"bonjour.dtd"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Aft>
                <a:spcPts val="1800"/>
              </a:spcAft>
            </a:pPr>
            <a:r>
              <a:rPr lang="fr-BE" sz="2540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&lt;</a:t>
            </a:r>
            <a:r>
              <a:rPr lang="fr-BE" sz="2540" b="1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salut</a:t>
            </a:r>
            <a:r>
              <a:rPr lang="fr-BE" sz="2540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&gt;</a:t>
            </a:r>
            <a:r>
              <a:rPr lang="fr-BE" sz="2540">
                <a:solidFill>
                  <a:srgbClr val="000000"/>
                </a:solidFill>
                <a:latin typeface="Courier New" pitchFamily="49"/>
                <a:ea typeface="Courier New" pitchFamily="49"/>
                <a:cs typeface="Courier New" pitchFamily="49"/>
              </a:rPr>
              <a:t>Hello world!</a:t>
            </a:r>
            <a:r>
              <a:rPr lang="fr-BE" sz="2540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&lt;/</a:t>
            </a:r>
            <a:r>
              <a:rPr lang="fr-BE" sz="2540" b="1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salut</a:t>
            </a:r>
            <a:r>
              <a:rPr lang="fr-BE" sz="2540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46757" y="2449392"/>
            <a:ext cx="1073847" cy="533845"/>
          </a:xfrm>
          <a:prstGeom prst="rect">
            <a:avLst/>
          </a:prstGeom>
          <a:noFill/>
          <a:ln>
            <a:noFill/>
          </a:ln>
        </p:spPr>
        <p:txBody>
          <a:bodyPr vert="horz" wrap="none" lIns="98629" tIns="92097" rIns="98629" bIns="92097" anchorCtr="0" compatLnSpc="0">
            <a:spAutoFit/>
          </a:bodyPr>
          <a:lstStyle/>
          <a:p>
            <a:pPr hangingPunct="0"/>
            <a:r>
              <a:rPr lang="fr-BE" sz="2359">
                <a:latin typeface="Arial" pitchFamily="18"/>
                <a:ea typeface="Microsoft YaHei" pitchFamily="2"/>
                <a:cs typeface="Mangal" pitchFamily="2"/>
              </a:rPr>
              <a:t>Entête</a:t>
            </a:r>
          </a:p>
        </p:txBody>
      </p:sp>
      <p:sp>
        <p:nvSpPr>
          <p:cNvPr id="5" name="Freeform 4"/>
          <p:cNvSpPr/>
          <p:nvPr/>
        </p:nvSpPr>
        <p:spPr>
          <a:xfrm>
            <a:off x="8054855" y="2155464"/>
            <a:ext cx="391903" cy="1175708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8055182" y="3462132"/>
            <a:ext cx="391903" cy="1077405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46757" y="3690417"/>
            <a:ext cx="1409900" cy="533845"/>
          </a:xfrm>
          <a:prstGeom prst="rect">
            <a:avLst/>
          </a:prstGeom>
          <a:noFill/>
          <a:ln>
            <a:noFill/>
          </a:ln>
        </p:spPr>
        <p:txBody>
          <a:bodyPr vert="horz" wrap="none" lIns="98629" tIns="92097" rIns="98629" bIns="92097" anchorCtr="0" compatLnSpc="0">
            <a:spAutoFit/>
          </a:bodyPr>
          <a:lstStyle/>
          <a:p>
            <a:pPr hangingPunct="0"/>
            <a:r>
              <a:rPr lang="fr-BE" sz="2359">
                <a:latin typeface="Arial" pitchFamily="18"/>
                <a:ea typeface="Microsoft YaHei" pitchFamily="2"/>
                <a:cs typeface="Mangal" pitchFamily="2"/>
              </a:rPr>
              <a:t>Réf. XSL</a:t>
            </a:r>
          </a:p>
        </p:txBody>
      </p:sp>
      <p:sp>
        <p:nvSpPr>
          <p:cNvPr id="8" name="Freeform 7"/>
          <p:cNvSpPr/>
          <p:nvPr/>
        </p:nvSpPr>
        <p:spPr>
          <a:xfrm>
            <a:off x="8055507" y="4637841"/>
            <a:ext cx="391903" cy="718161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46757" y="4735817"/>
            <a:ext cx="1459786" cy="533845"/>
          </a:xfrm>
          <a:prstGeom prst="rect">
            <a:avLst/>
          </a:prstGeom>
          <a:noFill/>
          <a:ln>
            <a:noFill/>
          </a:ln>
        </p:spPr>
        <p:txBody>
          <a:bodyPr vert="horz" wrap="none" lIns="98629" tIns="92097" rIns="98629" bIns="92097" anchorCtr="0" compatLnSpc="0">
            <a:spAutoFit/>
          </a:bodyPr>
          <a:lstStyle/>
          <a:p>
            <a:pPr hangingPunct="0"/>
            <a:r>
              <a:rPr lang="fr-BE" sz="2359">
                <a:latin typeface="Arial" pitchFamily="18"/>
                <a:ea typeface="Microsoft YaHei" pitchFamily="2"/>
                <a:cs typeface="Mangal" pitchFamily="2"/>
              </a:rPr>
              <a:t>Réf. DTD</a:t>
            </a:r>
          </a:p>
        </p:txBody>
      </p:sp>
      <p:sp>
        <p:nvSpPr>
          <p:cNvPr id="10" name="Freeform 9"/>
          <p:cNvSpPr/>
          <p:nvPr/>
        </p:nvSpPr>
        <p:spPr>
          <a:xfrm>
            <a:off x="8055835" y="5421646"/>
            <a:ext cx="391903" cy="587527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47737" y="5454305"/>
            <a:ext cx="2755590" cy="533845"/>
          </a:xfrm>
          <a:prstGeom prst="rect">
            <a:avLst/>
          </a:prstGeom>
          <a:noFill/>
          <a:ln>
            <a:noFill/>
          </a:ln>
        </p:spPr>
        <p:txBody>
          <a:bodyPr vert="horz" wrap="none" lIns="98629" tIns="92097" rIns="98629" bIns="92097" anchorCtr="0" compatLnSpc="0">
            <a:spAutoFit/>
          </a:bodyPr>
          <a:lstStyle/>
          <a:p>
            <a:pPr hangingPunct="0"/>
            <a:r>
              <a:rPr lang="fr-BE" sz="2359">
                <a:latin typeface="Arial" pitchFamily="18"/>
                <a:ea typeface="Microsoft YaHei" pitchFamily="2"/>
                <a:cs typeface="Mangal" pitchFamily="2"/>
              </a:rPr>
              <a:t>Arbre des données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2633911" y="6009172"/>
            <a:ext cx="3526796" cy="58034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800" h="1778">
                <a:moveTo>
                  <a:pt x="0" y="0"/>
                </a:moveTo>
                <a:cubicBezTo>
                  <a:pt x="6000" y="4000"/>
                  <a:pt x="10800" y="0"/>
                  <a:pt x="10800" y="0"/>
                </a:cubicBezTo>
              </a:path>
            </a:pathLst>
          </a:custGeom>
          <a:noFill/>
          <a:ln>
            <a:noFill/>
            <a:prstDash val="solid"/>
            <a:headEnd type="arrow"/>
          </a:ln>
        </p:spPr>
        <p:txBody>
          <a:bodyPr vert="horz" wrap="none" lIns="81646" tIns="40823" rIns="81646" bIns="40823" anchor="ctr" anchorCtr="0" compatLnSpc="0"/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2032340" y="4567298"/>
            <a:ext cx="1972903" cy="11802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42" h="3615">
                <a:moveTo>
                  <a:pt x="6042" y="615"/>
                </a:moveTo>
                <a:cubicBezTo>
                  <a:pt x="-4158" y="-1785"/>
                  <a:pt x="1642" y="3615"/>
                  <a:pt x="1642" y="3615"/>
                </a:cubicBezTo>
              </a:path>
            </a:pathLst>
          </a:custGeom>
          <a:noFill/>
          <a:ln>
            <a:noFill/>
            <a:prstDash val="solid"/>
            <a:headEnd type="arrow"/>
          </a:ln>
        </p:spPr>
        <p:txBody>
          <a:bodyPr vert="horz" wrap="none" lIns="81646" tIns="40823" rIns="81646" bIns="40823" anchor="ctr" anchorCtr="0" compatLnSpc="0"/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9753426" y="2155464"/>
            <a:ext cx="391903" cy="3233523"/>
          </a:xfrm>
          <a:custGeom>
            <a:avLst>
              <a:gd name="f0" fmla="val 1800"/>
              <a:gd name="f1" fmla="val 108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-2147483647"/>
              <a:gd name="f10" fmla="val 2147483647"/>
              <a:gd name="f11" fmla="val 5400"/>
              <a:gd name="f12" fmla="val 10800"/>
              <a:gd name="f13" fmla="val 16200"/>
              <a:gd name="f14" fmla="+- 0 0 0"/>
              <a:gd name="f15" fmla="*/ f5 1 21600"/>
              <a:gd name="f16" fmla="*/ f6 1 21600"/>
              <a:gd name="f17" fmla="pin 0 f0 5400"/>
              <a:gd name="f18" fmla="pin 0 f1 21600"/>
              <a:gd name="f19" fmla="*/ f14 f2 1"/>
              <a:gd name="f20" fmla="*/ f17 1 2"/>
              <a:gd name="f21" fmla="val f17"/>
              <a:gd name="f22" fmla="val f18"/>
              <a:gd name="f23" fmla="+- 21600 0 f17"/>
              <a:gd name="f24" fmla="*/ f17 10000 1"/>
              <a:gd name="f25" fmla="*/ 10800 f15 1"/>
              <a:gd name="f26" fmla="*/ f17 f16 1"/>
              <a:gd name="f27" fmla="*/ f8 f15 1"/>
              <a:gd name="f28" fmla="*/ f18 f16 1"/>
              <a:gd name="f29" fmla="*/ 0 f15 1"/>
              <a:gd name="f30" fmla="*/ 7800 f15 1"/>
              <a:gd name="f31" fmla="*/ 0 f16 1"/>
              <a:gd name="f32" fmla="*/ f19 1 f4"/>
              <a:gd name="f33" fmla="*/ 21600 f16 1"/>
              <a:gd name="f34" fmla="*/ 21600 f15 1"/>
              <a:gd name="f35" fmla="*/ 10800 f16 1"/>
              <a:gd name="f36" fmla="+- f22 0 f17"/>
              <a:gd name="f37" fmla="+- f22 0 f20"/>
              <a:gd name="f38" fmla="+- f22 f20 0"/>
              <a:gd name="f39" fmla="+- f22 f17 0"/>
              <a:gd name="f40" fmla="+- 21600 0 f20"/>
              <a:gd name="f41" fmla="*/ f24 1 31953"/>
              <a:gd name="f42" fmla="+- f32 0 f3"/>
              <a:gd name="f43" fmla="+- 21600 0 f41"/>
              <a:gd name="f44" fmla="*/ f41 f16 1"/>
              <a:gd name="f45" fmla="*/ f43 f16 1"/>
            </a:gdLst>
            <a:ahLst>
              <a:ahXY gdRefY="f0" minY="f7" maxY="f11">
                <a:pos x="f25" y="f26"/>
              </a:ahXY>
              <a:ahXY gdRefY="f1" minY="f7" maxY="f8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29" y="f31"/>
              </a:cxn>
              <a:cxn ang="f42">
                <a:pos x="f29" y="f33"/>
              </a:cxn>
              <a:cxn ang="f42">
                <a:pos x="f34" y="f35"/>
              </a:cxn>
            </a:cxnLst>
            <a:rect l="f29" t="f44" r="f30" b="f45"/>
            <a:pathLst>
              <a:path w="21600" h="21600">
                <a:moveTo>
                  <a:pt x="f7" y="f7"/>
                </a:moveTo>
                <a:cubicBezTo>
                  <a:pt x="f11" y="f7"/>
                  <a:pt x="f12" y="f20"/>
                  <a:pt x="f12" y="f21"/>
                </a:cubicBezTo>
                <a:lnTo>
                  <a:pt x="f12" y="f36"/>
                </a:lnTo>
                <a:cubicBezTo>
                  <a:pt x="f12" y="f37"/>
                  <a:pt x="f13" y="f22"/>
                  <a:pt x="f8" y="f22"/>
                </a:cubicBezTo>
                <a:cubicBezTo>
                  <a:pt x="f13" y="f22"/>
                  <a:pt x="f12" y="f38"/>
                  <a:pt x="f12" y="f39"/>
                </a:cubicBezTo>
                <a:lnTo>
                  <a:pt x="f12" y="f23"/>
                </a:lnTo>
                <a:cubicBezTo>
                  <a:pt x="f12" y="f40"/>
                  <a:pt x="f11" y="f8"/>
                  <a:pt x="f7" y="f8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31626" y="3505302"/>
            <a:ext cx="1410157" cy="533845"/>
          </a:xfrm>
          <a:prstGeom prst="rect">
            <a:avLst/>
          </a:prstGeom>
          <a:noFill/>
          <a:ln>
            <a:noFill/>
          </a:ln>
        </p:spPr>
        <p:txBody>
          <a:bodyPr vert="horz" wrap="none" lIns="98629" tIns="92097" rIns="98629" bIns="92097" anchorCtr="0" compatLnSpc="0">
            <a:spAutoFit/>
          </a:bodyPr>
          <a:lstStyle/>
          <a:p>
            <a:pPr hangingPunct="0"/>
            <a:r>
              <a:rPr lang="fr-BE" sz="2359">
                <a:latin typeface="Arial" pitchFamily="18"/>
                <a:ea typeface="Microsoft YaHei" pitchFamily="2"/>
                <a:cs typeface="Mangal" pitchFamily="2"/>
              </a:rPr>
              <a:t>Prologue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6757" y="2449392"/>
            <a:ext cx="1073847" cy="533845"/>
          </a:xfrm>
          <a:prstGeom prst="rect">
            <a:avLst/>
          </a:prstGeom>
          <a:noFill/>
          <a:ln>
            <a:noFill/>
          </a:ln>
        </p:spPr>
        <p:txBody>
          <a:bodyPr vert="horz" wrap="none" lIns="98629" tIns="92097" rIns="98629" bIns="92097" anchorCtr="0" compatLnSpc="0">
            <a:spAutoFit/>
          </a:bodyPr>
          <a:lstStyle/>
          <a:p>
            <a:pPr hangingPunct="0"/>
            <a:r>
              <a:rPr lang="fr-BE" sz="2359">
                <a:latin typeface="Arial" pitchFamily="18"/>
                <a:ea typeface="Microsoft YaHei" pitchFamily="2"/>
                <a:cs typeface="Mangal" pitchFamily="2"/>
              </a:rPr>
              <a:t>Entête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76691" y="3886041"/>
            <a:ext cx="7707417" cy="4996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vert="horz" wrap="none" lIns="81646" tIns="40823" rIns="81646" bIns="40823" anchorCtr="0" compatLnSpc="0"/>
          <a:lstStyle/>
          <a:p>
            <a:pPr algn="ctr" hangingPunct="0"/>
            <a:r>
              <a:rPr lang="fr-BE" sz="2903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&lt;!ELEMENT</a:t>
            </a:r>
            <a:r>
              <a:rPr lang="fr-BE" sz="2903">
                <a:latin typeface="Courier New" pitchFamily="49"/>
                <a:ea typeface="Microsoft YaHei" pitchFamily="2"/>
                <a:cs typeface="Mangal" pitchFamily="2"/>
              </a:rPr>
              <a:t> salut </a:t>
            </a:r>
            <a:r>
              <a:rPr lang="fr-BE" sz="2903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(#PCDATA)</a:t>
            </a:r>
            <a:r>
              <a:rPr lang="fr-BE" sz="2903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/>
          </p:nvPr>
        </p:nvSpPr>
        <p:spPr>
          <a:xfrm>
            <a:off x="838200" y="674027"/>
            <a:ext cx="10515600" cy="707758"/>
          </a:xfrm>
        </p:spPr>
        <p:txBody>
          <a:bodyPr>
            <a:spAutoFit/>
          </a:bodyPr>
          <a:lstStyle/>
          <a:p>
            <a:pPr lvl="0"/>
            <a:r>
              <a:rPr lang="fr-BE"/>
              <a:t>DTD, exo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228" y="4853466"/>
            <a:ext cx="4522503" cy="1298550"/>
          </a:xfrm>
          <a:prstGeom prst="rect">
            <a:avLst/>
          </a:prstGeom>
          <a:noFill/>
          <a:ln w="38160">
            <a:solidFill>
              <a:srgbClr val="0000FF"/>
            </a:solidFill>
            <a:prstDash val="solid"/>
          </a:ln>
        </p:spPr>
        <p:txBody>
          <a:bodyPr vert="horz" wrap="square" lIns="93077" tIns="86545" rIns="93077" bIns="86545" anchorCtr="0" compatLnSpc="0">
            <a:spAutoFit/>
          </a:bodyPr>
          <a:lstStyle/>
          <a:p>
            <a:pPr hangingPunct="0"/>
            <a:r>
              <a:rPr lang="fr-BE" sz="2540">
                <a:latin typeface="Arial" pitchFamily="18"/>
                <a:ea typeface="Microsoft YaHei" pitchFamily="2"/>
                <a:cs typeface="Mangal" pitchFamily="2"/>
              </a:rPr>
              <a:t>La structure XML peut contenir des balises de nom « salut 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8857" y="2483120"/>
            <a:ext cx="4837627" cy="935172"/>
          </a:xfrm>
          <a:prstGeom prst="rect">
            <a:avLst/>
          </a:prstGeom>
          <a:noFill/>
          <a:ln w="38160">
            <a:solidFill>
              <a:srgbClr val="FF3333"/>
            </a:solidFill>
            <a:prstDash val="solid"/>
          </a:ln>
        </p:spPr>
        <p:txBody>
          <a:bodyPr vert="horz" wrap="square" lIns="98629" tIns="92097" rIns="98629" bIns="92097" anchorCtr="0" compatLnSpc="0">
            <a:spAutoFit/>
          </a:bodyPr>
          <a:lstStyle/>
          <a:p>
            <a:pPr hangingPunct="0"/>
            <a:r>
              <a:rPr lang="fr-BE" sz="2540">
                <a:latin typeface="Arial" pitchFamily="18"/>
                <a:ea typeface="Microsoft YaHei" pitchFamily="2"/>
                <a:cs typeface="Mangal" pitchFamily="2"/>
              </a:rPr>
              <a:t>Une balise « salut » peut contenir n'importe quelle valeur.</a:t>
            </a:r>
          </a:p>
        </p:txBody>
      </p:sp>
      <p:sp>
        <p:nvSpPr>
          <p:cNvPr id="6" name="Straight Connector 5"/>
          <p:cNvSpPr/>
          <p:nvPr/>
        </p:nvSpPr>
        <p:spPr>
          <a:xfrm>
            <a:off x="5377229" y="3886368"/>
            <a:ext cx="3723074" cy="0"/>
          </a:xfrm>
          <a:prstGeom prst="line">
            <a:avLst/>
          </a:prstGeom>
          <a:noFill/>
          <a:ln>
            <a:noFill/>
            <a:prstDash val="solid"/>
          </a:ln>
        </p:spPr>
        <p:txBody>
          <a:bodyPr vert="horz" wrap="none" lIns="98955" tIns="92424" rIns="98955" bIns="92424" anchor="ctr" anchorCtr="0" compatLnSpc="0"/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3156448" y="4506880"/>
            <a:ext cx="1893869" cy="8687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00" h="267">
                <a:moveTo>
                  <a:pt x="0" y="0"/>
                </a:moveTo>
                <a:cubicBezTo>
                  <a:pt x="3400" y="600"/>
                  <a:pt x="5800" y="0"/>
                  <a:pt x="5800" y="0"/>
                </a:cubicBezTo>
              </a:path>
            </a:pathLst>
          </a:custGeom>
          <a:noFill/>
          <a:ln w="38160">
            <a:solidFill>
              <a:srgbClr val="0000FF"/>
            </a:solidFill>
            <a:custDash>
              <a:ds d="48113" sp="48113"/>
              <a:ds d="48113" sp="48113"/>
            </a:custDash>
          </a:ln>
        </p:spPr>
        <p:txBody>
          <a:bodyPr vert="horz" wrap="none" lIns="98629" tIns="57806" rIns="98629" bIns="57806" anchor="ctr" anchorCtr="0" compatLnSpc="0"/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6814205" y="3730259"/>
            <a:ext cx="1893869" cy="5780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00" h="178">
                <a:moveTo>
                  <a:pt x="0" y="178"/>
                </a:moveTo>
                <a:cubicBezTo>
                  <a:pt x="3200" y="-222"/>
                  <a:pt x="5800" y="178"/>
                  <a:pt x="5800" y="178"/>
                </a:cubicBezTo>
              </a:path>
            </a:pathLst>
          </a:custGeom>
          <a:noFill/>
          <a:ln w="38160">
            <a:solidFill>
              <a:srgbClr val="FF3333"/>
            </a:solidFill>
            <a:custDash>
              <a:ds d="48113" sp="48113"/>
              <a:ds d="48113" sp="48113"/>
            </a:custDash>
          </a:ln>
        </p:spPr>
        <p:txBody>
          <a:bodyPr vert="horz" wrap="none" lIns="98955" tIns="58132" rIns="98955" bIns="58132" anchor="ctr" anchorCtr="0" compatLnSpc="0"/>
          <a:lstStyle/>
          <a:p>
            <a:pPr algn="ctr" hangingPunct="0"/>
            <a:endParaRPr lang="fr-BE" sz="1996">
              <a:latin typeface="Arial" pitchFamily="18"/>
              <a:ea typeface="Microsoft YaHei" pitchFamily="2"/>
              <a:cs typeface="Mangal" pitchFamily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4567C-57B9-49CD-BD8B-B603083D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DTD, exo 01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2BD51C-364F-49F4-AADB-E98CBFBBC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BE" sz="2800"/>
              <a:t>Un élément est défini par</a:t>
            </a:r>
          </a:p>
          <a:p>
            <a:pPr lvl="1">
              <a:buSzPct val="45000"/>
            </a:pPr>
            <a:r>
              <a:rPr lang="fr-BE" sz="2400"/>
              <a:t>l'expression 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&lt;!ELEMENT</a:t>
            </a:r>
          </a:p>
          <a:p>
            <a:pPr lvl="1">
              <a:buSzPct val="45000"/>
            </a:pPr>
            <a:r>
              <a:rPr lang="fr-BE" sz="2400"/>
              <a:t>le nom de l'élément, par exemple 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salut</a:t>
            </a:r>
            <a:endParaRPr lang="fr-BE" sz="2400" b="1">
              <a:solidFill>
                <a:schemeClr val="accent6">
                  <a:lumMod val="50000"/>
                </a:schemeClr>
              </a:solidFill>
            </a:endParaRPr>
          </a:p>
          <a:p>
            <a:pPr lvl="1">
              <a:buSzPct val="45000"/>
            </a:pPr>
            <a:r>
              <a:rPr lang="fr-BE" sz="2400"/>
              <a:t>des mentions sur le contenu du type d'élément, qui peuvent être très compliquées.</a:t>
            </a:r>
          </a:p>
          <a:p>
            <a:pPr lvl="1">
              <a:buSzPct val="45000"/>
            </a:pPr>
            <a:r>
              <a:rPr lang="fr-BE" sz="2400"/>
              <a:t>l'expression </a:t>
            </a: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r>
              <a:rPr lang="fr-BE" sz="2800"/>
              <a:t>Un type de contenu très populaire :</a:t>
            </a:r>
          </a:p>
          <a:p>
            <a:pPr lvl="1">
              <a:buSzPct val="45000"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(#PCDATA)</a:t>
            </a:r>
            <a:r>
              <a:rPr lang="fr-BE" sz="2400"/>
              <a:t> : </a:t>
            </a:r>
            <a:r>
              <a:rPr lang="fr-BE" sz="2400" i="1" err="1"/>
              <a:t>parsed</a:t>
            </a:r>
            <a:r>
              <a:rPr lang="fr-BE" sz="2400" i="1"/>
              <a:t> </a:t>
            </a:r>
            <a:r>
              <a:rPr lang="fr-BE" sz="2400" i="1" err="1"/>
              <a:t>character</a:t>
            </a:r>
            <a:r>
              <a:rPr lang="fr-BE" sz="2400" i="1"/>
              <a:t> data</a:t>
            </a:r>
            <a:r>
              <a:rPr lang="fr-BE" sz="2400"/>
              <a:t>, càd ... du texte (chaîne de caractères alphanumériques), càd « autant de texte que vous voulez mais aucun élément intérieur »</a:t>
            </a:r>
          </a:p>
          <a:p>
            <a:pPr>
              <a:buSzPct val="45000"/>
            </a:pPr>
            <a:endParaRPr lang="fr-BE" sz="2800"/>
          </a:p>
          <a:p>
            <a:endParaRPr lang="fr-BE" sz="2800"/>
          </a:p>
        </p:txBody>
      </p:sp>
    </p:spTree>
    <p:extLst>
      <p:ext uri="{BB962C8B-B14F-4D97-AF65-F5344CB8AC3E}">
        <p14:creationId xmlns:p14="http://schemas.microsoft.com/office/powerpoint/2010/main" val="241869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072794-26CC-4D12-B39B-C2E5E20B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Outils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EED762-EC77-4394-9B5A-21ECC13A2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Notepad++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Extension "XML Tools" à installer </a:t>
            </a:r>
          </a:p>
          <a:p>
            <a:r>
              <a:rPr lang="fr-BE"/>
              <a:t>MS XML Notepad</a:t>
            </a:r>
          </a:p>
          <a:p>
            <a:pPr lvl="1"/>
            <a:r>
              <a:rPr lang="fr-BE" sz="2400"/>
              <a:t>http://www.lovettsoftware.com/downloads/xmlnotepad/readme.htm</a:t>
            </a:r>
          </a:p>
          <a:p>
            <a:r>
              <a:rPr lang="fr-BE"/>
              <a:t>OXYGEN </a:t>
            </a:r>
          </a:p>
          <a:p>
            <a:pPr lvl="1"/>
            <a:r>
              <a:rPr lang="fr-BE"/>
              <a:t>https://www.oxygenxml.com</a:t>
            </a:r>
          </a:p>
          <a:p>
            <a:r>
              <a:rPr lang="fr-BE"/>
              <a:t>ONLINE XML EDITOR</a:t>
            </a:r>
          </a:p>
          <a:p>
            <a:pPr lvl="1"/>
            <a:r>
              <a:rPr lang="fr-BE"/>
              <a:t>https://www.tutorialspoint.com/online_xml_editor.htm</a:t>
            </a:r>
          </a:p>
        </p:txBody>
      </p:sp>
    </p:spTree>
    <p:extLst>
      <p:ext uri="{BB962C8B-B14F-4D97-AF65-F5344CB8AC3E}">
        <p14:creationId xmlns:p14="http://schemas.microsoft.com/office/powerpoint/2010/main" val="186759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072794-26CC-4D12-B39B-C2E5E20B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Outils : </a:t>
            </a:r>
            <a:br>
              <a:rPr lang="fr-BE"/>
            </a:br>
            <a:r>
              <a:rPr lang="fr-BE"/>
              <a:t>Notepad++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5E2CC89-BDBE-4EDA-8AD4-975B0242F2B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0" y="2055813"/>
            <a:ext cx="6400800" cy="4386262"/>
          </a:xfr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0A0240E-3F18-4BCC-920B-9B2CE1D17B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6" t="5324" r="2949" b="2582"/>
          <a:stretch/>
        </p:blipFill>
        <p:spPr>
          <a:xfrm>
            <a:off x="4257701" y="0"/>
            <a:ext cx="7934300" cy="68580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5629CD3-774A-47A1-9B4E-9AB203686F7D}"/>
              </a:ext>
            </a:extLst>
          </p:cNvPr>
          <p:cNvSpPr txBox="1"/>
          <p:nvPr/>
        </p:nvSpPr>
        <p:spPr>
          <a:xfrm>
            <a:off x="2819252" y="3926062"/>
            <a:ext cx="3810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BE"/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AC02AA-87DD-43A2-9D85-EFD783913359}"/>
              </a:ext>
            </a:extLst>
          </p:cNvPr>
          <p:cNvSpPr txBox="1"/>
          <p:nvPr/>
        </p:nvSpPr>
        <p:spPr>
          <a:xfrm>
            <a:off x="8224851" y="3048732"/>
            <a:ext cx="3810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BE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8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14066" y="163444"/>
            <a:ext cx="6782083" cy="65258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&lt;?xml version="1.0" </a:t>
            </a:r>
            <a:r>
              <a:rPr lang="fr-BE" sz="2000" err="1">
                <a:latin typeface="Courier New" pitchFamily="49"/>
                <a:ea typeface="Courier New" pitchFamily="49"/>
                <a:cs typeface="Courier New" pitchFamily="49"/>
              </a:rPr>
              <a:t>encoding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="ISO-8859-1"?&gt;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biblio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&lt;</a:t>
            </a:r>
            <a:r>
              <a:rPr lang="fr-BE" sz="2000" b="1">
                <a:solidFill>
                  <a:schemeClr val="accent4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livre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</a:t>
            </a:r>
            <a:r>
              <a:rPr lang="fr-BE" sz="2000" i="1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&lt;!-- premier élément de type livre --&gt;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chemeClr val="accent1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titre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  <a:r>
              <a:rPr lang="fr-BE" sz="2000" b="1">
                <a:latin typeface="Courier New" pitchFamily="49"/>
                <a:ea typeface="Courier New" pitchFamily="49"/>
                <a:cs typeface="Courier New" pitchFamily="49"/>
              </a:rPr>
              <a:t>Les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</a:t>
            </a:r>
            <a:r>
              <a:rPr lang="fr-BE" sz="2000" b="1">
                <a:latin typeface="Courier New" pitchFamily="49"/>
                <a:ea typeface="Courier New" pitchFamily="49"/>
                <a:cs typeface="Courier New" pitchFamily="49"/>
              </a:rPr>
              <a:t>Misérables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&lt;/</a:t>
            </a:r>
            <a:r>
              <a:rPr lang="fr-BE" sz="2000" b="1">
                <a:solidFill>
                  <a:schemeClr val="accent1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titre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rgbClr val="0084D1"/>
                </a:solidFill>
                <a:latin typeface="Courier New" pitchFamily="49"/>
                <a:ea typeface="Courier New" pitchFamily="49"/>
                <a:cs typeface="Courier New" pitchFamily="49"/>
              </a:rPr>
              <a:t>auteur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  <a:r>
              <a:rPr lang="fr-BE" sz="2000" b="1">
                <a:latin typeface="Courier New" pitchFamily="49"/>
                <a:ea typeface="Courier New" pitchFamily="49"/>
                <a:cs typeface="Courier New" pitchFamily="49"/>
              </a:rPr>
              <a:t>Victor Hugo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&lt;/</a:t>
            </a:r>
            <a:r>
              <a:rPr lang="fr-BE" sz="2000" b="1">
                <a:solidFill>
                  <a:srgbClr val="0084D1"/>
                </a:solidFill>
                <a:latin typeface="Courier New" pitchFamily="49"/>
                <a:ea typeface="Courier New" pitchFamily="49"/>
                <a:cs typeface="Courier New" pitchFamily="49"/>
              </a:rPr>
              <a:t>auteur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nb_tomes </a:t>
            </a:r>
            <a:r>
              <a:rPr lang="fr-BE" sz="2000" i="1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value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="</a:t>
            </a:r>
            <a:r>
              <a:rPr lang="fr-BE" sz="2000" b="1">
                <a:solidFill>
                  <a:srgbClr val="7030A0"/>
                </a:solidFill>
                <a:latin typeface="Courier New" pitchFamily="49"/>
                <a:ea typeface="Courier New" pitchFamily="49"/>
                <a:cs typeface="Courier New" pitchFamily="49"/>
              </a:rPr>
              <a:t>3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" /&gt;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&lt;/</a:t>
            </a:r>
            <a:r>
              <a:rPr lang="fr-BE" sz="2000" b="1">
                <a:solidFill>
                  <a:schemeClr val="accent4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livre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&lt;</a:t>
            </a:r>
            <a:r>
              <a:rPr lang="fr-BE" sz="2000" b="1">
                <a:solidFill>
                  <a:schemeClr val="accent4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livre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chemeClr val="accent1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titre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  <a:r>
              <a:rPr lang="fr-BE" sz="2000" b="1">
                <a:latin typeface="Courier New" pitchFamily="49"/>
                <a:ea typeface="Courier New" pitchFamily="49"/>
                <a:cs typeface="Courier New" pitchFamily="49"/>
              </a:rPr>
              <a:t>L'Assomoir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&lt;/</a:t>
            </a:r>
            <a:r>
              <a:rPr lang="fr-BE" sz="2000" b="1">
                <a:solidFill>
                  <a:schemeClr val="accent1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titre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rgbClr val="0084D1"/>
                </a:solidFill>
                <a:latin typeface="Courier New" pitchFamily="49"/>
                <a:ea typeface="Courier New" pitchFamily="49"/>
                <a:cs typeface="Courier New" pitchFamily="49"/>
              </a:rPr>
              <a:t>auteur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  <a:r>
              <a:rPr lang="fr-BE" sz="2000" b="1">
                <a:latin typeface="Courier New" pitchFamily="49"/>
                <a:ea typeface="Courier New" pitchFamily="49"/>
                <a:cs typeface="Courier New" pitchFamily="49"/>
              </a:rPr>
              <a:t>Émile Zola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&lt;/</a:t>
            </a:r>
            <a:r>
              <a:rPr lang="fr-BE" sz="2000" b="1">
                <a:solidFill>
                  <a:srgbClr val="0084D1"/>
                </a:solidFill>
                <a:latin typeface="Courier New" pitchFamily="49"/>
                <a:ea typeface="Courier New" pitchFamily="49"/>
                <a:cs typeface="Courier New" pitchFamily="49"/>
              </a:rPr>
              <a:t>auteur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rgbClr val="006666"/>
                </a:solidFill>
                <a:latin typeface="Courier New" pitchFamily="49"/>
                <a:ea typeface="Courier New" pitchFamily="49"/>
                <a:cs typeface="Courier New" pitchFamily="49"/>
              </a:rPr>
              <a:t>couverture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</a:t>
            </a:r>
            <a:r>
              <a:rPr lang="fr-BE" sz="2000" i="1">
                <a:solidFill>
                  <a:srgbClr val="FF0000"/>
                </a:solidFill>
                <a:latin typeface="Courier New" pitchFamily="49"/>
                <a:ea typeface="Courier New" pitchFamily="49"/>
                <a:cs typeface="Courier New" pitchFamily="49"/>
              </a:rPr>
              <a:t>couleur</a:t>
            </a:r>
            <a:r>
              <a:rPr lang="fr-BE" sz="2000" i="1">
                <a:latin typeface="Courier New" pitchFamily="49"/>
                <a:ea typeface="Courier New" pitchFamily="49"/>
                <a:cs typeface="Courier New" pitchFamily="49"/>
              </a:rPr>
              <a:t>="</a:t>
            </a:r>
            <a:r>
              <a:rPr lang="fr-BE" sz="2000" b="1">
                <a:solidFill>
                  <a:srgbClr val="7030A0"/>
                </a:solidFill>
                <a:latin typeface="Courier New" pitchFamily="49"/>
                <a:cs typeface="Courier New" pitchFamily="49"/>
              </a:rPr>
              <a:t>rouge</a:t>
            </a:r>
            <a:r>
              <a:rPr lang="fr-BE" sz="2000" i="1">
                <a:latin typeface="Courier New" pitchFamily="49"/>
                <a:ea typeface="Courier New" pitchFamily="49"/>
                <a:cs typeface="Courier New" pitchFamily="49"/>
              </a:rPr>
              <a:t>"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/&gt;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&lt;/</a:t>
            </a:r>
            <a:r>
              <a:rPr lang="fr-BE" sz="2000" b="1">
                <a:solidFill>
                  <a:schemeClr val="accent4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livre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&lt;</a:t>
            </a:r>
            <a:r>
              <a:rPr lang="fr-BE" sz="2000" b="1">
                <a:solidFill>
                  <a:schemeClr val="accent4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livre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</a:t>
            </a:r>
            <a:r>
              <a:rPr lang="fr-BE" sz="2000" i="1" err="1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lang</a:t>
            </a:r>
            <a:r>
              <a:rPr lang="fr-BE" sz="2000" i="1">
                <a:latin typeface="Courier New" pitchFamily="49"/>
                <a:ea typeface="Courier New" pitchFamily="49"/>
                <a:cs typeface="Courier New" pitchFamily="49"/>
              </a:rPr>
              <a:t>="</a:t>
            </a:r>
            <a:r>
              <a:rPr lang="fr-BE" sz="2000" b="1">
                <a:solidFill>
                  <a:srgbClr val="7030A0"/>
                </a:solidFill>
                <a:latin typeface="Courier New" pitchFamily="49"/>
                <a:cs typeface="Courier New" pitchFamily="49"/>
              </a:rPr>
              <a:t>en</a:t>
            </a:r>
            <a:r>
              <a:rPr lang="fr-BE" sz="2000" i="1">
                <a:latin typeface="Courier New" pitchFamily="49"/>
                <a:ea typeface="Courier New" pitchFamily="49"/>
                <a:cs typeface="Courier New" pitchFamily="49"/>
              </a:rPr>
              <a:t>" </a:t>
            </a:r>
            <a:r>
              <a:rPr lang="fr-BE" sz="2000" i="1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type</a:t>
            </a:r>
            <a:r>
              <a:rPr lang="fr-BE" sz="2000" i="1">
                <a:latin typeface="Courier New" pitchFamily="49"/>
                <a:ea typeface="Courier New" pitchFamily="49"/>
                <a:cs typeface="Courier New" pitchFamily="49"/>
              </a:rPr>
              <a:t>="</a:t>
            </a:r>
            <a:r>
              <a:rPr lang="fr-BE" sz="2000" b="1">
                <a:solidFill>
                  <a:srgbClr val="7030A0"/>
                </a:solidFill>
                <a:latin typeface="Courier New" pitchFamily="49"/>
                <a:cs typeface="Courier New" pitchFamily="49"/>
              </a:rPr>
              <a:t>roman</a:t>
            </a:r>
            <a:r>
              <a:rPr lang="fr-BE" sz="2000" i="1">
                <a:latin typeface="Courier New" pitchFamily="49"/>
                <a:ea typeface="Courier New" pitchFamily="49"/>
                <a:cs typeface="Courier New" pitchFamily="49"/>
              </a:rPr>
              <a:t>"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chemeClr val="accent1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titre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  <a:r>
              <a:rPr lang="fr-BE" sz="2000" b="1">
                <a:latin typeface="Courier New" pitchFamily="49"/>
                <a:ea typeface="Courier New" pitchFamily="49"/>
                <a:cs typeface="Courier New" pitchFamily="49"/>
              </a:rPr>
              <a:t>David Copperfield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&lt;/</a:t>
            </a:r>
            <a:r>
              <a:rPr lang="fr-BE" sz="2000" b="1">
                <a:solidFill>
                  <a:schemeClr val="accent1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titre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rgbClr val="0084D1"/>
                </a:solidFill>
                <a:latin typeface="Courier New" pitchFamily="49"/>
                <a:ea typeface="Courier New" pitchFamily="49"/>
                <a:cs typeface="Courier New" pitchFamily="49"/>
              </a:rPr>
              <a:t>auteur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  <a:r>
              <a:rPr lang="fr-BE" sz="2000" b="1">
                <a:latin typeface="Courier New" pitchFamily="49"/>
                <a:ea typeface="Courier New" pitchFamily="49"/>
                <a:cs typeface="Courier New" pitchFamily="49"/>
              </a:rPr>
              <a:t>Charles Dickens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&lt;/</a:t>
            </a:r>
            <a:r>
              <a:rPr lang="fr-BE" sz="2000" b="1">
                <a:solidFill>
                  <a:srgbClr val="0084D1"/>
                </a:solidFill>
                <a:latin typeface="Courier New" pitchFamily="49"/>
                <a:ea typeface="Courier New" pitchFamily="49"/>
                <a:cs typeface="Courier New" pitchFamily="49"/>
              </a:rPr>
              <a:t>auteur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  &lt;</a:t>
            </a:r>
            <a:r>
              <a:rPr lang="fr-BE" sz="2000" b="1">
                <a:solidFill>
                  <a:schemeClr val="accent6">
                    <a:lumMod val="50000"/>
                  </a:schemeClr>
                </a:solidFill>
                <a:latin typeface="Courier New" pitchFamily="49"/>
                <a:cs typeface="Courier New" pitchFamily="49"/>
              </a:rPr>
              <a:t>nb_tomes </a:t>
            </a:r>
            <a:r>
              <a:rPr lang="fr-BE" sz="2000" i="1">
                <a:solidFill>
                  <a:srgbClr val="FF0000"/>
                </a:solidFill>
                <a:latin typeface="Courier New" pitchFamily="49"/>
                <a:cs typeface="Courier New" pitchFamily="49"/>
              </a:rPr>
              <a:t>value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="</a:t>
            </a:r>
            <a:r>
              <a:rPr lang="fr-BE" sz="2000" b="1">
                <a:solidFill>
                  <a:srgbClr val="7030A0"/>
                </a:solidFill>
                <a:latin typeface="Courier New" pitchFamily="49"/>
                <a:ea typeface="Courier New" pitchFamily="49"/>
                <a:cs typeface="Courier New" pitchFamily="49"/>
              </a:rPr>
              <a:t>2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" /&gt;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  &lt;/</a:t>
            </a:r>
            <a:r>
              <a:rPr lang="fr-BE" sz="2000" b="1">
                <a:solidFill>
                  <a:schemeClr val="accent4">
                    <a:lumMod val="50000"/>
                  </a:schemeClr>
                </a:solidFill>
                <a:latin typeface="Courier New" pitchFamily="49"/>
                <a:ea typeface="Courier New" pitchFamily="49"/>
                <a:cs typeface="Courier New" pitchFamily="49"/>
              </a:rPr>
              <a:t>livre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&lt;/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Courier New" pitchFamily="49"/>
                <a:cs typeface="Courier New" pitchFamily="49"/>
              </a:rPr>
              <a:t>biblio</a:t>
            </a:r>
            <a:r>
              <a:rPr lang="fr-BE" sz="2000">
                <a:latin typeface="Courier New" pitchFamily="49"/>
                <a:ea typeface="Courier New" pitchFamily="49"/>
                <a:cs typeface="Courier New" pitchFamily="49"/>
              </a:rPr>
              <a:t>&gt;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/>
          </p:nvPr>
        </p:nvSpPr>
        <p:spPr>
          <a:xfrm>
            <a:off x="838200" y="674027"/>
            <a:ext cx="4411133" cy="707758"/>
          </a:xfrm>
        </p:spPr>
        <p:txBody>
          <a:bodyPr wrap="square">
            <a:spAutoFit/>
          </a:bodyPr>
          <a:lstStyle/>
          <a:p>
            <a:pPr lvl="0"/>
            <a:r>
              <a:rPr lang="fr-BE"/>
              <a:t>XML, exo 02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44EDFD5-D89E-4B8B-A73E-09AD4EF416E0}"/>
              </a:ext>
            </a:extLst>
          </p:cNvPr>
          <p:cNvSpPr txBox="1"/>
          <p:nvPr/>
        </p:nvSpPr>
        <p:spPr>
          <a:xfrm>
            <a:off x="2133600" y="6183973"/>
            <a:ext cx="3115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library+dtd.xml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1522" y="1483385"/>
            <a:ext cx="9248956" cy="48021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vert="horz" wrap="none" lIns="81646" tIns="40823" rIns="81646" bIns="40823" anchorCtr="0" compatLnSpc="0"/>
          <a:lstStyle/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&lt;!ELEMENT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biblio </a:t>
            </a:r>
            <a:r>
              <a:rPr lang="fr-BE" sz="2000" b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(livre*)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endParaRPr lang="fr-BE" sz="2000" b="1">
              <a:solidFill>
                <a:srgbClr val="0000FF"/>
              </a:solidFill>
              <a:latin typeface="Courier New" pitchFamily="49"/>
              <a:ea typeface="Microsoft YaHei" pitchFamily="2"/>
              <a:cs typeface="Mangal" pitchFamily="2"/>
            </a:endParaRP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&lt;!ELEMENT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livre </a:t>
            </a:r>
            <a:r>
              <a:rPr lang="fr-BE" sz="2000" b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(titre, auteur, </a:t>
            </a:r>
            <a:r>
              <a:rPr lang="fr-BE" sz="2000" b="1" err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nb</a:t>
            </a:r>
            <a:r>
              <a:rPr lang="fr-BE" sz="2000" b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_tomes?, couverture?)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&lt;!ATTLIST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livre</a:t>
            </a:r>
          </a:p>
          <a:p>
            <a:pPr hangingPunct="0"/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   type </a:t>
            </a:r>
            <a:r>
              <a:rPr lang="fr-BE" sz="2000" b="1">
                <a:solidFill>
                  <a:srgbClr val="00CC00"/>
                </a:solidFill>
                <a:latin typeface="Courier New" pitchFamily="49"/>
                <a:ea typeface="Microsoft YaHei" pitchFamily="2"/>
                <a:cs typeface="Mangal" pitchFamily="2"/>
              </a:rPr>
              <a:t>(roman | nouvelles | </a:t>
            </a:r>
            <a:r>
              <a:rPr lang="fr-BE" sz="2000" b="1" err="1">
                <a:solidFill>
                  <a:srgbClr val="00CC00"/>
                </a:solidFill>
                <a:latin typeface="Courier New" pitchFamily="49"/>
                <a:ea typeface="Microsoft YaHei" pitchFamily="2"/>
                <a:cs typeface="Mangal" pitchFamily="2"/>
              </a:rPr>
              <a:t>poemes</a:t>
            </a:r>
            <a:r>
              <a:rPr lang="fr-BE" sz="2000" b="1">
                <a:solidFill>
                  <a:srgbClr val="00CC00"/>
                </a:solidFill>
                <a:latin typeface="Courier New" pitchFamily="49"/>
                <a:ea typeface="Microsoft YaHei" pitchFamily="2"/>
                <a:cs typeface="Mangal" pitchFamily="2"/>
              </a:rPr>
              <a:t> | théâtre) #IMPLIED</a:t>
            </a:r>
          </a:p>
          <a:p>
            <a:pPr hangingPunct="0"/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   </a:t>
            </a:r>
            <a:r>
              <a:rPr lang="fr-BE" sz="2000" b="1" err="1">
                <a:latin typeface="Courier New" pitchFamily="49"/>
                <a:ea typeface="Microsoft YaHei" pitchFamily="2"/>
                <a:cs typeface="Mangal" pitchFamily="2"/>
              </a:rPr>
              <a:t>lang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00CC00"/>
                </a:solidFill>
                <a:latin typeface="Courier New" pitchFamily="49"/>
                <a:ea typeface="Microsoft YaHei" pitchFamily="2"/>
                <a:cs typeface="Mangal" pitchFamily="2"/>
              </a:rPr>
              <a:t>CDATA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"</a:t>
            </a:r>
            <a:r>
              <a:rPr lang="fr-BE" sz="2000" b="1" err="1">
                <a:latin typeface="Courier New" pitchFamily="49"/>
                <a:ea typeface="Microsoft YaHei" pitchFamily="2"/>
                <a:cs typeface="Mangal" pitchFamily="2"/>
              </a:rPr>
              <a:t>fr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"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&gt;</a:t>
            </a:r>
          </a:p>
          <a:p>
            <a:pPr hangingPunct="0"/>
            <a:endParaRPr lang="fr-BE" sz="2000" b="1">
              <a:solidFill>
                <a:srgbClr val="0000FF"/>
              </a:solidFill>
              <a:latin typeface="Courier New" pitchFamily="49"/>
              <a:ea typeface="Microsoft YaHei" pitchFamily="2"/>
              <a:cs typeface="Mangal" pitchFamily="2"/>
            </a:endParaRP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&lt;!ELEMENT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titre </a:t>
            </a:r>
            <a:r>
              <a:rPr lang="fr-BE" sz="2000" b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(#PCDATA)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endParaRPr lang="fr-BE" sz="2000" b="1">
              <a:solidFill>
                <a:srgbClr val="0000FF"/>
              </a:solidFill>
              <a:latin typeface="Courier New" pitchFamily="49"/>
              <a:ea typeface="Microsoft YaHei" pitchFamily="2"/>
              <a:cs typeface="Mangal" pitchFamily="2"/>
            </a:endParaRP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&lt;!ELEMENT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couverture </a:t>
            </a:r>
            <a:r>
              <a:rPr lang="fr-BE" sz="2000" b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EMPTY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&lt;!ATTLIST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couverture</a:t>
            </a:r>
          </a:p>
          <a:p>
            <a:pPr hangingPunct="0"/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    couleur </a:t>
            </a:r>
            <a:r>
              <a:rPr lang="fr-BE" sz="2000" b="1">
                <a:solidFill>
                  <a:srgbClr val="00CC00"/>
                </a:solidFill>
                <a:latin typeface="Courier New" pitchFamily="49"/>
                <a:ea typeface="Microsoft YaHei" pitchFamily="2"/>
                <a:cs typeface="Mangal" pitchFamily="2"/>
              </a:rPr>
              <a:t>(rouge | vert | jaune | bleu ) #IMPLIED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&gt;</a:t>
            </a:r>
          </a:p>
          <a:p>
            <a:pPr hangingPunct="0"/>
            <a:endParaRPr lang="fr-BE" sz="2000" b="1">
              <a:solidFill>
                <a:srgbClr val="0000FF"/>
              </a:solidFill>
              <a:latin typeface="Courier New" pitchFamily="49"/>
              <a:ea typeface="Microsoft YaHei" pitchFamily="2"/>
              <a:cs typeface="Mangal" pitchFamily="2"/>
            </a:endParaRP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…</a:t>
            </a:r>
          </a:p>
        </p:txBody>
      </p:sp>
      <p:sp>
        <p:nvSpPr>
          <p:cNvPr id="3" name="Title 2"/>
          <p:cNvSpPr txBox="1">
            <a:spLocks noGrp="1"/>
          </p:cNvSpPr>
          <p:nvPr>
            <p:ph type="title"/>
          </p:nvPr>
        </p:nvSpPr>
        <p:spPr>
          <a:xfrm>
            <a:off x="838200" y="674027"/>
            <a:ext cx="10515600" cy="707758"/>
          </a:xfrm>
        </p:spPr>
        <p:txBody>
          <a:bodyPr>
            <a:spAutoFit/>
          </a:bodyPr>
          <a:lstStyle/>
          <a:p>
            <a:pPr lvl="0"/>
            <a:r>
              <a:rPr lang="fr-BE"/>
              <a:t>DTD, exo 02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A0F712-2476-45D3-877B-CB4F47343DA9}"/>
              </a:ext>
            </a:extLst>
          </p:cNvPr>
          <p:cNvSpPr txBox="1"/>
          <p:nvPr/>
        </p:nvSpPr>
        <p:spPr>
          <a:xfrm>
            <a:off x="7604745" y="920120"/>
            <a:ext cx="3115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library.dtd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lvl="0"/>
            <a:r>
              <a:rPr lang="fr-BE"/>
              <a:t>Schémas (XSD)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198" y="1381785"/>
            <a:ext cx="10624160" cy="41261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&lt;?xml version="1.0" 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encoding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="ISO-8859-1"?&gt;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&lt;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xsd:schema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xmlns:xsd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="</a:t>
            </a:r>
            <a:r>
              <a:rPr lang="fr-BE" sz="1633" b="1">
                <a:latin typeface="Courier New" pitchFamily="49"/>
                <a:ea typeface="Microsoft YaHei" pitchFamily="2"/>
                <a:cs typeface="Mangal" pitchFamily="2"/>
              </a:rPr>
              <a:t>http://www.w3.org/2001//XMLSchema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"&gt;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	&lt;</a:t>
            </a:r>
            <a:r>
              <a:rPr lang="fr-BE" sz="1996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xsd:element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name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="contacts" type="</a:t>
            </a:r>
            <a:r>
              <a:rPr lang="fr-BE" sz="1996" b="1" err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typeContacts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" /&gt;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	&lt;</a:t>
            </a:r>
            <a:r>
              <a:rPr lang="fr-BE" sz="1996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xsd:element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name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="remarque" type="</a:t>
            </a:r>
            <a:r>
              <a:rPr lang="fr-BE" sz="1996" b="1" err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xsd:string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"&gt;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		&lt;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xsd:complexType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    		 	&lt;</a:t>
            </a:r>
            <a:r>
              <a:rPr lang="fr-BE" sz="1996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xsd:attribute</a:t>
            </a:r>
            <a:endParaRPr lang="fr-BE" sz="1996" b="1">
              <a:solidFill>
                <a:srgbClr val="0000FF"/>
              </a:solidFill>
              <a:latin typeface="Courier New" pitchFamily="49"/>
              <a:ea typeface="Microsoft YaHei" pitchFamily="2"/>
              <a:cs typeface="Mangal" pitchFamily="2"/>
            </a:endParaRP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				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name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="maj" 	type="</a:t>
            </a:r>
            <a:r>
              <a:rPr lang="fr-BE" sz="1996" b="1" err="1">
                <a:solidFill>
                  <a:srgbClr val="FF3333"/>
                </a:solidFill>
                <a:latin typeface="Courier New" pitchFamily="49"/>
                <a:ea typeface="Microsoft YaHei" pitchFamily="2"/>
                <a:cs typeface="Mangal" pitchFamily="2"/>
              </a:rPr>
              <a:t>xsd:date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"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				use="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optional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" 	default="2014-03-01"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			/&gt;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  		&lt;/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xsd:complexType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	&lt;/</a:t>
            </a:r>
            <a:r>
              <a:rPr lang="fr-BE" sz="1996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xsd:element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>
              <a:spcBef>
                <a:spcPts val="200"/>
              </a:spcBef>
              <a:spcAft>
                <a:spcPts val="200"/>
              </a:spcAft>
            </a:pP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&lt;/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xsd:schema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1765" y="5813222"/>
            <a:ext cx="7078318" cy="66234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&lt;contacts&gt; ... &lt;/contacts&gt;</a:t>
            </a:r>
          </a:p>
          <a:p>
            <a:pPr hangingPunct="0"/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&lt;remarque maj="2014-03-08"&gt;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bla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1996" b="1" err="1">
                <a:latin typeface="Courier New" pitchFamily="49"/>
                <a:ea typeface="Microsoft YaHei" pitchFamily="2"/>
                <a:cs typeface="Mangal" pitchFamily="2"/>
              </a:rPr>
              <a:t>bla</a:t>
            </a:r>
            <a:r>
              <a:rPr lang="fr-BE" sz="1996" b="1">
                <a:latin typeface="Courier New" pitchFamily="49"/>
                <a:ea typeface="Microsoft YaHei" pitchFamily="2"/>
                <a:cs typeface="Mangal" pitchFamily="2"/>
              </a:rPr>
              <a:t>&lt;/remarque&gt;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901195"/>
            <a:ext cx="2234428" cy="486400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algn="ctr" hangingPunct="0"/>
            <a:r>
              <a:rPr lang="fr-BE" sz="2800"/>
              <a:t>Pour ce XML :</a:t>
            </a:r>
          </a:p>
        </p:txBody>
      </p:sp>
    </p:spTree>
    <p:extLst>
      <p:ext uri="{BB962C8B-B14F-4D97-AF65-F5344CB8AC3E}">
        <p14:creationId xmlns:p14="http://schemas.microsoft.com/office/powerpoint/2010/main" val="203892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Schémas (XSD) vs. DTD 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EDEE679-4F33-4ECD-B869-4614DD478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r>
              <a:rPr lang="fr-BE">
                <a:solidFill>
                  <a:schemeClr val="accent2"/>
                </a:solidFill>
              </a:rPr>
              <a:t>Syntaxe XML</a:t>
            </a:r>
            <a:endParaRPr lang="fr-BE"/>
          </a:p>
          <a:p>
            <a:r>
              <a:rPr lang="fr-BE">
                <a:solidFill>
                  <a:schemeClr val="accent2"/>
                </a:solidFill>
              </a:rPr>
              <a:t>Typage</a:t>
            </a:r>
            <a:r>
              <a:rPr lang="fr-BE"/>
              <a:t> des données</a:t>
            </a:r>
          </a:p>
          <a:p>
            <a:pPr lvl="1"/>
            <a:r>
              <a:rPr lang="fr-BE"/>
              <a:t>booléens, entiers, intervalles de temps, etc., 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dérivation</a:t>
            </a:r>
            <a:r>
              <a:rPr lang="fr-BE"/>
              <a:t> : types nouveaux à partir de types existants</a:t>
            </a:r>
          </a:p>
          <a:p>
            <a:pPr lvl="0"/>
            <a:r>
              <a:rPr lang="fr-BE"/>
              <a:t>Propriétés plus précises</a:t>
            </a:r>
          </a:p>
          <a:p>
            <a:pPr lvl="1"/>
            <a:r>
              <a:rPr lang="fr-BE"/>
              <a:t>Par exemple : min, max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Élément</a:t>
            </a:r>
            <a:r>
              <a:rPr lang="fr-BE"/>
              <a:t> : toujours "typé"</a:t>
            </a:r>
          </a:p>
          <a:p>
            <a:pPr lvl="1"/>
            <a:r>
              <a:rPr lang="fr-BE"/>
              <a:t>Soit de type simple : </a:t>
            </a:r>
            <a:r>
              <a:rPr lang="fr-BE" err="1"/>
              <a:t>xsd:string</a:t>
            </a:r>
            <a:r>
              <a:rPr lang="fr-BE"/>
              <a:t> , </a:t>
            </a:r>
            <a:r>
              <a:rPr lang="fr-BE" err="1"/>
              <a:t>xsd:date</a:t>
            </a:r>
            <a:r>
              <a:rPr lang="fr-BE"/>
              <a:t>, </a:t>
            </a:r>
            <a:r>
              <a:rPr lang="fr-BE" err="1"/>
              <a:t>xsd:boolean</a:t>
            </a:r>
            <a:r>
              <a:rPr lang="fr-BE"/>
              <a:t>, etc.</a:t>
            </a:r>
          </a:p>
          <a:p>
            <a:pPr lvl="1"/>
            <a:r>
              <a:rPr lang="fr-BE"/>
              <a:t>Soit de type </a:t>
            </a:r>
            <a:r>
              <a:rPr lang="fr-BE">
                <a:solidFill>
                  <a:schemeClr val="accent2"/>
                </a:solidFill>
              </a:rPr>
              <a:t>complexe</a:t>
            </a:r>
            <a:r>
              <a:rPr lang="fr-BE"/>
              <a:t> (défini par l'utilisateur) : par ex. </a:t>
            </a:r>
            <a:r>
              <a:rPr lang="fr-BE" err="1"/>
              <a:t>typeContacts</a:t>
            </a:r>
            <a:endParaRPr lang="fr-BE"/>
          </a:p>
          <a:p>
            <a:pPr lvl="0"/>
            <a:r>
              <a:rPr lang="fr-BE">
                <a:solidFill>
                  <a:schemeClr val="accent2"/>
                </a:solidFill>
              </a:rPr>
              <a:t>Attribut</a:t>
            </a:r>
            <a:r>
              <a:rPr lang="fr-BE"/>
              <a:t> </a:t>
            </a:r>
          </a:p>
          <a:p>
            <a:pPr lvl="1"/>
            <a:r>
              <a:rPr lang="fr-BE"/>
              <a:t>toujours de type simple.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Dérivation</a:t>
            </a:r>
            <a:r>
              <a:rPr lang="fr-BE"/>
              <a:t> </a:t>
            </a:r>
          </a:p>
          <a:p>
            <a:pPr lvl="1"/>
            <a:r>
              <a:rPr lang="fr-BE"/>
              <a:t>Restriction appliquée à un type simple ou complexe</a:t>
            </a:r>
          </a:p>
          <a:p>
            <a:pPr lvl="1"/>
            <a:r>
              <a:rPr lang="fr-BE"/>
              <a:t>Par exemple : type «</a:t>
            </a:r>
            <a:r>
              <a:rPr lang="fr-BE" err="1"/>
              <a:t>MonEntier</a:t>
            </a:r>
            <a:r>
              <a:rPr lang="fr-BE"/>
              <a:t> »  = type « Integer » , limité aux valeurs comprises entre 0 et 99.</a:t>
            </a:r>
          </a:p>
          <a:p>
            <a:r>
              <a:rPr lang="fr-BE">
                <a:solidFill>
                  <a:schemeClr val="accent2"/>
                </a:solidFill>
              </a:rPr>
              <a:t>Héritage</a:t>
            </a:r>
            <a:r>
              <a:rPr lang="fr-BE"/>
              <a:t> : les éléments peuvent hériter du contenu et des attributs d'un autre élément.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Espaces de nom </a:t>
            </a:r>
            <a:r>
              <a:rPr lang="fr-BE"/>
              <a:t>: pour utiliser plusieurs schémas indépendants dans un document XML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Modularité</a:t>
            </a:r>
          </a:p>
          <a:p>
            <a:pPr lvl="1"/>
            <a:r>
              <a:rPr lang="fr-BE"/>
              <a:t>Plusieurs schémas possibles pour un même doc XML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38200" y="174608"/>
            <a:ext cx="10632275" cy="65087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5978525" y="2662238"/>
            <a:ext cx="6213475" cy="1325562"/>
          </a:xfrm>
        </p:spPr>
        <p:txBody>
          <a:bodyPr wrap="square">
            <a:spAutoFit/>
          </a:bodyPr>
          <a:lstStyle/>
          <a:p>
            <a:pPr lvl="0"/>
            <a:r>
              <a:rPr lang="fr-BE"/>
              <a:t>Schémas (XSD) : </a:t>
            </a:r>
            <a:br>
              <a:rPr lang="fr-BE"/>
            </a:br>
            <a:r>
              <a:rPr lang="fr-BE"/>
              <a:t>types simples prédéfinis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838200" y="674027"/>
            <a:ext cx="10515600" cy="707758"/>
          </a:xfrm>
        </p:spPr>
        <p:txBody>
          <a:bodyPr>
            <a:spAutoFit/>
          </a:bodyPr>
          <a:lstStyle/>
          <a:p>
            <a:pPr lvl="0"/>
            <a:r>
              <a:rPr lang="fr-BE" err="1"/>
              <a:t>eXtensible</a:t>
            </a:r>
            <a:r>
              <a:rPr lang="fr-BE"/>
              <a:t> </a:t>
            </a:r>
            <a:r>
              <a:rPr lang="fr-BE" err="1"/>
              <a:t>Stylesheet</a:t>
            </a:r>
            <a:r>
              <a:rPr lang="fr-BE"/>
              <a:t> </a:t>
            </a:r>
            <a:r>
              <a:rPr lang="fr-BE" err="1"/>
              <a:t>Language</a:t>
            </a:r>
            <a:r>
              <a:rPr lang="fr-BE"/>
              <a:t> (XSL)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04" y="1583916"/>
            <a:ext cx="12475949" cy="473089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&lt;?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xml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version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"1.0"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 err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encoding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"ISO-8859-1"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?&gt;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xsl:stylesheet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version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"1.0"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 err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xmlns:xsl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 u="sng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http://www.w3.org/1999/XSL/Transform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xsl:template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match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"/"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&lt;html&gt;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head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title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Contenu de ma bibliothèque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&lt;/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title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meta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http-</a:t>
            </a:r>
            <a:r>
              <a:rPr lang="fr-BE" sz="2000" b="1" err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equiv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"Content-Type"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content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 err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text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/html; </a:t>
            </a:r>
            <a:r>
              <a:rPr lang="fr-BE" sz="2000" b="1" err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charset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=ISO-8859-1"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/&gt;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link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rel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 err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stylesheet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type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 err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text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/</a:t>
            </a:r>
            <a:r>
              <a:rPr lang="fr-BE" sz="2000" b="1" err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css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href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"library.css"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/&gt;</a:t>
            </a:r>
          </a:p>
          <a:p>
            <a:pPr hangingPunct="0"/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  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&lt;/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head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  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&lt;body&gt;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&lt;h1&gt;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Contenu de ma bibliothèque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&lt;/h1&gt;</a:t>
            </a:r>
          </a:p>
          <a:p>
            <a:pPr hangingPunct="0"/>
            <a:r>
              <a:rPr lang="fr-BE" sz="2000" b="1">
                <a:solidFill>
                  <a:srgbClr val="666666"/>
                </a:solidFill>
                <a:latin typeface="Courier New" pitchFamily="49"/>
                <a:ea typeface="Microsoft YaHei" pitchFamily="2"/>
                <a:cs typeface="Mangal" pitchFamily="2"/>
              </a:rPr>
              <a:t>      </a:t>
            </a:r>
            <a:r>
              <a:rPr lang="fr-BE" sz="2000" b="1">
                <a:solidFill>
                  <a:srgbClr val="666666"/>
                </a:solidFill>
                <a:highlight>
                  <a:srgbClr val="C0C0C0"/>
                </a:highlight>
                <a:latin typeface="Courier New" pitchFamily="49"/>
                <a:ea typeface="Microsoft YaHei" pitchFamily="2"/>
                <a:cs typeface="Mangal" pitchFamily="2"/>
              </a:rPr>
              <a:t>&lt;!-- </a:t>
            </a:r>
            <a:r>
              <a:rPr lang="fr-BE" sz="2000" b="1" i="1">
                <a:solidFill>
                  <a:srgbClr val="666666"/>
                </a:solidFill>
                <a:highlight>
                  <a:srgbClr val="C0C0C0"/>
                </a:highlight>
                <a:latin typeface="Courier New" pitchFamily="49"/>
                <a:ea typeface="Microsoft YaHei" pitchFamily="2"/>
                <a:cs typeface="Mangal" pitchFamily="2"/>
              </a:rPr>
              <a:t>voir slide suivant </a:t>
            </a:r>
            <a:r>
              <a:rPr lang="fr-BE" sz="2000" b="1">
                <a:solidFill>
                  <a:srgbClr val="666666"/>
                </a:solidFill>
                <a:highlight>
                  <a:srgbClr val="C0C0C0"/>
                </a:highlight>
                <a:latin typeface="Courier New" pitchFamily="49"/>
                <a:ea typeface="Microsoft YaHei" pitchFamily="2"/>
                <a:cs typeface="Mangal" pitchFamily="2"/>
              </a:rPr>
              <a:t>--&gt;</a:t>
            </a:r>
          </a:p>
          <a:p>
            <a:pPr hangingPunct="0"/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  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&lt;/body&gt;</a:t>
            </a:r>
          </a:p>
          <a:p>
            <a:pPr hangingPunct="0"/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&lt;/html&gt;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&lt;/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xsl:template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&lt;/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xsl:stylesheet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DC45E87-F49D-4008-A519-13DFB889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/>
              <a:t>eXtensible</a:t>
            </a:r>
            <a:r>
              <a:rPr lang="fr-BE"/>
              <a:t> </a:t>
            </a:r>
            <a:r>
              <a:rPr lang="fr-BE" err="1"/>
              <a:t>Stylesheet</a:t>
            </a:r>
            <a:r>
              <a:rPr lang="fr-BE"/>
              <a:t> </a:t>
            </a:r>
            <a:r>
              <a:rPr lang="fr-BE" err="1"/>
              <a:t>Language</a:t>
            </a:r>
            <a:r>
              <a:rPr lang="fr-BE"/>
              <a:t> (XSL)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07339CF-820B-4AD4-A1F9-711801AE3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</p:spPr>
        <p:txBody>
          <a:bodyPr numCol="2">
            <a:normAutofit fontScale="70000" lnSpcReduction="20000"/>
          </a:bodyPr>
          <a:lstStyle/>
          <a:p>
            <a:r>
              <a:rPr lang="fr-BE"/>
              <a:t>Manipulation de </a:t>
            </a:r>
            <a:r>
              <a:rPr lang="fr-BE" err="1">
                <a:solidFill>
                  <a:schemeClr val="accent2"/>
                </a:solidFill>
              </a:rPr>
              <a:t>templates</a:t>
            </a:r>
            <a:endParaRPr lang="fr-BE">
              <a:solidFill>
                <a:schemeClr val="accent2"/>
              </a:solidFill>
            </a:endParaRPr>
          </a:p>
          <a:p>
            <a:pPr lvl="1"/>
            <a:r>
              <a:rPr lang="fr-BE"/>
              <a:t>format de sortie</a:t>
            </a:r>
          </a:p>
          <a:p>
            <a:pPr lvl="1"/>
            <a:r>
              <a:rPr lang="fr-BE"/>
              <a:t>précisant où les éléments XML sont placés</a:t>
            </a:r>
          </a:p>
          <a:p>
            <a:r>
              <a:rPr lang="fr-BE"/>
              <a:t>Sous format XML</a:t>
            </a:r>
          </a:p>
          <a:p>
            <a:pPr lvl="0"/>
            <a:r>
              <a:rPr lang="fr-BE"/>
              <a:t>XSL = trois langages :</a:t>
            </a:r>
          </a:p>
          <a:p>
            <a:pPr lvl="1"/>
            <a:r>
              <a:rPr lang="fr-BE" err="1">
                <a:solidFill>
                  <a:schemeClr val="accent2"/>
                </a:solidFill>
              </a:rPr>
              <a:t>Xpath</a:t>
            </a:r>
            <a:endParaRPr lang="fr-BE">
              <a:solidFill>
                <a:schemeClr val="accent2"/>
              </a:solidFill>
            </a:endParaRPr>
          </a:p>
          <a:p>
            <a:pPr lvl="2"/>
            <a:r>
              <a:rPr lang="fr-BE"/>
              <a:t>Pour accéder à un nœud quelconque de l'arborescence d'un document XML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XSLT</a:t>
            </a:r>
            <a:r>
              <a:rPr lang="fr-BE"/>
              <a:t> - </a:t>
            </a:r>
            <a:r>
              <a:rPr lang="fr-BE" err="1"/>
              <a:t>eXtensible</a:t>
            </a:r>
            <a:r>
              <a:rPr lang="fr-BE"/>
              <a:t> </a:t>
            </a:r>
            <a:r>
              <a:rPr lang="fr-BE" err="1"/>
              <a:t>Stylesheet</a:t>
            </a:r>
            <a:r>
              <a:rPr lang="fr-BE"/>
              <a:t> Langage Transformation</a:t>
            </a:r>
          </a:p>
          <a:p>
            <a:pPr lvl="2"/>
            <a:r>
              <a:rPr lang="fr-BE"/>
              <a:t>pour transformer un doc XML source en un doc XML cible</a:t>
            </a:r>
          </a:p>
          <a:p>
            <a:pPr lvl="2"/>
            <a:r>
              <a:rPr lang="fr-BE"/>
              <a:t>en bouleversant sa structure éventuellement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XSL-FO</a:t>
            </a:r>
            <a:r>
              <a:rPr lang="fr-BE"/>
              <a:t> - </a:t>
            </a:r>
            <a:r>
              <a:rPr lang="fr-BE" err="1"/>
              <a:t>eXtensible</a:t>
            </a:r>
            <a:r>
              <a:rPr lang="fr-BE"/>
              <a:t> </a:t>
            </a:r>
            <a:r>
              <a:rPr lang="fr-BE" err="1"/>
              <a:t>Stylesheet</a:t>
            </a:r>
            <a:r>
              <a:rPr lang="fr-BE"/>
              <a:t> Langage - </a:t>
            </a:r>
            <a:r>
              <a:rPr lang="fr-BE" err="1"/>
              <a:t>Formating</a:t>
            </a:r>
            <a:r>
              <a:rPr lang="fr-BE"/>
              <a:t> </a:t>
            </a:r>
            <a:r>
              <a:rPr lang="fr-BE" err="1"/>
              <a:t>Objects</a:t>
            </a:r>
            <a:endParaRPr lang="fr-BE"/>
          </a:p>
          <a:p>
            <a:pPr lvl="2"/>
            <a:r>
              <a:rPr lang="fr-BE"/>
              <a:t>tout langage permettant la mise en page finale</a:t>
            </a:r>
          </a:p>
          <a:p>
            <a:pPr lvl="2"/>
            <a:r>
              <a:rPr lang="fr-BE"/>
              <a:t>application principale : PDF.</a:t>
            </a:r>
          </a:p>
          <a:p>
            <a:pPr lvl="0"/>
            <a:r>
              <a:rPr lang="fr-BE"/>
              <a:t>Structure de base :</a:t>
            </a:r>
          </a:p>
          <a:p>
            <a:pPr lvl="1"/>
            <a:r>
              <a:rPr lang="fr-BE"/>
              <a:t>un </a:t>
            </a:r>
            <a:r>
              <a:rPr lang="fr-BE">
                <a:solidFill>
                  <a:schemeClr val="accent2"/>
                </a:solidFill>
              </a:rPr>
              <a:t>prologue</a:t>
            </a:r>
            <a:r>
              <a:rPr lang="fr-BE"/>
              <a:t> « xml »</a:t>
            </a:r>
          </a:p>
          <a:p>
            <a:pPr lvl="1"/>
            <a:r>
              <a:rPr lang="fr-BE"/>
              <a:t>un élément </a:t>
            </a:r>
            <a:r>
              <a:rPr lang="fr-BE" err="1">
                <a:solidFill>
                  <a:schemeClr val="accent2"/>
                </a:solidFill>
              </a:rPr>
              <a:t>xsl:stylesheet</a:t>
            </a:r>
            <a:endParaRPr lang="fr-BE">
              <a:solidFill>
                <a:schemeClr val="accent2"/>
              </a:solidFill>
            </a:endParaRPr>
          </a:p>
          <a:p>
            <a:pPr lvl="2"/>
            <a:r>
              <a:rPr lang="fr-BE"/>
              <a:t>attributs : notamment une déclaration d'espace de noms</a:t>
            </a:r>
          </a:p>
          <a:p>
            <a:pPr lvl="2"/>
            <a:r>
              <a:rPr lang="fr-BE"/>
              <a:t>élément racine du document XSL.</a:t>
            </a:r>
          </a:p>
          <a:p>
            <a:pPr lvl="1"/>
            <a:r>
              <a:rPr lang="fr-BE"/>
              <a:t>un élément </a:t>
            </a:r>
            <a:r>
              <a:rPr lang="fr-BE" err="1">
                <a:solidFill>
                  <a:schemeClr val="accent2"/>
                </a:solidFill>
              </a:rPr>
              <a:t>xsl:template</a:t>
            </a:r>
            <a:r>
              <a:rPr lang="fr-BE"/>
              <a:t>, enfant de </a:t>
            </a:r>
            <a:r>
              <a:rPr lang="fr-BE" err="1">
                <a:solidFill>
                  <a:schemeClr val="accent2"/>
                </a:solidFill>
              </a:rPr>
              <a:t>xsl:stylesheet</a:t>
            </a:r>
            <a:r>
              <a:rPr lang="fr-BE"/>
              <a:t>, contenant la structure de l'output</a:t>
            </a:r>
          </a:p>
        </p:txBody>
      </p:sp>
    </p:spTree>
    <p:extLst>
      <p:ext uri="{BB962C8B-B14F-4D97-AF65-F5344CB8AC3E}">
        <p14:creationId xmlns:p14="http://schemas.microsoft.com/office/powerpoint/2010/main" val="102403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0" y="433388"/>
            <a:ext cx="10515600" cy="2536825"/>
          </a:xfrm>
        </p:spPr>
        <p:txBody>
          <a:bodyPr>
            <a:spAutoFit/>
          </a:bodyPr>
          <a:lstStyle/>
          <a:p>
            <a:pPr lvl="0"/>
            <a:r>
              <a:rPr lang="fr-BE" err="1"/>
              <a:t>eXtensible</a:t>
            </a:r>
            <a:br>
              <a:rPr lang="fr-BE"/>
            </a:br>
            <a:r>
              <a:rPr lang="fr-BE" err="1"/>
              <a:t>Stylesheet</a:t>
            </a:r>
            <a:r>
              <a:rPr lang="fr-BE"/>
              <a:t> </a:t>
            </a:r>
            <a:br>
              <a:rPr lang="fr-BE"/>
            </a:br>
            <a:r>
              <a:rPr lang="fr-BE" err="1"/>
              <a:t>Language</a:t>
            </a:r>
            <a:br>
              <a:rPr lang="fr-BE"/>
            </a:br>
            <a:r>
              <a:rPr lang="fr-BE"/>
              <a:t>(XSL)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1413" y="422878"/>
            <a:ext cx="8320966" cy="618353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xsl:for-each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select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"biblio/livre"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&lt;div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class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"livre"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&lt;div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class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"titre"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xsl:value-of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select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"./titre"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/&gt;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&lt;/div&gt;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&lt;div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class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"auteur"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Auteur :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xsl:value-of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select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"./auteur"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/&gt;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xsl:if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test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"./</a:t>
            </a:r>
            <a:r>
              <a:rPr lang="fr-BE" sz="2000" b="1" err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nb_tomes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  &lt;div&gt;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    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Nombre de tomes :</a:t>
            </a:r>
          </a:p>
          <a:p>
            <a:pPr hangingPunct="0"/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            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xsl:value-of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select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"./</a:t>
            </a:r>
            <a:r>
              <a:rPr lang="fr-BE" sz="2000" b="1" err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nb_tomes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/&gt;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  &lt;/div&gt;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&lt;/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xsl:if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&lt;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xsl:if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test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"@</a:t>
            </a:r>
            <a:r>
              <a:rPr lang="fr-BE" sz="2000" b="1" err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lang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='en'"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  &lt;div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 </a:t>
            </a:r>
            <a:r>
              <a:rPr lang="fr-BE" sz="2000" b="1">
                <a:solidFill>
                  <a:srgbClr val="FF0000"/>
                </a:solidFill>
                <a:latin typeface="Courier New" pitchFamily="49"/>
                <a:ea typeface="Microsoft YaHei" pitchFamily="2"/>
                <a:cs typeface="Mangal" pitchFamily="2"/>
              </a:rPr>
              <a:t>class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=</a:t>
            </a:r>
            <a:r>
              <a:rPr lang="fr-BE" sz="2000" b="1">
                <a:solidFill>
                  <a:srgbClr val="8000FF"/>
                </a:solidFill>
                <a:latin typeface="Courier New" pitchFamily="49"/>
                <a:ea typeface="Microsoft YaHei" pitchFamily="2"/>
                <a:cs typeface="Mangal" pitchFamily="2"/>
              </a:rPr>
              <a:t>"attention"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    </a:t>
            </a:r>
            <a:r>
              <a:rPr lang="fr-BE" sz="2000" b="1">
                <a:solidFill>
                  <a:srgbClr val="000000"/>
                </a:solidFill>
                <a:latin typeface="Courier New" pitchFamily="49"/>
                <a:ea typeface="Microsoft YaHei" pitchFamily="2"/>
                <a:cs typeface="Mangal" pitchFamily="2"/>
              </a:rPr>
              <a:t>Attention : Ce livre est en Anglais.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  &lt;/div&gt;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  &lt;/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xsl:if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  &lt;/div&gt;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  &lt;/div&gt;</a:t>
            </a:r>
          </a:p>
          <a:p>
            <a:pPr hangingPunct="0"/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    &lt;/</a:t>
            </a:r>
            <a:r>
              <a:rPr lang="fr-BE" sz="2000" b="1" err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xsl:for-each</a:t>
            </a:r>
            <a:r>
              <a:rPr lang="fr-BE" sz="2000" b="1">
                <a:solidFill>
                  <a:srgbClr val="0000FF"/>
                </a:solidFill>
                <a:latin typeface="Courier New" pitchFamily="49"/>
                <a:ea typeface="Microsoft YaHei" pitchFamily="2"/>
                <a:cs typeface="Mangal" pitchFamily="2"/>
              </a:rPr>
              <a:t>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D9DB9B-75C6-44DD-A039-E6D176D9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/>
              <a:t>eXtensible</a:t>
            </a:r>
            <a:r>
              <a:rPr lang="fr-BE"/>
              <a:t> </a:t>
            </a:r>
            <a:r>
              <a:rPr lang="fr-BE" err="1"/>
              <a:t>Stylesheet</a:t>
            </a:r>
            <a:r>
              <a:rPr lang="fr-BE"/>
              <a:t> </a:t>
            </a:r>
            <a:r>
              <a:rPr lang="fr-BE" err="1"/>
              <a:t>Language</a:t>
            </a:r>
            <a:r>
              <a:rPr lang="fr-BE"/>
              <a:t> (XSL)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00BD52-0865-4FFD-8198-ABFA20251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fr-BE"/>
              <a:t>Quelques éléments intéressants des XSL :</a:t>
            </a:r>
          </a:p>
          <a:p>
            <a:pPr lvl="0">
              <a:buSzPct val="45000"/>
              <a:buFont typeface="StarSymbol"/>
              <a:buChar char="●"/>
            </a:pPr>
            <a:r>
              <a:rPr lang="fr-BE" err="1">
                <a:solidFill>
                  <a:srgbClr val="0000FF"/>
                </a:solidFill>
                <a:latin typeface="Courier New" pitchFamily="49"/>
              </a:rPr>
              <a:t>Xpath</a:t>
            </a:r>
            <a:r>
              <a:rPr lang="fr-BE">
                <a:latin typeface="Courier New" pitchFamily="49"/>
              </a:rPr>
              <a:t> : </a:t>
            </a:r>
            <a:r>
              <a:rPr lang="fr-BE">
                <a:solidFill>
                  <a:srgbClr val="8000FF"/>
                </a:solidFill>
                <a:latin typeface="Courier New" pitchFamily="49"/>
              </a:rPr>
              <a:t>"./titre", "biblio/livre", "@</a:t>
            </a:r>
            <a:r>
              <a:rPr lang="fr-BE" err="1">
                <a:solidFill>
                  <a:srgbClr val="8000FF"/>
                </a:solidFill>
                <a:latin typeface="Courier New" pitchFamily="49"/>
              </a:rPr>
              <a:t>lang</a:t>
            </a:r>
            <a:r>
              <a:rPr lang="fr-BE">
                <a:solidFill>
                  <a:srgbClr val="8000FF"/>
                </a:solidFill>
                <a:latin typeface="Courier New" pitchFamily="49"/>
              </a:rPr>
              <a:t>='en'"</a:t>
            </a:r>
            <a:br>
              <a:rPr lang="fr-BE">
                <a:solidFill>
                  <a:srgbClr val="8000FF"/>
                </a:solidFill>
                <a:latin typeface="Courier New" pitchFamily="49"/>
              </a:rPr>
            </a:br>
            <a:r>
              <a:rPr lang="fr-BE"/>
              <a:t>pour accéder à un endroit quelconque de l'arbre XML</a:t>
            </a:r>
            <a:br>
              <a:rPr lang="fr-BE"/>
            </a:br>
            <a:r>
              <a:rPr lang="fr-BE"/>
              <a:t>similaire à une </a:t>
            </a:r>
            <a:r>
              <a:rPr lang="fr-BE" err="1"/>
              <a:t>query</a:t>
            </a:r>
            <a:r>
              <a:rPr lang="fr-BE"/>
              <a:t> </a:t>
            </a:r>
            <a:r>
              <a:rPr lang="fr-BE" err="1"/>
              <a:t>sql</a:t>
            </a:r>
            <a:endParaRPr lang="fr-BE"/>
          </a:p>
          <a:p>
            <a:pPr lvl="0">
              <a:buSzPct val="45000"/>
              <a:buFont typeface="StarSymbol"/>
              <a:buChar char="●"/>
            </a:pPr>
            <a:r>
              <a:rPr lang="fr-BE">
                <a:solidFill>
                  <a:srgbClr val="0000FF"/>
                </a:solidFill>
                <a:latin typeface="Courier New" pitchFamily="49"/>
              </a:rPr>
              <a:t>&lt;</a:t>
            </a:r>
            <a:r>
              <a:rPr lang="fr-BE" err="1">
                <a:solidFill>
                  <a:srgbClr val="0000FF"/>
                </a:solidFill>
                <a:latin typeface="Courier New" pitchFamily="49"/>
              </a:rPr>
              <a:t>xsl:value-of</a:t>
            </a:r>
            <a:r>
              <a:rPr lang="fr-BE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fr-BE">
                <a:solidFill>
                  <a:srgbClr val="FF0000"/>
                </a:solidFill>
                <a:latin typeface="Courier New" pitchFamily="49"/>
              </a:rPr>
              <a:t>select</a:t>
            </a:r>
            <a:r>
              <a:rPr lang="fr-BE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>
                <a:solidFill>
                  <a:srgbClr val="8000FF"/>
                </a:solidFill>
                <a:latin typeface="Courier New" pitchFamily="49"/>
              </a:rPr>
              <a:t>"./titre"</a:t>
            </a:r>
            <a:r>
              <a:rPr lang="fr-BE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fr-BE">
                <a:solidFill>
                  <a:srgbClr val="0000FF"/>
                </a:solidFill>
                <a:latin typeface="Courier New" pitchFamily="49"/>
              </a:rPr>
              <a:t>/&gt;</a:t>
            </a:r>
            <a:br>
              <a:rPr lang="fr-BE">
                <a:solidFill>
                  <a:srgbClr val="0000FF"/>
                </a:solidFill>
                <a:latin typeface="Courier New" pitchFamily="49"/>
              </a:rPr>
            </a:br>
            <a:r>
              <a:rPr lang="fr-BE"/>
              <a:t>retourne la (les) valeurs sélectionnées par le </a:t>
            </a:r>
            <a:r>
              <a:rPr lang="fr-BE" err="1">
                <a:latin typeface="Courier New" pitchFamily="49"/>
              </a:rPr>
              <a:t>Xpath</a:t>
            </a:r>
            <a:r>
              <a:rPr lang="fr-BE">
                <a:latin typeface="Courier New" pitchFamily="49"/>
              </a:rPr>
              <a:t> </a:t>
            </a:r>
          </a:p>
          <a:p>
            <a:pPr lvl="0">
              <a:buSzPct val="45000"/>
              <a:buFont typeface="StarSymbol"/>
              <a:buChar char="●"/>
            </a:pPr>
            <a:r>
              <a:rPr lang="fr-BE">
                <a:solidFill>
                  <a:srgbClr val="0000FF"/>
                </a:solidFill>
                <a:latin typeface="Courier New" pitchFamily="49"/>
              </a:rPr>
              <a:t>&lt;</a:t>
            </a:r>
            <a:r>
              <a:rPr lang="fr-BE" err="1">
                <a:solidFill>
                  <a:srgbClr val="0000FF"/>
                </a:solidFill>
                <a:latin typeface="Courier New" pitchFamily="49"/>
              </a:rPr>
              <a:t>xsl:for-each</a:t>
            </a:r>
            <a:r>
              <a:rPr lang="fr-BE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fr-BE">
                <a:solidFill>
                  <a:srgbClr val="FF0000"/>
                </a:solidFill>
                <a:latin typeface="Courier New" pitchFamily="49"/>
              </a:rPr>
              <a:t>select</a:t>
            </a:r>
            <a:r>
              <a:rPr lang="fr-BE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>
                <a:solidFill>
                  <a:srgbClr val="8000FF"/>
                </a:solidFill>
                <a:latin typeface="Courier New" pitchFamily="49"/>
              </a:rPr>
              <a:t>"biblio/livre"</a:t>
            </a:r>
            <a:r>
              <a:rPr lang="fr-BE">
                <a:solidFill>
                  <a:srgbClr val="0000FF"/>
                </a:solidFill>
                <a:latin typeface="Courier New" pitchFamily="49"/>
              </a:rPr>
              <a:t>&gt; ... &lt;/</a:t>
            </a:r>
            <a:r>
              <a:rPr lang="fr-BE" err="1">
                <a:solidFill>
                  <a:srgbClr val="0000FF"/>
                </a:solidFill>
                <a:latin typeface="Courier New" pitchFamily="49"/>
              </a:rPr>
              <a:t>xsl:for-each</a:t>
            </a:r>
            <a:r>
              <a:rPr lang="fr-BE">
                <a:solidFill>
                  <a:srgbClr val="0000FF"/>
                </a:solidFill>
                <a:latin typeface="Courier New" pitchFamily="49"/>
              </a:rPr>
              <a:t>&gt;</a:t>
            </a:r>
            <a:br>
              <a:rPr lang="fr-BE">
                <a:solidFill>
                  <a:srgbClr val="0000FF"/>
                </a:solidFill>
              </a:rPr>
            </a:br>
            <a:r>
              <a:rPr lang="fr-BE"/>
              <a:t>lance une boucle sur les éléments retournés par le </a:t>
            </a:r>
            <a:r>
              <a:rPr lang="fr-BE" err="1">
                <a:latin typeface="Courier New" pitchFamily="49"/>
              </a:rPr>
              <a:t>Xpath</a:t>
            </a:r>
            <a:r>
              <a:rPr lang="fr-BE">
                <a:latin typeface="Courier New" pitchFamily="49"/>
              </a:rPr>
              <a:t> </a:t>
            </a:r>
          </a:p>
          <a:p>
            <a:pPr lvl="0">
              <a:buSzPct val="45000"/>
              <a:buFont typeface="StarSymbol"/>
              <a:buChar char="●"/>
            </a:pPr>
            <a:r>
              <a:rPr lang="fr-BE">
                <a:solidFill>
                  <a:srgbClr val="0000FF"/>
                </a:solidFill>
                <a:latin typeface="Courier New" pitchFamily="49"/>
              </a:rPr>
              <a:t>&lt;</a:t>
            </a:r>
            <a:r>
              <a:rPr lang="fr-BE" err="1">
                <a:solidFill>
                  <a:srgbClr val="0000FF"/>
                </a:solidFill>
                <a:latin typeface="Courier New" pitchFamily="49"/>
              </a:rPr>
              <a:t>xsl:if</a:t>
            </a:r>
            <a:r>
              <a:rPr lang="fr-BE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fr-BE">
                <a:solidFill>
                  <a:srgbClr val="FF0000"/>
                </a:solidFill>
                <a:latin typeface="Courier New" pitchFamily="49"/>
              </a:rPr>
              <a:t>test</a:t>
            </a:r>
            <a:r>
              <a:rPr lang="fr-BE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>
                <a:solidFill>
                  <a:srgbClr val="8000FF"/>
                </a:solidFill>
                <a:latin typeface="Courier New" pitchFamily="49"/>
              </a:rPr>
              <a:t>"@</a:t>
            </a:r>
            <a:r>
              <a:rPr lang="fr-BE" err="1">
                <a:solidFill>
                  <a:srgbClr val="8000FF"/>
                </a:solidFill>
                <a:latin typeface="Courier New" pitchFamily="49"/>
              </a:rPr>
              <a:t>lang</a:t>
            </a:r>
            <a:r>
              <a:rPr lang="fr-BE">
                <a:solidFill>
                  <a:srgbClr val="8000FF"/>
                </a:solidFill>
                <a:latin typeface="Courier New" pitchFamily="49"/>
              </a:rPr>
              <a:t>='en'"</a:t>
            </a:r>
            <a:r>
              <a:rPr lang="fr-BE">
                <a:solidFill>
                  <a:srgbClr val="0000FF"/>
                </a:solidFill>
                <a:latin typeface="Courier New" pitchFamily="49"/>
              </a:rPr>
              <a:t>&gt; ... &lt;/</a:t>
            </a:r>
            <a:r>
              <a:rPr lang="fr-BE" err="1">
                <a:solidFill>
                  <a:srgbClr val="0000FF"/>
                </a:solidFill>
                <a:latin typeface="Courier New" pitchFamily="49"/>
              </a:rPr>
              <a:t>xsl:if</a:t>
            </a:r>
            <a:r>
              <a:rPr lang="fr-BE">
                <a:solidFill>
                  <a:srgbClr val="0000FF"/>
                </a:solidFill>
                <a:latin typeface="Courier New" pitchFamily="49"/>
              </a:rPr>
              <a:t>&gt;</a:t>
            </a:r>
            <a:br>
              <a:rPr lang="fr-BE">
                <a:solidFill>
                  <a:srgbClr val="0000FF"/>
                </a:solidFill>
              </a:rPr>
            </a:br>
            <a:r>
              <a:rPr lang="fr-BE"/>
              <a:t>lance un test booléen sur l'expression </a:t>
            </a:r>
            <a:r>
              <a:rPr lang="fr-BE" err="1">
                <a:latin typeface="Courier New" pitchFamily="49"/>
              </a:rPr>
              <a:t>Xpath</a:t>
            </a:r>
            <a:r>
              <a:rPr lang="fr-BE"/>
              <a:t> indiquée en test</a:t>
            </a:r>
          </a:p>
          <a:p>
            <a:pPr lvl="0"/>
            <a:endParaRPr lang="fr-BE" b="1">
              <a:solidFill>
                <a:srgbClr val="8000FF"/>
              </a:solidFill>
            </a:endParaRPr>
          </a:p>
          <a:p>
            <a:pPr lvl="0"/>
            <a:endParaRPr lang="fr-BE" b="1">
              <a:solidFill>
                <a:srgbClr val="8000FF"/>
              </a:solidFill>
            </a:endParaRP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1122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DC45E87-F49D-4008-A519-13DFB889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/>
              <a:t>eXtensible</a:t>
            </a:r>
            <a:r>
              <a:rPr lang="fr-BE"/>
              <a:t> </a:t>
            </a:r>
            <a:r>
              <a:rPr lang="fr-BE" err="1"/>
              <a:t>Stylesheet</a:t>
            </a:r>
            <a:r>
              <a:rPr lang="fr-BE"/>
              <a:t> </a:t>
            </a:r>
            <a:r>
              <a:rPr lang="fr-BE" err="1"/>
              <a:t>Language</a:t>
            </a:r>
            <a:r>
              <a:rPr lang="fr-BE"/>
              <a:t> (XSL)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07339CF-820B-4AD4-A1F9-711801AE3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lvl="0"/>
            <a:r>
              <a:rPr lang="fr-BE"/>
              <a:t>Remarques sur l'exemple donné</a:t>
            </a:r>
          </a:p>
          <a:p>
            <a:pPr lvl="1"/>
            <a:r>
              <a:rPr lang="fr-BE"/>
              <a:t>Mixage de balises </a:t>
            </a:r>
          </a:p>
          <a:p>
            <a:pPr lvl="2"/>
            <a:r>
              <a:rPr lang="fr-BE"/>
              <a:t>XSL 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for-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each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fr-BE"/>
              <a:t>HTML 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</a:p>
          <a:p>
            <a:pPr lvl="1"/>
            <a:r>
              <a:rPr lang="fr-BE"/>
              <a:t>Possible de mixer des balises de différents </a:t>
            </a:r>
            <a:r>
              <a:rPr lang="fr-BE" i="1" err="1"/>
              <a:t>namespaces</a:t>
            </a:r>
            <a:r>
              <a:rPr lang="fr-BE" i="1"/>
              <a:t>.</a:t>
            </a:r>
            <a:endParaRPr lang="fr-BE"/>
          </a:p>
          <a:p>
            <a:pPr lvl="1"/>
            <a:r>
              <a:rPr lang="fr-BE" err="1"/>
              <a:t>Namespace</a:t>
            </a:r>
            <a:r>
              <a:rPr lang="fr-BE"/>
              <a:t> « 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xsl</a:t>
            </a:r>
            <a:r>
              <a:rPr lang="fr-BE"/>
              <a:t> » qui préfixe les balises XSL</a:t>
            </a:r>
          </a:p>
          <a:p>
            <a:pPr lvl="2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xsl:for-each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itchFamily="49"/>
              <a:ea typeface="Microsoft YaHei" pitchFamily="2"/>
              <a:cs typeface="Mangal" pitchFamily="2"/>
            </a:endParaRPr>
          </a:p>
          <a:p>
            <a:pPr lvl="2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xsl:if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  …</a:t>
            </a:r>
            <a:endParaRPr lang="fr-BE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fr-BE" err="1"/>
              <a:t>Namespace</a:t>
            </a:r>
            <a:r>
              <a:rPr lang="fr-BE"/>
              <a:t> HTML  ?</a:t>
            </a:r>
          </a:p>
          <a:p>
            <a:pPr lvl="2"/>
            <a:r>
              <a:rPr lang="fr-BE"/>
              <a:t>Les balises HTML ne sont pas préfixées ! </a:t>
            </a:r>
          </a:p>
          <a:p>
            <a:pPr lvl="2"/>
            <a:r>
              <a:rPr lang="fr-BE"/>
              <a:t>Pas de préfixe comme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html:h1</a:t>
            </a:r>
            <a:r>
              <a:rPr lang="fr-BE"/>
              <a:t>,  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itchFamily="49"/>
                <a:ea typeface="Microsoft YaHei" pitchFamily="2"/>
                <a:cs typeface="Mangal" pitchFamily="2"/>
              </a:rPr>
              <a:t>html:div</a:t>
            </a:r>
            <a:r>
              <a:rPr lang="fr-BE"/>
              <a:t>, … </a:t>
            </a:r>
          </a:p>
        </p:txBody>
      </p:sp>
    </p:spTree>
    <p:extLst>
      <p:ext uri="{BB962C8B-B14F-4D97-AF65-F5344CB8AC3E}">
        <p14:creationId xmlns:p14="http://schemas.microsoft.com/office/powerpoint/2010/main" val="10944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CA46EE-2E38-4640-938C-84ED8B15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1E60BF-542D-4303-8F73-63E67FFFA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37833"/>
            <a:ext cx="5181600" cy="5359300"/>
          </a:xfrm>
        </p:spPr>
        <p:txBody>
          <a:bodyPr>
            <a:normAutofit fontScale="77500" lnSpcReduction="20000"/>
          </a:bodyPr>
          <a:lstStyle/>
          <a:p>
            <a:r>
              <a:rPr lang="fr-BE"/>
              <a:t>Fichiers 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library+dtd+xsl.xml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exo03_[abc].xsl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library.dtd </a:t>
            </a:r>
          </a:p>
          <a:p>
            <a:r>
              <a:rPr lang="fr-BE"/>
              <a:t>Installez-les et visualisez-les grâce à WAMP</a:t>
            </a:r>
          </a:p>
          <a:p>
            <a:r>
              <a:rPr lang="fr-BE"/>
              <a:t>Différenciez les trois XSL </a:t>
            </a:r>
          </a:p>
          <a:p>
            <a:pPr lvl="1"/>
            <a:r>
              <a:rPr lang="fr-BE"/>
              <a:t>a = ?  b = ?  c = ? </a:t>
            </a:r>
          </a:p>
          <a:p>
            <a:r>
              <a:rPr lang="fr-BE"/>
              <a:t>Adaptez l'ensemble pour pouvoir introduire le livre suivant:</a:t>
            </a:r>
          </a:p>
          <a:p>
            <a:pPr lvl="1"/>
            <a:r>
              <a:rPr lang="fr-BE"/>
              <a:t>Titre : </a:t>
            </a:r>
            <a:r>
              <a:rPr lang="fr-BE">
                <a:solidFill>
                  <a:schemeClr val="accent2"/>
                </a:solidFill>
              </a:rPr>
              <a:t>"</a:t>
            </a:r>
            <a:r>
              <a:rPr lang="de-DE">
                <a:solidFill>
                  <a:schemeClr val="accent2"/>
                </a:solidFill>
              </a:rPr>
              <a:t>Das Parfum"</a:t>
            </a:r>
          </a:p>
          <a:p>
            <a:pPr lvl="1"/>
            <a:r>
              <a:rPr lang="de-DE"/>
              <a:t>Sous-</a:t>
            </a:r>
            <a:r>
              <a:rPr lang="de-DE" err="1"/>
              <a:t>titre</a:t>
            </a:r>
            <a:r>
              <a:rPr lang="de-DE"/>
              <a:t> : </a:t>
            </a:r>
            <a:r>
              <a:rPr lang="de-DE">
                <a:solidFill>
                  <a:schemeClr val="accent2"/>
                </a:solidFill>
              </a:rPr>
              <a:t>"Die Geschichte eines Mörders"</a:t>
            </a:r>
          </a:p>
          <a:p>
            <a:pPr lvl="1"/>
            <a:r>
              <a:rPr lang="de-DE" err="1"/>
              <a:t>Auteur</a:t>
            </a:r>
            <a:r>
              <a:rPr lang="de-DE"/>
              <a:t> : </a:t>
            </a:r>
            <a:r>
              <a:rPr lang="de-DE">
                <a:solidFill>
                  <a:schemeClr val="accent2"/>
                </a:solidFill>
              </a:rPr>
              <a:t>Patrick Süskind</a:t>
            </a:r>
          </a:p>
          <a:p>
            <a:pPr lvl="1"/>
            <a:r>
              <a:rPr lang="de-DE"/>
              <a:t>Langue : </a:t>
            </a:r>
            <a:r>
              <a:rPr lang="de-DE" err="1">
                <a:solidFill>
                  <a:schemeClr val="accent2"/>
                </a:solidFill>
              </a:rPr>
              <a:t>allemande</a:t>
            </a:r>
            <a:endParaRPr lang="fr-BE">
              <a:solidFill>
                <a:schemeClr val="accent2"/>
              </a:solidFill>
            </a:endParaRP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EDDED9B-BAC0-4C01-9955-75242E5A51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fr-BE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274F596-324C-4BF9-9D79-82D0F8527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66" y="115520"/>
            <a:ext cx="5242209" cy="18918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69AA562-80C9-42C6-A825-D98DEC186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896"/>
          <a:stretch/>
        </p:blipFill>
        <p:spPr>
          <a:xfrm>
            <a:off x="5946570" y="1337832"/>
            <a:ext cx="3152765" cy="26634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A0EC1C2-4D4E-423D-AD40-0E99C3CD3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591" y="2954005"/>
            <a:ext cx="4120884" cy="1788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DA4262B-EED3-4F97-92A4-3D134F13AF9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650" b="47634"/>
          <a:stretch/>
        </p:blipFill>
        <p:spPr>
          <a:xfrm>
            <a:off x="6462438" y="4633682"/>
            <a:ext cx="3002932" cy="19907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96C6387-8CA7-4C6C-8BC5-86C62B9E8D33}"/>
              </a:ext>
            </a:extLst>
          </p:cNvPr>
          <p:cNvSpPr txBox="1"/>
          <p:nvPr/>
        </p:nvSpPr>
        <p:spPr>
          <a:xfrm>
            <a:off x="9617770" y="4815262"/>
            <a:ext cx="11038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600"/>
              <a:t>a ?</a:t>
            </a:r>
          </a:p>
          <a:p>
            <a:pPr algn="ctr"/>
            <a:r>
              <a:rPr lang="fr-BE" sz="3600"/>
              <a:t>b ?</a:t>
            </a:r>
          </a:p>
          <a:p>
            <a:pPr algn="r"/>
            <a:r>
              <a:rPr lang="fr-BE" sz="3600"/>
              <a:t>c ?</a:t>
            </a:r>
          </a:p>
          <a:p>
            <a:endParaRPr lang="fr-BE" sz="3600"/>
          </a:p>
        </p:txBody>
      </p:sp>
    </p:spTree>
    <p:extLst>
      <p:ext uri="{BB962C8B-B14F-4D97-AF65-F5344CB8AC3E}">
        <p14:creationId xmlns:p14="http://schemas.microsoft.com/office/powerpoint/2010/main" val="57284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8130A-9155-219E-FE84-912D33E5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96E6D-78BA-3EBC-8935-46319F22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XML : références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0B8F2A-E7A3-E2E1-D2C1-B6CF08769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endParaRPr lang="fr-BE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7EB19131-830E-E5EF-2A8F-9046578502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646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072794-26CC-4D12-B39B-C2E5E20B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Références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EED762-EC77-4394-9B5A-21ECC13A2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w3school - une bonne adresse ;-)</a:t>
            </a:r>
          </a:p>
          <a:p>
            <a:pPr lvl="1"/>
            <a:r>
              <a:rPr lang="fr-BE" sz="2400"/>
              <a:t>https://www.w3schools.com/xml/</a:t>
            </a:r>
          </a:p>
          <a:p>
            <a:r>
              <a:rPr lang="fr-BE"/>
              <a:t>phpnet.org</a:t>
            </a:r>
          </a:p>
          <a:p>
            <a:pPr lvl="1"/>
            <a:r>
              <a:rPr lang="fr-BE" sz="2400"/>
              <a:t>https://www.php.net/manual/fr/function.simplexml-load-file.php </a:t>
            </a:r>
          </a:p>
          <a:p>
            <a:pPr lvl="1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4555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">
    <a:dk1>
      <a:sysClr val="windowText" lastClr="000000"/>
    </a:dk1>
    <a:lt1>
      <a:sysClr val="window" lastClr="FFFFFF"/>
    </a:lt1>
    <a:dk2>
      <a:srgbClr val="162F33"/>
    </a:dk2>
    <a:lt2>
      <a:srgbClr val="EAF0E0"/>
    </a:lt2>
    <a:accent1>
      <a:srgbClr val="0DD3D1"/>
    </a:accent1>
    <a:accent2>
      <a:srgbClr val="1963A1"/>
    </a:accent2>
    <a:accent3>
      <a:srgbClr val="E5CBAD"/>
    </a:accent3>
    <a:accent4>
      <a:srgbClr val="5DF5F3"/>
    </a:accent4>
    <a:accent5>
      <a:srgbClr val="56A4E4"/>
    </a:accent5>
    <a:accent6>
      <a:srgbClr val="EFDFCD"/>
    </a:accent6>
    <a:hlink>
      <a:srgbClr val="000000"/>
    </a:hlink>
    <a:folHlink>
      <a:srgbClr val="3F3F3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11579</TotalTime>
  <Words>2574</Words>
  <Application>Microsoft Office PowerPoint</Application>
  <PresentationFormat>Grand écran</PresentationFormat>
  <Paragraphs>414</Paragraphs>
  <Slides>27</Slides>
  <Notes>14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  <vt:variant>
        <vt:lpstr>Diaporamas personnalisés</vt:lpstr>
      </vt:variant>
      <vt:variant>
        <vt:i4>1</vt:i4>
      </vt:variant>
    </vt:vector>
  </HeadingPairs>
  <TitlesOfParts>
    <vt:vector size="35" baseType="lpstr">
      <vt:lpstr>Arial</vt:lpstr>
      <vt:lpstr>Calibri</vt:lpstr>
      <vt:lpstr>Courier New</vt:lpstr>
      <vt:lpstr>Garamond</vt:lpstr>
      <vt:lpstr>StarSymbol</vt:lpstr>
      <vt:lpstr>Wingdings</vt:lpstr>
      <vt:lpstr>burotix</vt:lpstr>
      <vt:lpstr>Bachelier en Informatique de Gestion  Web : principes de base Projet de Développement Web</vt:lpstr>
      <vt:lpstr>Table des matières</vt:lpstr>
      <vt:lpstr>05. Format XML</vt:lpstr>
      <vt:lpstr>XML : description</vt:lpstr>
      <vt:lpstr>XML en quelques  mots</vt:lpstr>
      <vt:lpstr>Présentation PowerPoint</vt:lpstr>
      <vt:lpstr>La famille XML</vt:lpstr>
      <vt:lpstr>Ensemble complet de données XML</vt:lpstr>
      <vt:lpstr>Ensemble complet de données XML</vt:lpstr>
      <vt:lpstr>XML, exo 01</vt:lpstr>
      <vt:lpstr>DTD, exo 01</vt:lpstr>
      <vt:lpstr>DTD, exo 01</vt:lpstr>
      <vt:lpstr>Outils</vt:lpstr>
      <vt:lpstr>Outils :  Notepad++</vt:lpstr>
      <vt:lpstr>XML, exo 02</vt:lpstr>
      <vt:lpstr>DTD, exo 02</vt:lpstr>
      <vt:lpstr>Schémas (XSD)</vt:lpstr>
      <vt:lpstr>Schémas (XSD) vs. DTD </vt:lpstr>
      <vt:lpstr>Schémas (XSD) :  types simples prédéfinis</vt:lpstr>
      <vt:lpstr>eXtensible Stylesheet Language (XSL)</vt:lpstr>
      <vt:lpstr>eXtensible Stylesheet Language (XSL)</vt:lpstr>
      <vt:lpstr>eXtensible Stylesheet  Language (XSL)</vt:lpstr>
      <vt:lpstr>eXtensible Stylesheet Language (XSL)</vt:lpstr>
      <vt:lpstr>eXtensible Stylesheet Language (XSL)</vt:lpstr>
      <vt:lpstr>Exo 03</vt:lpstr>
      <vt:lpstr>XML : références</vt:lpstr>
      <vt:lpstr>Références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Projet de Développement Web</dc:title>
  <dc:creator>Alain Wafflard</dc:creator>
  <cp:lastModifiedBy>Alain Wafflard</cp:lastModifiedBy>
  <cp:revision>144</cp:revision>
  <dcterms:created xsi:type="dcterms:W3CDTF">2020-03-25T16:55:22Z</dcterms:created>
  <dcterms:modified xsi:type="dcterms:W3CDTF">2026-09-07T12:08:47Z</dcterms:modified>
</cp:coreProperties>
</file>