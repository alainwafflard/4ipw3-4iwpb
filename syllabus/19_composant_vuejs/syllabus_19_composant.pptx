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43" r:id="rId1"/>
  </p:sldMasterIdLst>
  <p:notesMasterIdLst>
    <p:notesMasterId r:id="rId50"/>
  </p:notesMasterIdLst>
  <p:sldIdLst>
    <p:sldId id="256" r:id="rId2"/>
    <p:sldId id="453" r:id="rId3"/>
    <p:sldId id="259" r:id="rId4"/>
    <p:sldId id="261" r:id="rId5"/>
    <p:sldId id="260" r:id="rId6"/>
    <p:sldId id="271" r:id="rId7"/>
    <p:sldId id="263" r:id="rId8"/>
    <p:sldId id="268" r:id="rId9"/>
    <p:sldId id="269" r:id="rId10"/>
    <p:sldId id="270" r:id="rId11"/>
    <p:sldId id="421" r:id="rId12"/>
    <p:sldId id="274" r:id="rId13"/>
    <p:sldId id="273" r:id="rId14"/>
    <p:sldId id="422" r:id="rId15"/>
    <p:sldId id="276" r:id="rId16"/>
    <p:sldId id="420" r:id="rId17"/>
    <p:sldId id="262" r:id="rId18"/>
    <p:sldId id="419" r:id="rId19"/>
    <p:sldId id="267" r:id="rId20"/>
    <p:sldId id="440" r:id="rId21"/>
    <p:sldId id="441" r:id="rId22"/>
    <p:sldId id="423" r:id="rId23"/>
    <p:sldId id="424" r:id="rId24"/>
    <p:sldId id="425" r:id="rId25"/>
    <p:sldId id="432" r:id="rId26"/>
    <p:sldId id="436" r:id="rId27"/>
    <p:sldId id="433" r:id="rId28"/>
    <p:sldId id="431" r:id="rId29"/>
    <p:sldId id="434" r:id="rId30"/>
    <p:sldId id="428" r:id="rId31"/>
    <p:sldId id="435" r:id="rId32"/>
    <p:sldId id="430" r:id="rId33"/>
    <p:sldId id="437" r:id="rId34"/>
    <p:sldId id="438" r:id="rId35"/>
    <p:sldId id="439" r:id="rId36"/>
    <p:sldId id="443" r:id="rId37"/>
    <p:sldId id="426" r:id="rId38"/>
    <p:sldId id="442" r:id="rId39"/>
    <p:sldId id="444" r:id="rId40"/>
    <p:sldId id="445" r:id="rId41"/>
    <p:sldId id="446" r:id="rId42"/>
    <p:sldId id="447" r:id="rId43"/>
    <p:sldId id="448" r:id="rId44"/>
    <p:sldId id="449" r:id="rId45"/>
    <p:sldId id="450" r:id="rId46"/>
    <p:sldId id="451" r:id="rId47"/>
    <p:sldId id="452" r:id="rId48"/>
    <p:sldId id="429" r:id="rId49"/>
  </p:sldIdLst>
  <p:sldSz cx="12192000" cy="6858000"/>
  <p:notesSz cx="6858000" cy="9144000"/>
  <p:custShowLst>
    <p:custShow name="cefora powerpoint base" id="0">
      <p:sldLst/>
    </p:custShow>
  </p:custShowLst>
  <p:defaultTextStyle>
    <a:defPPr>
      <a:defRPr lang="fr-FR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9. Component-based Design" id="{B08A4763-3734-478D-8E54-A1FFDFE8EABC}">
          <p14:sldIdLst>
            <p14:sldId id="256"/>
            <p14:sldId id="453"/>
            <p14:sldId id="259"/>
          </p14:sldIdLst>
        </p14:section>
        <p14:section name="état de l'art" id="{6B57B82E-E327-4029-A3B5-3000D9D45DAF}">
          <p14:sldIdLst>
            <p14:sldId id="261"/>
            <p14:sldId id="260"/>
            <p14:sldId id="271"/>
            <p14:sldId id="263"/>
            <p14:sldId id="268"/>
            <p14:sldId id="269"/>
            <p14:sldId id="270"/>
            <p14:sldId id="421"/>
            <p14:sldId id="274"/>
            <p14:sldId id="273"/>
            <p14:sldId id="422"/>
            <p14:sldId id="276"/>
          </p14:sldIdLst>
        </p14:section>
        <p14:section name="vue.js, la philosophie" id="{655D264B-242A-4AA8-AAF4-271D9F9B5E4C}">
          <p14:sldIdLst>
            <p14:sldId id="420"/>
            <p14:sldId id="262"/>
            <p14:sldId id="419"/>
            <p14:sldId id="267"/>
            <p14:sldId id="440"/>
            <p14:sldId id="441"/>
          </p14:sldIdLst>
        </p14:section>
        <p14:section name="vue.js statique" id="{24EECDFD-995B-4FE6-86B9-540AE6A0ECA0}">
          <p14:sldIdLst>
            <p14:sldId id="423"/>
            <p14:sldId id="424"/>
            <p14:sldId id="425"/>
            <p14:sldId id="432"/>
            <p14:sldId id="436"/>
            <p14:sldId id="433"/>
            <p14:sldId id="431"/>
            <p14:sldId id="434"/>
            <p14:sldId id="428"/>
            <p14:sldId id="435"/>
            <p14:sldId id="430"/>
            <p14:sldId id="437"/>
            <p14:sldId id="438"/>
            <p14:sldId id="439"/>
          </p14:sldIdLst>
        </p14:section>
        <p14:section name="vue.js dynamique" id="{629819F1-AB51-45CC-B484-FD4FD8ABEDB3}">
          <p14:sldIdLst>
            <p14:sldId id="443"/>
            <p14:sldId id="426"/>
            <p14:sldId id="442"/>
            <p14:sldId id="444"/>
            <p14:sldId id="445"/>
            <p14:sldId id="446"/>
            <p14:sldId id="447"/>
            <p14:sldId id="448"/>
            <p14:sldId id="449"/>
            <p14:sldId id="450"/>
            <p14:sldId id="451"/>
            <p14:sldId id="452"/>
            <p14:sldId id="42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ain Wafflard" initials="AW" lastIdx="1" clrIdx="0">
    <p:extLst>
      <p:ext uri="{19B8F6BF-5375-455C-9EA6-DF929625EA0E}">
        <p15:presenceInfo xmlns:p15="http://schemas.microsoft.com/office/powerpoint/2012/main" userId="76bb5ce92a207b2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FF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CB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0" autoAdjust="0"/>
    <p:restoredTop sz="94474" autoAdjust="0"/>
  </p:normalViewPr>
  <p:slideViewPr>
    <p:cSldViewPr snapToGrid="0">
      <p:cViewPr varScale="1">
        <p:scale>
          <a:sx n="55" d="100"/>
          <a:sy n="55" d="100"/>
        </p:scale>
        <p:origin x="102" y="13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75" d="100"/>
        <a:sy n="75" d="100"/>
      </p:scale>
      <p:origin x="0" y="-4392"/>
    </p:cViewPr>
  </p:sorterViewPr>
  <p:notesViewPr>
    <p:cSldViewPr snapToGrid="0">
      <p:cViewPr varScale="1">
        <p:scale>
          <a:sx n="100" d="100"/>
          <a:sy n="100" d="100"/>
        </p:scale>
        <p:origin x="3552" y="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E9742F-4DAE-47F5-9244-6ACC3985DD6B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3842A0-1A3F-4998-8237-CE5EEE5DFDF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5606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kinsta.com/fr/blog/test-ergonomie-site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BE"/>
              <a:t>1</a:t>
            </a:fld>
            <a:endParaRPr/>
          </a:p>
        </p:txBody>
      </p:sp>
      <p:sp>
        <p:nvSpPr>
          <p:cNvPr id="53" name="Google Shape;53;p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/>
              <a:t>GESTIONNAIRE DE BASE DE DONNEES – NIVEAU ELEMENTAIRE - MS ACCESS</a:t>
            </a:r>
            <a:endParaRPr/>
          </a:p>
        </p:txBody>
      </p:sp>
      <p:sp>
        <p:nvSpPr>
          <p:cNvPr id="54" name="Google Shape;54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/>
              <a:t>Professeur : Alain Wafflard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001"/>
              <a:t>React a eté </a:t>
            </a:r>
            <a:r>
              <a:rPr lang="nl-BE"/>
              <a:t>créé </a:t>
            </a:r>
            <a:r>
              <a:rPr lang="en-001"/>
              <a:t>par Facebook en 2013</a:t>
            </a:r>
            <a:r>
              <a:rPr lang="nl-BE"/>
              <a:t> mais </a:t>
            </a:r>
            <a:r>
              <a:rPr lang="fr-BE" b="0" i="0">
                <a:solidFill>
                  <a:srgbClr val="414141"/>
                </a:solidFill>
                <a:effectLst/>
                <a:latin typeface="Poppins" panose="020B0604020202020204" pitchFamily="34" charset="0"/>
              </a:rPr>
              <a:t>est aujourd’hui open source, c'est-à-dire que la communauté peut accéder au code librement et contribuer à l’évolution de celle-ci.</a:t>
            </a:r>
            <a:r>
              <a:rPr lang="en-001"/>
              <a:t>.</a:t>
            </a:r>
          </a:p>
          <a:p>
            <a:r>
              <a:rPr lang="en-001"/>
              <a:t>Il repose sur Javascript et est classé comme une librairie JS plutôt qu’un framework</a:t>
            </a:r>
            <a:endParaRPr lang="nl-BE"/>
          </a:p>
          <a:p>
            <a:r>
              <a:rPr lang="fr-BE" b="0" i="0">
                <a:solidFill>
                  <a:srgbClr val="4C4243"/>
                </a:solidFill>
                <a:effectLst/>
                <a:latin typeface="Pathway Extreme"/>
              </a:rPr>
              <a:t>JSX est une extension syntaxique pour JavaScript qui permet aux développeurs d’écrire des balises de type HTML à l’intérieur d’un fichier JavaScript.</a:t>
            </a:r>
            <a:endParaRPr lang="en-001"/>
          </a:p>
          <a:p>
            <a:r>
              <a:rPr lang="en-001"/>
              <a:t>Sa popularité est due a sa facilité de développement et a ses performances élevées.</a:t>
            </a:r>
          </a:p>
          <a:p>
            <a:r>
              <a:rPr lang="en-001"/>
              <a:t>Il off</a:t>
            </a:r>
            <a:r>
              <a:rPr lang="fr-BE"/>
              <a:t>r</a:t>
            </a:r>
            <a:r>
              <a:rPr lang="en-001"/>
              <a:t>e une approche de developpement declarative et des composants reutilisables</a:t>
            </a:r>
            <a:r>
              <a:rPr lang="nl-BE"/>
              <a:t> </a:t>
            </a:r>
            <a:r>
              <a:rPr lang="fr-BE" b="0" i="0">
                <a:solidFill>
                  <a:srgbClr val="4C4243"/>
                </a:solidFill>
                <a:effectLst/>
                <a:latin typeface="Pathway Extreme"/>
              </a:rPr>
              <a:t>qui constituent des parties de l’interface utilisateur</a:t>
            </a:r>
            <a:r>
              <a:rPr lang="en-001"/>
              <a:t>.</a:t>
            </a:r>
          </a:p>
          <a:p>
            <a:r>
              <a:rPr lang="en-001"/>
              <a:t>Il est utilisé dans des petits et grands projets</a:t>
            </a:r>
          </a:p>
          <a:p>
            <a:r>
              <a:rPr lang="en-001"/>
              <a:t>Le composants en combinaison avec le virtualDOM am</a:t>
            </a:r>
            <a:r>
              <a:rPr lang="nl-BE"/>
              <a:t>é</a:t>
            </a:r>
            <a:r>
              <a:rPr lang="en-001"/>
              <a:t>liorent l’efficacité </a:t>
            </a:r>
            <a:r>
              <a:rPr lang="fr-BE" b="0" i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du développement et la performance des applications.</a:t>
            </a:r>
            <a:endParaRPr lang="fr-BE"/>
          </a:p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3842A0-1A3F-4998-8237-CE5EEE5DFDF0}" type="slidenum">
              <a:rPr lang="fr-BE" smtClean="0"/>
              <a:t>11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805503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001" dirty="0"/>
              <a:t>Angular a </a:t>
            </a:r>
            <a:r>
              <a:rPr lang="en-001" dirty="0" err="1"/>
              <a:t>eté</a:t>
            </a:r>
            <a:r>
              <a:rPr lang="en-001" dirty="0"/>
              <a:t> </a:t>
            </a:r>
            <a:r>
              <a:rPr lang="en-001" dirty="0" err="1"/>
              <a:t>developpé</a:t>
            </a:r>
            <a:r>
              <a:rPr lang="en-001" dirty="0"/>
              <a:t> par Google </a:t>
            </a:r>
            <a:r>
              <a:rPr lang="en-001" dirty="0" err="1"/>
              <a:t>en</a:t>
            </a:r>
            <a:r>
              <a:rPr lang="en-001" dirty="0"/>
              <a:t> 2010. En 2016 Il a </a:t>
            </a:r>
            <a:r>
              <a:rPr lang="en-001" dirty="0" err="1"/>
              <a:t>ete</a:t>
            </a:r>
            <a:r>
              <a:rPr lang="en-001" dirty="0"/>
              <a:t> completement </a:t>
            </a:r>
            <a:r>
              <a:rPr lang="en-001" dirty="0" err="1"/>
              <a:t>réécrit</a:t>
            </a:r>
            <a:r>
              <a:rPr lang="en-001" dirty="0"/>
              <a:t> pour utiliser TS a la place de JS.</a:t>
            </a:r>
          </a:p>
          <a:p>
            <a:r>
              <a:rPr lang="en-001" dirty="0"/>
              <a:t>Il </a:t>
            </a:r>
            <a:r>
              <a:rPr lang="en-001" dirty="0" err="1"/>
              <a:t>est</a:t>
            </a:r>
            <a:r>
              <a:rPr lang="en-001" dirty="0"/>
              <a:t> bas</a:t>
            </a:r>
            <a:r>
              <a:rPr lang="fr-BE" dirty="0"/>
              <a:t>e</a:t>
            </a:r>
            <a:r>
              <a:rPr lang="en-001" dirty="0"/>
              <a:t> sur Typescript qui </a:t>
            </a:r>
            <a:r>
              <a:rPr lang="en-001" dirty="0" err="1"/>
              <a:t>ameliore</a:t>
            </a:r>
            <a:r>
              <a:rPr lang="en-001" dirty="0"/>
              <a:t> la </a:t>
            </a:r>
            <a:r>
              <a:rPr lang="en-001" dirty="0" err="1"/>
              <a:t>robustesse</a:t>
            </a:r>
            <a:r>
              <a:rPr lang="en-001" dirty="0"/>
              <a:t> et la </a:t>
            </a:r>
            <a:r>
              <a:rPr lang="en-001" dirty="0" err="1"/>
              <a:t>maintenabilité</a:t>
            </a:r>
            <a:r>
              <a:rPr lang="en-001" dirty="0"/>
              <a:t> du code.</a:t>
            </a:r>
          </a:p>
          <a:p>
            <a:r>
              <a:rPr lang="en-001" dirty="0"/>
              <a:t>Il </a:t>
            </a:r>
            <a:r>
              <a:rPr lang="en-001" dirty="0" err="1"/>
              <a:t>est</a:t>
            </a:r>
            <a:r>
              <a:rPr lang="en-001" dirty="0"/>
              <a:t> </a:t>
            </a:r>
            <a:r>
              <a:rPr lang="en-001" dirty="0" err="1"/>
              <a:t>consideré</a:t>
            </a:r>
            <a:r>
              <a:rPr lang="en-001" dirty="0"/>
              <a:t> </a:t>
            </a:r>
            <a:r>
              <a:rPr lang="en-001" dirty="0" err="1"/>
              <a:t>comme</a:t>
            </a:r>
            <a:r>
              <a:rPr lang="en-001" dirty="0"/>
              <a:t> un framework </a:t>
            </a:r>
            <a:r>
              <a:rPr lang="en-001" dirty="0" err="1"/>
              <a:t>complet</a:t>
            </a:r>
            <a:r>
              <a:rPr lang="en-001" dirty="0"/>
              <a:t>.</a:t>
            </a:r>
          </a:p>
          <a:p>
            <a:r>
              <a:rPr lang="en-001" dirty="0"/>
              <a:t>Il </a:t>
            </a:r>
            <a:r>
              <a:rPr lang="en-001" dirty="0" err="1"/>
              <a:t>est</a:t>
            </a:r>
            <a:r>
              <a:rPr lang="en-001" dirty="0"/>
              <a:t> </a:t>
            </a:r>
            <a:r>
              <a:rPr lang="en-001" dirty="0" err="1"/>
              <a:t>utilisé</a:t>
            </a:r>
            <a:r>
              <a:rPr lang="en-001" dirty="0"/>
              <a:t> pour des </a:t>
            </a:r>
            <a:r>
              <a:rPr lang="en-001" dirty="0" err="1"/>
              <a:t>grandes</a:t>
            </a:r>
            <a:r>
              <a:rPr lang="en-001" dirty="0"/>
              <a:t> applications (</a:t>
            </a:r>
            <a:r>
              <a:rPr lang="en-001" err="1"/>
              <a:t>Entreprise</a:t>
            </a:r>
            <a:r>
              <a:rPr lang="en-001"/>
              <a:t>)</a:t>
            </a:r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849E9A-41F7-4779-A581-48A7C374A227}" type="slidenum">
              <a:rPr lang="nl-NL" noProof="0" smtClean="0"/>
              <a:t>12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27111160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Vue.js, créé par </a:t>
            </a:r>
            <a:r>
              <a:rPr lang="fr-BE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Evan</a:t>
            </a:r>
            <a:r>
              <a:rPr lang="fr-BE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You, ancien employé de Google, a été introduit en 2013</a:t>
            </a:r>
            <a:endParaRPr lang="en-001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r>
              <a:rPr lang="en-001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Il </a:t>
            </a:r>
            <a:r>
              <a:rPr lang="en-001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est</a:t>
            </a:r>
            <a:r>
              <a:rPr lang="en-001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001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basé</a:t>
            </a:r>
            <a:r>
              <a:rPr lang="en-001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sur </a:t>
            </a:r>
            <a:r>
              <a:rPr lang="en-001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Javascript</a:t>
            </a:r>
            <a:r>
              <a:rPr lang="en-001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et </a:t>
            </a:r>
            <a:r>
              <a:rPr lang="en-001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est</a:t>
            </a:r>
            <a:r>
              <a:rPr lang="en-001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001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consideré</a:t>
            </a:r>
            <a:r>
              <a:rPr lang="en-001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001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comme</a:t>
            </a:r>
            <a:r>
              <a:rPr lang="en-001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un Framework </a:t>
            </a:r>
            <a:r>
              <a:rPr lang="en-001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progressif</a:t>
            </a:r>
            <a:r>
              <a:rPr lang="en-001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- </a:t>
            </a:r>
            <a:r>
              <a:rPr lang="fr-BE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ce qui signifie qu'il peut être intégré de manière incrémentielle dans les projets existants</a:t>
            </a:r>
            <a:endParaRPr lang="en-001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r>
              <a:rPr lang="en-001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Il </a:t>
            </a:r>
            <a:r>
              <a:rPr lang="en-001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est</a:t>
            </a:r>
            <a:r>
              <a:rPr lang="en-001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un </a:t>
            </a:r>
            <a:r>
              <a:rPr lang="en-001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projet</a:t>
            </a:r>
            <a:r>
              <a:rPr lang="en-001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open source qui a </a:t>
            </a:r>
            <a:r>
              <a:rPr lang="en-001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une</a:t>
            </a:r>
            <a:r>
              <a:rPr lang="en-001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001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communauté</a:t>
            </a:r>
            <a:r>
              <a:rPr lang="en-001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petite </a:t>
            </a:r>
            <a:r>
              <a:rPr lang="en-001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mais</a:t>
            </a:r>
            <a:r>
              <a:rPr lang="en-001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très active</a:t>
            </a:r>
          </a:p>
          <a:p>
            <a:r>
              <a:rPr lang="en-001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Tres bonne documentation </a:t>
            </a:r>
          </a:p>
          <a:p>
            <a:r>
              <a:rPr lang="en-001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Bonnes</a:t>
            </a:r>
            <a:r>
              <a:rPr lang="en-001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performances et facile a </a:t>
            </a:r>
            <a:r>
              <a:rPr lang="en-001" b="0" i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apprendre</a:t>
            </a:r>
            <a:r>
              <a:rPr lang="en-001" b="0" i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</a:t>
            </a:r>
            <a:endParaRPr lang="nl-BE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r>
              <a:rPr lang="fr-BE" b="0" i="0" dirty="0" err="1">
                <a:solidFill>
                  <a:srgbClr val="4C4243"/>
                </a:solidFill>
                <a:effectLst/>
                <a:latin typeface="+mn-lt"/>
              </a:rPr>
              <a:t>Vue.js</a:t>
            </a:r>
            <a:r>
              <a:rPr lang="fr-BE" b="0" i="0" dirty="0">
                <a:solidFill>
                  <a:srgbClr val="4C4243"/>
                </a:solidFill>
                <a:effectLst/>
                <a:latin typeface="+mn-lt"/>
              </a:rPr>
              <a:t> a une très petite taille</a:t>
            </a:r>
            <a:r>
              <a:rPr lang="nl-BE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+mn-lt"/>
              </a:rPr>
              <a:t>, cela </a:t>
            </a:r>
            <a:r>
              <a:rPr lang="fr-BE" b="0" i="0" dirty="0">
                <a:solidFill>
                  <a:srgbClr val="4C4243"/>
                </a:solidFill>
                <a:effectLst/>
                <a:latin typeface="+mn-lt"/>
              </a:rPr>
              <a:t>aura un impact positif sur le SEO et </a:t>
            </a:r>
            <a:r>
              <a:rPr lang="fr-BE" b="0" i="0" u="none" dirty="0">
                <a:solidFill>
                  <a:schemeClr val="tx1"/>
                </a:solidFill>
                <a:effectLst/>
                <a:latin typeface="+mn-lt"/>
              </a:rPr>
              <a:t>l’</a:t>
            </a:r>
            <a:r>
              <a:rPr lang="fr-BE" b="0" i="0" u="none" dirty="0">
                <a:solidFill>
                  <a:schemeClr val="tx1"/>
                </a:solidFill>
                <a:effectLst/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UX de l’application front-end</a:t>
            </a:r>
            <a:r>
              <a:rPr lang="fr-BE" b="0" i="0" u="none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fr-BE" u="none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849E9A-41F7-4779-A581-48A7C374A227}" type="slidenum">
              <a:rPr lang="nl-NL" noProof="0" smtClean="0"/>
              <a:t>13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20686806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nl-NL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C849E9A-41F7-4779-A581-48A7C374A227}" type="slidenum">
              <a:rPr lang="nl-NL" smtClean="0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253411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001" dirty="0"/>
              <a:t>React: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001"/>
              <a:t>Facile </a:t>
            </a:r>
            <a:r>
              <a:rPr lang="nl-BE" dirty="0"/>
              <a:t>à</a:t>
            </a:r>
            <a:r>
              <a:rPr lang="en-001"/>
              <a:t> </a:t>
            </a:r>
            <a:r>
              <a:rPr lang="en-001" dirty="0" err="1"/>
              <a:t>mettre</a:t>
            </a:r>
            <a:r>
              <a:rPr lang="en-001" dirty="0"/>
              <a:t> </a:t>
            </a:r>
            <a:r>
              <a:rPr lang="en-001" dirty="0" err="1"/>
              <a:t>en</a:t>
            </a:r>
            <a:r>
              <a:rPr lang="en-001" dirty="0"/>
              <a:t> place des </a:t>
            </a:r>
            <a:r>
              <a:rPr lang="en-001"/>
              <a:t>interfaces r</a:t>
            </a:r>
            <a:r>
              <a:rPr lang="nl-BE" dirty="0"/>
              <a:t>é</a:t>
            </a:r>
            <a:r>
              <a:rPr lang="en-001"/>
              <a:t>actives </a:t>
            </a:r>
            <a:r>
              <a:rPr lang="en-001" dirty="0"/>
              <a:t>et des </a:t>
            </a:r>
            <a:r>
              <a:rPr lang="en-001" dirty="0" err="1"/>
              <a:t>composants</a:t>
            </a:r>
            <a:r>
              <a:rPr lang="en-001" dirty="0"/>
              <a:t> </a:t>
            </a:r>
            <a:r>
              <a:rPr lang="en-001" dirty="0" err="1"/>
              <a:t>facilement</a:t>
            </a:r>
            <a:r>
              <a:rPr lang="en-001" dirty="0"/>
              <a:t> </a:t>
            </a:r>
            <a:r>
              <a:rPr lang="en-001" dirty="0" err="1"/>
              <a:t>reutilisables</a:t>
            </a:r>
            <a:endParaRPr lang="en-00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001" dirty="0"/>
              <a:t>Difficile pour des </a:t>
            </a:r>
            <a:r>
              <a:rPr lang="en-001" dirty="0" err="1"/>
              <a:t>grandes</a:t>
            </a:r>
            <a:r>
              <a:rPr lang="en-001" dirty="0"/>
              <a:t> applications vu que </a:t>
            </a:r>
            <a:r>
              <a:rPr lang="en-001" dirty="0" err="1"/>
              <a:t>l’architecture</a:t>
            </a:r>
            <a:r>
              <a:rPr lang="en-001" dirty="0"/>
              <a:t> </a:t>
            </a:r>
            <a:r>
              <a:rPr lang="en-001" dirty="0" err="1"/>
              <a:t>est</a:t>
            </a:r>
            <a:r>
              <a:rPr lang="en-001" dirty="0"/>
              <a:t> </a:t>
            </a:r>
            <a:r>
              <a:rPr lang="en-001" dirty="0" err="1"/>
              <a:t>notre</a:t>
            </a:r>
            <a:r>
              <a:rPr lang="en-001" dirty="0"/>
              <a:t> </a:t>
            </a:r>
            <a:r>
              <a:rPr lang="en-001" dirty="0" err="1"/>
              <a:t>responsabilité</a:t>
            </a:r>
            <a:endParaRPr lang="en-001" dirty="0"/>
          </a:p>
          <a:p>
            <a:r>
              <a:rPr lang="en-001" dirty="0"/>
              <a:t>Angular: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001" err="1"/>
              <a:t>Apprendre</a:t>
            </a:r>
            <a:r>
              <a:rPr lang="en-001"/>
              <a:t> tous </a:t>
            </a:r>
            <a:r>
              <a:rPr lang="en-001" dirty="0"/>
              <a:t>les concepts </a:t>
            </a:r>
            <a:r>
              <a:rPr lang="en-001"/>
              <a:t>et </a:t>
            </a:r>
            <a:r>
              <a:rPr lang="fr-BE" dirty="0" err="1"/>
              <a:t>ê</a:t>
            </a:r>
            <a:r>
              <a:rPr lang="en-001"/>
              <a:t>tre </a:t>
            </a:r>
            <a:r>
              <a:rPr lang="nl-BE" dirty="0"/>
              <a:t>à</a:t>
            </a:r>
            <a:r>
              <a:rPr lang="en-001"/>
              <a:t> </a:t>
            </a:r>
            <a:r>
              <a:rPr lang="en-001" dirty="0" err="1"/>
              <a:t>l’aise</a:t>
            </a:r>
            <a:r>
              <a:rPr lang="en-001" dirty="0"/>
              <a:t> </a:t>
            </a:r>
            <a:r>
              <a:rPr lang="en-001" dirty="0" err="1"/>
              <a:t>prend</a:t>
            </a:r>
            <a:r>
              <a:rPr lang="en-001" dirty="0"/>
              <a:t> du temps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001"/>
              <a:t>Mise </a:t>
            </a:r>
            <a:r>
              <a:rPr lang="en-001" dirty="0"/>
              <a:t>a jour </a:t>
            </a:r>
            <a:r>
              <a:rPr lang="en-001" dirty="0" err="1"/>
              <a:t>tous</a:t>
            </a:r>
            <a:r>
              <a:rPr lang="en-001" dirty="0"/>
              <a:t> les 6 </a:t>
            </a:r>
            <a:r>
              <a:rPr lang="en-001" dirty="0" err="1"/>
              <a:t>mois</a:t>
            </a:r>
            <a:r>
              <a:rPr lang="en-001" dirty="0"/>
              <a:t> </a:t>
            </a:r>
            <a:r>
              <a:rPr lang="en-001"/>
              <a:t>qui n</a:t>
            </a:r>
            <a:r>
              <a:rPr lang="nl-BE" dirty="0"/>
              <a:t>é</a:t>
            </a:r>
            <a:r>
              <a:rPr lang="en-001"/>
              <a:t>cessitent </a:t>
            </a:r>
            <a:r>
              <a:rPr lang="en-001" err="1"/>
              <a:t>parfois</a:t>
            </a:r>
            <a:r>
              <a:rPr lang="en-001"/>
              <a:t> bea</a:t>
            </a:r>
            <a:r>
              <a:rPr lang="nl-BE" dirty="0"/>
              <a:t>u</a:t>
            </a:r>
            <a:r>
              <a:rPr lang="en-001"/>
              <a:t>coup </a:t>
            </a:r>
            <a:r>
              <a:rPr lang="en-001" dirty="0"/>
              <a:t>de modifications</a:t>
            </a:r>
          </a:p>
          <a:p>
            <a:r>
              <a:rPr lang="en-001" dirty="0"/>
              <a:t>Vue: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001" dirty="0"/>
              <a:t>On </a:t>
            </a:r>
            <a:r>
              <a:rPr lang="en-001" dirty="0" err="1"/>
              <a:t>peut</a:t>
            </a:r>
            <a:r>
              <a:rPr lang="en-001" dirty="0"/>
              <a:t> faire beaucoup des choses </a:t>
            </a:r>
            <a:r>
              <a:rPr lang="en-001" dirty="0" err="1"/>
              <a:t>assez</a:t>
            </a:r>
            <a:r>
              <a:rPr lang="en-001" dirty="0"/>
              <a:t> </a:t>
            </a:r>
            <a:r>
              <a:rPr lang="en-001" dirty="0" err="1"/>
              <a:t>vite</a:t>
            </a:r>
            <a:r>
              <a:rPr lang="en-001" dirty="0"/>
              <a:t> et </a:t>
            </a:r>
            <a:r>
              <a:rPr lang="en-001"/>
              <a:t>continuer </a:t>
            </a:r>
            <a:r>
              <a:rPr lang="nl-BE" dirty="0"/>
              <a:t>à</a:t>
            </a:r>
            <a:r>
              <a:rPr lang="en-001"/>
              <a:t> </a:t>
            </a:r>
            <a:r>
              <a:rPr lang="en-001" dirty="0" err="1"/>
              <a:t>apprendre</a:t>
            </a:r>
            <a:r>
              <a:rPr lang="en-001" dirty="0"/>
              <a:t> </a:t>
            </a:r>
            <a:r>
              <a:rPr lang="en-001"/>
              <a:t>les diff</a:t>
            </a:r>
            <a:r>
              <a:rPr lang="nl-BE" dirty="0"/>
              <a:t>é</a:t>
            </a:r>
            <a:r>
              <a:rPr lang="en-001"/>
              <a:t>rentes </a:t>
            </a:r>
            <a:r>
              <a:rPr lang="en-001" dirty="0" err="1"/>
              <a:t>librairies</a:t>
            </a:r>
            <a:r>
              <a:rPr lang="en-001" dirty="0"/>
              <a:t> par après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001" err="1"/>
              <a:t>Peut</a:t>
            </a:r>
            <a:r>
              <a:rPr lang="en-001"/>
              <a:t> </a:t>
            </a:r>
            <a:r>
              <a:rPr lang="fr-BE" dirty="0" err="1"/>
              <a:t>ê</a:t>
            </a:r>
            <a:r>
              <a:rPr lang="en-001"/>
              <a:t>tre </a:t>
            </a:r>
            <a:r>
              <a:rPr lang="en-001" err="1"/>
              <a:t>complexe</a:t>
            </a:r>
            <a:r>
              <a:rPr lang="en-001"/>
              <a:t> </a:t>
            </a:r>
            <a:r>
              <a:rPr lang="nl-BE" dirty="0"/>
              <a:t>à</a:t>
            </a:r>
            <a:r>
              <a:rPr lang="en-001"/>
              <a:t> </a:t>
            </a:r>
            <a:r>
              <a:rPr lang="en-001" dirty="0" err="1"/>
              <a:t>maintenir</a:t>
            </a:r>
            <a:r>
              <a:rPr lang="en-001" dirty="0"/>
              <a:t> </a:t>
            </a:r>
            <a:r>
              <a:rPr lang="en-001" dirty="0" err="1"/>
              <a:t>l’application</a:t>
            </a:r>
            <a:endParaRPr lang="fr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849E9A-41F7-4779-A581-48A7C374A227}" type="slidenum">
              <a:rPr lang="nl-NL" noProof="0" smtClean="0"/>
              <a:t>15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1091187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b">
            <a:normAutofit/>
          </a:bodyPr>
          <a:lstStyle>
            <a:lvl1pPr algn="ctr">
              <a:defRPr lang="fr-BE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8EFA58-10A1-BAA7-B65E-A754A43B7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4B8606-B65F-6EB2-899E-91B5C83E7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2FA919-3ED3-80D3-E61B-53F97BE66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27274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68EF8D-0946-4672-F93D-1040FBC99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F8A40D7-7FAD-432F-7B9F-71125A565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4A3E5DF-3F32-A840-9AC0-4B04DF13C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49464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lang="fr-BE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83B7C617-6903-4988-8F47-3C72C68028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2160000" cy="216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D67B63-F450-35EF-442C-62311487D2F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BC20ED6-7274-FD2F-773B-9069D53732E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B282271-26EC-908B-2E9D-6EE95CFBEB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76411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544704"/>
            <a:ext cx="10515600" cy="1628211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 dirty="0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4FDD30A2-EFB1-4B31-8365-64458F4E13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1440000" cy="144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8BD7575-5E4D-B6F7-D511-002E7EBB1A2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57AA542-0BD3-6896-CFBC-925661457ED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1D4A95-E4A4-1574-4F11-DE8F196135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85747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90689"/>
            <a:ext cx="5181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90689"/>
            <a:ext cx="5181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23EE368-836F-D6B7-3720-94E515B8E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40FC0D1-460C-5274-B67A-CADD30115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D5E82B2-87DB-8B8E-12FD-843E8135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62045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>
                <a:solidFill>
                  <a:schemeClr val="accent5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fr-FR" sz="2800" b="1">
                <a:solidFill>
                  <a:schemeClr val="accent5"/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605DBAD-E815-DA9F-C843-1DE122AA5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344211E-58E3-3B61-D18C-DCC7772A0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5F2F6A2-3605-D138-CBD4-299C105E1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32305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B23E5C8-1D92-E25A-D482-9866759B5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5ACAADE-10AC-A5C6-B021-C668BC206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4BD460E-C94D-0F17-7C77-D32F9CC12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51765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1488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57200"/>
            <a:ext cx="6172200" cy="54038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33BACDB-1022-3581-CB46-1F85D7025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C8F4609-0312-F825-CC91-FAC10F330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1F0E555-3A77-670E-9C69-DE1D8DE23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17668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userDrawn="1">
  <p:cSld name="1_Compara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4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3419999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46"/>
          <p:cNvSpPr txBox="1">
            <a:spLocks noGrp="1"/>
          </p:cNvSpPr>
          <p:nvPr>
            <p:ph type="body" idx="3"/>
          </p:nvPr>
        </p:nvSpPr>
        <p:spPr>
          <a:xfrm>
            <a:off x="4394864" y="1677195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46"/>
          <p:cNvSpPr txBox="1">
            <a:spLocks noGrp="1"/>
          </p:cNvSpPr>
          <p:nvPr>
            <p:ph type="body" idx="4"/>
          </p:nvPr>
        </p:nvSpPr>
        <p:spPr>
          <a:xfrm>
            <a:off x="4394863" y="2501107"/>
            <a:ext cx="3419999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44;p146">
            <a:extLst>
              <a:ext uri="{FF2B5EF4-FFF2-40B4-BE49-F238E27FC236}">
                <a16:creationId xmlns:a16="http://schemas.microsoft.com/office/drawing/2014/main" id="{2E687717-1647-0388-990E-8851C964199E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7949940" y="1690688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" name="Google Shape;45;p146">
            <a:extLst>
              <a:ext uri="{FF2B5EF4-FFF2-40B4-BE49-F238E27FC236}">
                <a16:creationId xmlns:a16="http://schemas.microsoft.com/office/drawing/2014/main" id="{D8C59DA1-11B0-4EEA-43AC-8402AF228130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7949937" y="2529543"/>
            <a:ext cx="3433923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3852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73148E-CCCA-4F1F-A836-655D884BBF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952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E29B381-A1A5-FC30-27CA-947A269038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BFB2116-0A00-B6AB-43FF-F23B8EB09A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87028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53" r:id="rId3"/>
    <p:sldLayoutId id="2147483852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4" r:id="rId10"/>
  </p:sldLayoutIdLst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5"/>
          </a:solidFill>
          <a:latin typeface="+mn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>
            <a:spLocks noGrp="1"/>
          </p:cNvSpPr>
          <p:nvPr>
            <p:ph type="ctr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fr-BE" dirty="0"/>
              <a:t>Bachelier en Informatique de Gestion</a:t>
            </a:r>
            <a:br>
              <a:rPr lang="fr-BE" dirty="0"/>
            </a:br>
            <a:br>
              <a:rPr lang="fr-BE"/>
            </a:br>
            <a:r>
              <a:rPr lang="fr-BE"/>
              <a:t>Web </a:t>
            </a:r>
            <a:r>
              <a:rPr lang="fr-BE" dirty="0"/>
              <a:t>: principes </a:t>
            </a:r>
            <a:r>
              <a:rPr lang="fr-BE"/>
              <a:t>de base</a:t>
            </a:r>
            <a:br>
              <a:rPr lang="fr-BE"/>
            </a:br>
            <a:r>
              <a:rPr lang="fr-BE"/>
              <a:t>Projet de Développement Web</a:t>
            </a:r>
            <a:endParaRPr lang="fr-BE" dirty="0"/>
          </a:p>
        </p:txBody>
      </p:sp>
      <p:sp>
        <p:nvSpPr>
          <p:cNvPr id="57" name="Google Shape;57;p1"/>
          <p:cNvSpPr txBox="1">
            <a:spLocks noGrp="1"/>
          </p:cNvSpPr>
          <p:nvPr>
            <p:ph type="subTitle" idx="1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fr-BE" dirty="0"/>
              <a:t>Enseignement supérieur économique de type court</a:t>
            </a:r>
          </a:p>
          <a:p>
            <a:pPr lvl="0"/>
            <a:r>
              <a:rPr lang="fr-BE" dirty="0"/>
              <a:t>Code </a:t>
            </a:r>
            <a:r>
              <a:rPr lang="fr-BE" dirty="0" err="1"/>
              <a:t>FWB</a:t>
            </a:r>
            <a:r>
              <a:rPr lang="fr-BE"/>
              <a:t> : 7534 29 U32 D1, 7534 30 U32 D3</a:t>
            </a:r>
          </a:p>
          <a:p>
            <a:pPr lvl="0"/>
            <a:r>
              <a:rPr lang="fr-BE"/>
              <a:t>Code ISFCE : 4IWPB, 4IPW3</a:t>
            </a:r>
          </a:p>
          <a:p>
            <a:pPr lvl="0"/>
            <a:endParaRPr lang="fr-BE"/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06447" y="5094815"/>
            <a:ext cx="1674557" cy="1674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Table des matières</a:t>
            </a:r>
          </a:p>
        </p:txBody>
      </p:sp>
      <p:sp>
        <p:nvSpPr>
          <p:cNvPr id="119" name="Google Shape;119;p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3420000" cy="676143"/>
          </a:xfrm>
          <a:noFill/>
          <a:ln>
            <a:noFill/>
          </a:ln>
        </p:spPr>
        <p:txBody>
          <a:bodyPr spcFirstLastPara="1" wrap="square" lIns="91425" tIns="45700" rIns="91425" bIns="45700" numCol="1" anchor="t" anchorCtr="0">
            <a:normAutofit/>
          </a:bodyPr>
          <a:lstStyle/>
          <a:p>
            <a:pPr lvl="0"/>
            <a:r>
              <a:rPr lang="fr-FR"/>
              <a:t>Généralités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D1162652-D4A8-152D-F88F-9B8516AF877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353338"/>
            <a:ext cx="3419999" cy="383632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fr-BE" sz="2400"/>
              <a:t>01. Introduction au web</a:t>
            </a:r>
          </a:p>
          <a:p>
            <a:pPr marL="114300" indent="0">
              <a:buNone/>
            </a:pPr>
            <a:r>
              <a:rPr lang="fr-BE" sz="2400"/>
              <a:t>03. Outils</a:t>
            </a:r>
          </a:p>
          <a:p>
            <a:pPr marL="114300" indent="0">
              <a:buNone/>
            </a:pPr>
            <a:r>
              <a:rPr lang="fr-BE" sz="2400"/>
              <a:t>05. Format XML</a:t>
            </a:r>
          </a:p>
          <a:p>
            <a:pPr marL="114300" indent="0">
              <a:buNone/>
            </a:pPr>
            <a:r>
              <a:rPr lang="fr-BE" sz="2400"/>
              <a:t>06. Format JSON</a:t>
            </a:r>
          </a:p>
          <a:p>
            <a:pPr marL="114300" indent="0">
              <a:buNone/>
            </a:pPr>
            <a:endParaRPr lang="fr-BE" sz="24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06D5135-B8A1-9E24-38EE-4C72679CDE7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394864" y="1677195"/>
            <a:ext cx="3420000" cy="676143"/>
          </a:xfrm>
        </p:spPr>
        <p:txBody>
          <a:bodyPr anchor="t"/>
          <a:lstStyle/>
          <a:p>
            <a:pPr lvl="0"/>
            <a:r>
              <a:rPr lang="fr-FR"/>
              <a:t>Front-End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7D87172-3FAF-5725-E789-9405D66598A7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394863" y="2357306"/>
            <a:ext cx="3419999" cy="3828389"/>
          </a:xfrm>
        </p:spPr>
        <p:txBody>
          <a:bodyPr>
            <a:normAutofit/>
          </a:bodyPr>
          <a:lstStyle/>
          <a:p>
            <a:pPr marL="114300" lvl="0" indent="0">
              <a:buNone/>
            </a:pPr>
            <a:r>
              <a:rPr lang="fr-BE" sz="2400"/>
              <a:t>12. Structure HTML </a:t>
            </a:r>
          </a:p>
          <a:p>
            <a:pPr marL="114300" indent="0">
              <a:buNone/>
            </a:pPr>
            <a:r>
              <a:rPr lang="fr-BE" sz="2400"/>
              <a:t>13. Formulaire HTML</a:t>
            </a:r>
          </a:p>
          <a:p>
            <a:pPr marL="114300" lvl="0" indent="0">
              <a:buNone/>
            </a:pPr>
            <a:r>
              <a:rPr lang="fr-BE" sz="2400"/>
              <a:t>14. Mise en forme CSS</a:t>
            </a:r>
          </a:p>
          <a:p>
            <a:pPr marL="114300" lvl="0" indent="0">
              <a:buNone/>
            </a:pPr>
            <a:r>
              <a:rPr lang="fr-BE" sz="2400"/>
              <a:t>15. Adaptabilité</a:t>
            </a:r>
          </a:p>
          <a:p>
            <a:pPr marL="114300" lvl="0" indent="0">
              <a:buNone/>
            </a:pPr>
            <a:r>
              <a:rPr lang="fr-BE" sz="2400"/>
              <a:t>17. Javascript</a:t>
            </a:r>
          </a:p>
          <a:p>
            <a:pPr marL="114300" lvl="0" indent="0">
              <a:buNone/>
            </a:pPr>
            <a:r>
              <a:rPr lang="fr-BE" sz="2400"/>
              <a:t>18. Bibliothèque jQuery</a:t>
            </a:r>
          </a:p>
          <a:p>
            <a:pPr marL="114300" lvl="0" indent="0">
              <a:buNone/>
            </a:pPr>
            <a:r>
              <a:rPr lang="fr-BE" sz="2400">
                <a:solidFill>
                  <a:schemeClr val="accent2"/>
                </a:solidFill>
              </a:rPr>
              <a:t>19. Composant Vue.js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A5FC1231-1E2C-7231-4486-8114EAEE6AAF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7949940" y="1690688"/>
            <a:ext cx="3420000" cy="662650"/>
          </a:xfrm>
        </p:spPr>
        <p:txBody>
          <a:bodyPr anchor="t"/>
          <a:lstStyle/>
          <a:p>
            <a:r>
              <a:rPr lang="fr-BE"/>
              <a:t>Back-End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EDB2CC52-B967-555D-C3A7-C4B10EB02D18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7949937" y="2377806"/>
            <a:ext cx="3433923" cy="3836325"/>
          </a:xfrm>
        </p:spPr>
        <p:txBody>
          <a:bodyPr>
            <a:normAutofit lnSpcReduction="10000"/>
          </a:bodyPr>
          <a:lstStyle/>
          <a:p>
            <a:pPr marL="114300" lvl="0" indent="0">
              <a:buNone/>
            </a:pPr>
            <a:r>
              <a:rPr lang="fr-BE" sz="2400"/>
              <a:t>21. Middleware PHP</a:t>
            </a:r>
          </a:p>
          <a:p>
            <a:pPr marL="114300" indent="0">
              <a:buNone/>
            </a:pPr>
            <a:r>
              <a:rPr lang="fr-BE" sz="2400"/>
              <a:t>22. Traitement du formulaire</a:t>
            </a:r>
          </a:p>
          <a:p>
            <a:pPr marL="114300" lvl="0" indent="0">
              <a:buNone/>
            </a:pPr>
            <a:r>
              <a:rPr lang="fr-BE" sz="2400"/>
              <a:t>23. Architecture MVC</a:t>
            </a:r>
          </a:p>
          <a:p>
            <a:pPr marL="114300" lvl="0" indent="0">
              <a:buNone/>
            </a:pPr>
            <a:r>
              <a:rPr lang="fr-BE" sz="2400"/>
              <a:t>24. Données SQL</a:t>
            </a:r>
          </a:p>
          <a:p>
            <a:pPr marL="114300" lvl="0" indent="0">
              <a:buNone/>
            </a:pPr>
            <a:r>
              <a:rPr lang="fr-BE" sz="2400"/>
              <a:t>25. Données NoSQL</a:t>
            </a:r>
          </a:p>
          <a:p>
            <a:pPr marL="114300" lvl="0" indent="0">
              <a:buNone/>
            </a:pPr>
            <a:endParaRPr lang="fr-BE" sz="2400"/>
          </a:p>
          <a:p>
            <a:pPr marL="114300" lvl="0" indent="0">
              <a:buNone/>
            </a:pPr>
            <a:endParaRPr lang="fr-BE" sz="2400"/>
          </a:p>
          <a:p>
            <a:pPr marL="114300" indent="0">
              <a:buNone/>
            </a:pPr>
            <a:r>
              <a:rPr lang="fr-BE" sz="2400"/>
              <a:t>31. Requête asynchrone</a:t>
            </a:r>
          </a:p>
          <a:p>
            <a:pPr marL="114300" indent="0">
              <a:buNone/>
            </a:pPr>
            <a:endParaRPr lang="fr-BE" sz="2400"/>
          </a:p>
        </p:txBody>
      </p:sp>
      <p:sp>
        <p:nvSpPr>
          <p:cNvPr id="5" name="Espace réservé du texte 9">
            <a:extLst>
              <a:ext uri="{FF2B5EF4-FFF2-40B4-BE49-F238E27FC236}">
                <a16:creationId xmlns:a16="http://schemas.microsoft.com/office/drawing/2014/main" id="{F7F80AB2-1A54-F3C7-63AD-635689291298}"/>
              </a:ext>
            </a:extLst>
          </p:cNvPr>
          <p:cNvSpPr txBox="1">
            <a:spLocks/>
          </p:cNvSpPr>
          <p:nvPr/>
        </p:nvSpPr>
        <p:spPr>
          <a:xfrm>
            <a:off x="7932738" y="5026572"/>
            <a:ext cx="3751261" cy="8239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457200" lvl="0" indent="-228600" algn="l" defTabSz="914377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lvl="1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/>
              <a:t>Single Page Application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293578-CD7D-FAC5-AA2E-4F5BD0B2B2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BE"/>
              <a:t>19. Component-Based Design</a:t>
            </a:r>
          </a:p>
        </p:txBody>
      </p:sp>
      <p:sp>
        <p:nvSpPr>
          <p:cNvPr id="6" name="Sous-titre 5">
            <a:extLst>
              <a:ext uri="{FF2B5EF4-FFF2-40B4-BE49-F238E27FC236}">
                <a16:creationId xmlns:a16="http://schemas.microsoft.com/office/drawing/2014/main" id="{9AE720E1-C87A-8844-FA40-2EF65AB306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numCol="3"/>
          <a:lstStyle/>
          <a:p>
            <a:r>
              <a:rPr lang="fr-BE"/>
              <a:t>Motivation</a:t>
            </a:r>
          </a:p>
          <a:p>
            <a:r>
              <a:rPr lang="fr-BE"/>
              <a:t>Etat de l'art</a:t>
            </a:r>
          </a:p>
          <a:p>
            <a:r>
              <a:rPr lang="fr-BE"/>
              <a:t>Vue.js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C9D47C-EED2-FEAC-921E-6D8F1F317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88841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BC41D157-E588-EF0B-55E1-17D3DE489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Etat de l'Art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86BC49CF-8D5A-CD36-A803-8053F67958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3" name="Espace réservé pour une image  2" descr="Une image contenant Graphique, Caractère coloré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0C74FDC0-4040-CAEB-9A3C-C1CC3D7A50B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" b="37"/>
          <a:stretch>
            <a:fillRect/>
          </a:stretch>
        </p:blipFill>
        <p:spPr>
          <a:xfrm>
            <a:off x="9022302" y="768349"/>
            <a:ext cx="2160000" cy="2160000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117F3D7-38BE-CD0D-E215-7AE465B6C4C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4</a:t>
            </a:fld>
            <a:endParaRPr lang="fr-BE"/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5176AC30-B63C-01A3-5076-CB4D4D999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99" y="334953"/>
            <a:ext cx="2801155" cy="2801155"/>
          </a:xfrm>
          <a:prstGeom prst="rect">
            <a:avLst/>
          </a:prstGeom>
        </p:spPr>
      </p:pic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EAB85587-100C-F868-A557-CF181B3551B8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549121" y="1"/>
            <a:ext cx="3429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729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DEFDDD2D-B7EB-E785-8D24-60E57C0DB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Qu’est-ce qu’un composant ?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A846A956-7915-E9F9-4825-3FD122D9E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BE"/>
              <a:t>Contexte : Single Page Application</a:t>
            </a:r>
          </a:p>
          <a:p>
            <a:r>
              <a:rPr lang="fr-BE"/>
              <a:t>Brique de base d’une interface utilisateur</a:t>
            </a:r>
          </a:p>
          <a:p>
            <a:pPr lvl="1"/>
            <a:r>
              <a:rPr lang="fr-BE"/>
              <a:t>exemple : un bouton, une carte, un menu</a:t>
            </a:r>
          </a:p>
          <a:p>
            <a:r>
              <a:rPr lang="fr-BE"/>
              <a:t>Analogie : </a:t>
            </a:r>
          </a:p>
          <a:p>
            <a:pPr lvl="1"/>
            <a:r>
              <a:rPr lang="fr-BE"/>
              <a:t>Lego®</a:t>
            </a:r>
          </a:p>
          <a:p>
            <a:pPr lvl="1"/>
            <a:r>
              <a:rPr lang="fr-BE"/>
              <a:t>assemblage de petits éléments pour construire un tout</a:t>
            </a:r>
          </a:p>
          <a:p>
            <a:r>
              <a:rPr lang="fr-BE"/>
              <a:t>Pourquoi utiliser des composants ?</a:t>
            </a:r>
          </a:p>
          <a:p>
            <a:pPr lvl="1"/>
            <a:r>
              <a:rPr lang="fr-BE"/>
              <a:t>réutilisabilité</a:t>
            </a:r>
          </a:p>
          <a:p>
            <a:pPr lvl="1"/>
            <a:r>
              <a:rPr lang="fr-BE"/>
              <a:t>modularité</a:t>
            </a:r>
          </a:p>
          <a:p>
            <a:pPr lvl="1"/>
            <a:r>
              <a:rPr lang="fr-BE"/>
              <a:t>maintenance simplifiée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C45E3C2-02BC-E22C-31BD-98DE7B143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5</a:t>
            </a:fld>
            <a:endParaRPr lang="fr-BE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0D47E4E-0E23-17D5-A101-7375EC3836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52" r="61930" b="27155"/>
          <a:stretch>
            <a:fillRect/>
          </a:stretch>
        </p:blipFill>
        <p:spPr bwMode="auto">
          <a:xfrm>
            <a:off x="8811207" y="133349"/>
            <a:ext cx="2743200" cy="3305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4548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C36B2C-8B57-D891-EF8E-0B95F5127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Exemples	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2682755-2055-9D4D-61AF-F86622935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6</a:t>
            </a:fld>
            <a:endParaRPr lang="fr-BE"/>
          </a:p>
        </p:txBody>
      </p:sp>
      <p:pic>
        <p:nvPicPr>
          <p:cNvPr id="1026" name="Picture 2" descr="enter image description here">
            <a:extLst>
              <a:ext uri="{FF2B5EF4-FFF2-40B4-BE49-F238E27FC236}">
                <a16:creationId xmlns:a16="http://schemas.microsoft.com/office/drawing/2014/main" id="{5620E3EB-3FB5-BDA3-3C3D-3D3048A023F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383" y="1690688"/>
            <a:ext cx="4960955" cy="2123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5AAE935B-2C29-75A4-3700-F743E4142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9018" y="365125"/>
            <a:ext cx="4042252" cy="227771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9B8B9433-4F15-C54B-B3E2-864D03C045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9018" y="2851848"/>
            <a:ext cx="4042253" cy="2277715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56997741-FD37-0D92-435D-C24EB325086C}"/>
              </a:ext>
            </a:extLst>
          </p:cNvPr>
          <p:cNvSpPr txBox="1"/>
          <p:nvPr/>
        </p:nvSpPr>
        <p:spPr>
          <a:xfrm>
            <a:off x="10468135" y="1389805"/>
            <a:ext cx="1494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/>
              <a:t>"inbox"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E4DEFCD-AD80-3741-D473-E0731C8EBB4A}"/>
              </a:ext>
            </a:extLst>
          </p:cNvPr>
          <p:cNvSpPr txBox="1"/>
          <p:nvPr/>
        </p:nvSpPr>
        <p:spPr>
          <a:xfrm>
            <a:off x="10468135" y="3652935"/>
            <a:ext cx="1494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/>
              <a:t>"discord"</a:t>
            </a:r>
          </a:p>
        </p:txBody>
      </p:sp>
    </p:spTree>
    <p:extLst>
      <p:ext uri="{BB962C8B-B14F-4D97-AF65-F5344CB8AC3E}">
        <p14:creationId xmlns:p14="http://schemas.microsoft.com/office/powerpoint/2010/main" val="1369103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805DF1-8173-CAFC-686C-BD1DC8558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Exemples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E82F726-3B90-AEA1-8BC5-58AE66A5A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7</a:t>
            </a:fld>
            <a:endParaRPr lang="fr-BE"/>
          </a:p>
        </p:txBody>
      </p:sp>
      <p:pic>
        <p:nvPicPr>
          <p:cNvPr id="1026" name="Picture 2" descr="site Amazon">
            <a:extLst>
              <a:ext uri="{FF2B5EF4-FFF2-40B4-BE49-F238E27FC236}">
                <a16:creationId xmlns:a16="http://schemas.microsoft.com/office/drawing/2014/main" id="{4020E617-5FC6-F445-43B7-BC95CC69114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2054" y="1690688"/>
            <a:ext cx="9187891" cy="448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7184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90F8BB-5BBB-583C-A93E-8AFC34570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Les composants, l'avenir du "front-end"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D4229E8-E1F3-8B24-0E08-B76457F731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BE"/>
              <a:t>Modularité et réutilisabilité</a:t>
            </a:r>
          </a:p>
          <a:p>
            <a:pPr lvl="1"/>
            <a:r>
              <a:rPr lang="fr-BE"/>
              <a:t>Problème</a:t>
            </a:r>
          </a:p>
          <a:p>
            <a:pPr lvl="2"/>
            <a:r>
              <a:rPr lang="fr-BE"/>
              <a:t>avant, interfaces monolithiques, difficiles à maintenir</a:t>
            </a:r>
          </a:p>
          <a:p>
            <a:pPr lvl="2"/>
            <a:r>
              <a:rPr lang="fr-BE"/>
              <a:t>fichier HTML/CSS/JS géants</a:t>
            </a:r>
          </a:p>
          <a:p>
            <a:pPr lvl="1"/>
            <a:r>
              <a:rPr lang="fr-BE"/>
              <a:t>Solution</a:t>
            </a:r>
          </a:p>
          <a:p>
            <a:pPr lvl="2"/>
            <a:r>
              <a:rPr lang="fr-BE"/>
              <a:t>composants =&gt; découper l’interface en petits blocs réutilisables</a:t>
            </a:r>
          </a:p>
          <a:p>
            <a:pPr lvl="2"/>
            <a:r>
              <a:rPr lang="fr-BE"/>
              <a:t>exemples : un bouton "print", une barre de navigation</a:t>
            </a:r>
          </a:p>
          <a:p>
            <a:r>
              <a:rPr lang="fr-BE"/>
              <a:t>Collaboration facilitée</a:t>
            </a:r>
          </a:p>
          <a:p>
            <a:pPr lvl="1"/>
            <a:r>
              <a:rPr lang="fr-BE"/>
              <a:t>Travail en équipe</a:t>
            </a:r>
          </a:p>
          <a:p>
            <a:pPr lvl="2"/>
            <a:r>
              <a:rPr lang="fr-BE"/>
              <a:t>Chaque développeur peut travailler sur un composant différent sans conflit.</a:t>
            </a:r>
          </a:p>
          <a:p>
            <a:pPr lvl="1"/>
            <a:r>
              <a:rPr lang="fr-BE"/>
              <a:t>Exemple</a:t>
            </a:r>
          </a:p>
          <a:p>
            <a:pPr lvl="2"/>
            <a:r>
              <a:rPr lang="fr-BE"/>
              <a:t>Une équipe de 5 personnes peut développer une application en parallèle (un composant par personne).</a:t>
            </a:r>
          </a:p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D84ADD2-C596-DAC8-BE42-48C83B9B8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205148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0F377-462B-B60F-860B-225EAB98C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28D03C-A8AE-20E4-D975-4EC4A2001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Les composants, l'avenir du "front-end"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C8D7177-4302-D265-0088-7B364E1AF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BE"/>
              <a:t>Maintenance simplifiée</a:t>
            </a:r>
          </a:p>
          <a:p>
            <a:pPr lvl="1"/>
            <a:r>
              <a:rPr lang="fr-BE"/>
              <a:t>Mise à jour ciblée</a:t>
            </a:r>
          </a:p>
          <a:p>
            <a:pPr lvl="2"/>
            <a:r>
              <a:rPr lang="fr-BE"/>
              <a:t>Modifier un composant n'interfère pas avec le reste de l’application.</a:t>
            </a:r>
          </a:p>
          <a:p>
            <a:pPr lvl="1"/>
            <a:r>
              <a:rPr lang="fr-BE"/>
              <a:t>Exemple</a:t>
            </a:r>
          </a:p>
          <a:p>
            <a:pPr lvl="2"/>
            <a:r>
              <a:rPr lang="fr-BE"/>
              <a:t>Changer le style d’un bouton se fait en un seul endroit, même s’il est utilisé 100 fois.</a:t>
            </a:r>
          </a:p>
          <a:p>
            <a:r>
              <a:rPr lang="fr-BE"/>
              <a:t>Écosystème et communauté</a:t>
            </a:r>
          </a:p>
          <a:p>
            <a:pPr lvl="1"/>
            <a:r>
              <a:rPr lang="fr-BE"/>
              <a:t>Bibliothèques de composants</a:t>
            </a:r>
          </a:p>
          <a:p>
            <a:pPr lvl="2"/>
            <a:r>
              <a:rPr lang="fr-BE"/>
              <a:t>milliers de composants disponibles</a:t>
            </a:r>
          </a:p>
          <a:p>
            <a:pPr lvl="1"/>
            <a:r>
              <a:rPr lang="fr-BE"/>
              <a:t>Standardisation</a:t>
            </a:r>
          </a:p>
          <a:p>
            <a:pPr lvl="2"/>
            <a:r>
              <a:rPr lang="fr-BE"/>
              <a:t>frameworks modernes tous basés sur les composants</a:t>
            </a:r>
          </a:p>
          <a:p>
            <a:pPr lvl="2"/>
            <a:r>
              <a:rPr lang="fr-BE"/>
              <a:t>norme industrielle</a:t>
            </a:r>
          </a:p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48A4E10-ECB2-B8B6-C9F0-24CFE61BC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4014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C566D-05EB-5A22-6FF9-8E8AA0143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D55823-1399-932C-7067-3F856C300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Les composants, l'avenir du "front-end"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1812B0-566E-7CA3-258A-EC15E9C08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BE"/>
              <a:t>Adaptation aux besoins modernes</a:t>
            </a:r>
          </a:p>
          <a:p>
            <a:pPr lvl="1"/>
            <a:r>
              <a:rPr lang="fr-BE"/>
              <a:t>Applications complexes</a:t>
            </a:r>
          </a:p>
          <a:p>
            <a:pPr lvl="2"/>
            <a:r>
              <a:rPr lang="fr-BE"/>
              <a:t>gestion d'interfaces dynamiques</a:t>
            </a:r>
          </a:p>
          <a:p>
            <a:pPr lvl="2"/>
            <a:r>
              <a:rPr lang="fr-BE"/>
              <a:t>ex : réseaux sociaux, dashboards</a:t>
            </a:r>
          </a:p>
          <a:p>
            <a:pPr lvl="1"/>
            <a:r>
              <a:rPr lang="fr-BE"/>
              <a:t>Performance</a:t>
            </a:r>
          </a:p>
          <a:p>
            <a:pPr lvl="2"/>
            <a:r>
              <a:rPr lang="fr-BE"/>
              <a:t>uniquement composants nécessaires chargés</a:t>
            </a:r>
          </a:p>
          <a:p>
            <a:r>
              <a:rPr lang="fr-BE"/>
              <a:t>Apprentissage </a:t>
            </a:r>
          </a:p>
          <a:p>
            <a:pPr lvl="1"/>
            <a:r>
              <a:rPr lang="fr-BE"/>
              <a:t>Intégration facilitée des nouveaux collaborateurs</a:t>
            </a:r>
          </a:p>
          <a:p>
            <a:pPr lvl="2"/>
            <a:r>
              <a:rPr lang="fr-BE"/>
              <a:t>interface découpé en "morceaux logiques" plus facilement compréhensible</a:t>
            </a:r>
          </a:p>
          <a:p>
            <a:pPr marL="0" indent="0">
              <a:buNone/>
            </a:pPr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747B433-1742-D96B-4165-F7BB57C99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10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71162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B93305-9271-0A92-81EF-B94578045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React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7F9B9D-0685-A6B0-02A8-36C4C1737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Développé par Facebook</a:t>
            </a:r>
          </a:p>
          <a:p>
            <a:r>
              <a:rPr lang="fr-BE"/>
              <a:t>Introduction en 2013</a:t>
            </a:r>
          </a:p>
          <a:p>
            <a:r>
              <a:rPr lang="fr-BE"/>
              <a:t>Basé sur Javascript (syntaxe JSX)</a:t>
            </a:r>
          </a:p>
          <a:p>
            <a:r>
              <a:rPr lang="fr-BE"/>
              <a:t>Librairie JavaScript</a:t>
            </a:r>
          </a:p>
          <a:p>
            <a:r>
              <a:rPr lang="fr-BE"/>
              <a:t>Facilité de développement</a:t>
            </a:r>
          </a:p>
          <a:p>
            <a:r>
              <a:rPr lang="fr-BE"/>
              <a:t>Performance</a:t>
            </a:r>
          </a:p>
          <a:p>
            <a:r>
              <a:rPr lang="fr-BE"/>
              <a:t>Utilisé par Meta, Airbnb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A509160-B9E2-EFF4-1E53-E11E48DAD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11</a:t>
            </a:fld>
            <a:endParaRPr lang="fr-BE"/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9D0E33A5-0572-7BA2-3BD3-857034282F7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0" y="1738311"/>
            <a:ext cx="3429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002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1724421-66BA-93C8-89CA-B62F2D6B392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6723845" y="463641"/>
            <a:ext cx="5602309" cy="560230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19A3FF5-8F68-F776-254B-E6474875E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Angular: Introduction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C2E10D0-F879-BCFC-4122-0A2C358D3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Développé par Google</a:t>
            </a:r>
          </a:p>
          <a:p>
            <a:r>
              <a:rPr lang="fr-BE"/>
              <a:t>Introduction en 2010. Réécrit en 2016</a:t>
            </a:r>
          </a:p>
          <a:p>
            <a:r>
              <a:rPr lang="fr-BE"/>
              <a:t>Basé sur TypeScript</a:t>
            </a:r>
          </a:p>
          <a:p>
            <a:r>
              <a:rPr lang="fr-BE"/>
              <a:t>Framework complet</a:t>
            </a:r>
          </a:p>
          <a:p>
            <a:r>
              <a:rPr lang="fr-BE"/>
              <a:t>Structure claire et modulaire</a:t>
            </a:r>
          </a:p>
          <a:p>
            <a:r>
              <a:rPr lang="fr-BE"/>
              <a:t>Facilité de maintenance</a:t>
            </a:r>
          </a:p>
          <a:p>
            <a:r>
              <a:rPr lang="fr-BE"/>
              <a:t>Utilisé par Google, Microsoft</a:t>
            </a:r>
          </a:p>
        </p:txBody>
      </p:sp>
    </p:spTree>
    <p:extLst>
      <p:ext uri="{BB962C8B-B14F-4D97-AF65-F5344CB8AC3E}">
        <p14:creationId xmlns:p14="http://schemas.microsoft.com/office/powerpoint/2010/main" val="55605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82CA9F-78D7-E723-8B11-F15797CA240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316768" y="1661375"/>
            <a:ext cx="4502653" cy="390229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5672AEC6-C503-1D79-2590-7A04BE4B6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BE"/>
              <a:t>Vue: Introduction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A600F9-05ED-1716-83E1-0A9D53F57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</p:spPr>
        <p:txBody>
          <a:bodyPr>
            <a:normAutofit fontScale="92500" lnSpcReduction="10000"/>
          </a:bodyPr>
          <a:lstStyle/>
          <a:p>
            <a:r>
              <a:rPr lang="fr-BE"/>
              <a:t>Développé par Evan You (ancien employé de Google)</a:t>
            </a:r>
          </a:p>
          <a:p>
            <a:r>
              <a:rPr lang="fr-BE"/>
              <a:t>Introduction en 2013</a:t>
            </a:r>
          </a:p>
          <a:p>
            <a:r>
              <a:rPr lang="fr-BE"/>
              <a:t>Basé sur JavaScript</a:t>
            </a:r>
          </a:p>
          <a:p>
            <a:r>
              <a:rPr lang="fr-BE"/>
              <a:t>Framework progressif</a:t>
            </a:r>
          </a:p>
          <a:p>
            <a:r>
              <a:rPr lang="fr-BE"/>
              <a:t>Open Source</a:t>
            </a:r>
          </a:p>
          <a:p>
            <a:r>
              <a:rPr lang="fr-BE"/>
              <a:t>Faible courbe d'apprentissage</a:t>
            </a:r>
          </a:p>
          <a:p>
            <a:r>
              <a:rPr lang="fr-BE"/>
              <a:t>Performances</a:t>
            </a:r>
          </a:p>
          <a:p>
            <a:r>
              <a:rPr lang="fr-BE"/>
              <a:t>Utilisé par Alibaba, Xiaomi, Adobe</a:t>
            </a:r>
          </a:p>
        </p:txBody>
      </p:sp>
    </p:spTree>
    <p:extLst>
      <p:ext uri="{BB962C8B-B14F-4D97-AF65-F5344CB8AC3E}">
        <p14:creationId xmlns:p14="http://schemas.microsoft.com/office/powerpoint/2010/main" val="2008443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2428A815-A007-C1B9-A983-A0D1B0DAD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Comparaison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FB62074-203C-8FC4-BA53-5F130CE3B1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3814922"/>
              </p:ext>
            </p:extLst>
          </p:nvPr>
        </p:nvGraphicFramePr>
        <p:xfrm>
          <a:off x="838200" y="1690688"/>
          <a:ext cx="10515600" cy="451077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6722432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4836705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1875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16697553"/>
                    </a:ext>
                  </a:extLst>
                </a:gridCol>
              </a:tblGrid>
              <a:tr h="644397">
                <a:tc>
                  <a:txBody>
                    <a:bodyPr/>
                    <a:lstStyle/>
                    <a:p>
                      <a:pPr algn="ctr"/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001" dirty="0"/>
                        <a:t>React JS</a:t>
                      </a: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001" dirty="0"/>
                        <a:t>Angular</a:t>
                      </a: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001" dirty="0"/>
                        <a:t>Vue JS</a:t>
                      </a:r>
                      <a:endParaRPr lang="fr-B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8912692"/>
                  </a:ext>
                </a:extLst>
              </a:tr>
              <a:tr h="644397">
                <a:tc>
                  <a:txBody>
                    <a:bodyPr/>
                    <a:lstStyle/>
                    <a:p>
                      <a:pPr algn="ctr"/>
                      <a:r>
                        <a:rPr lang="en-001" dirty="0" err="1"/>
                        <a:t>Ecosystème</a:t>
                      </a:r>
                      <a:endParaRPr lang="en-00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001" dirty="0" err="1"/>
                        <a:t>Modulaire</a:t>
                      </a:r>
                      <a:r>
                        <a:rPr lang="en-001" dirty="0"/>
                        <a:t>, </a:t>
                      </a:r>
                      <a:r>
                        <a:rPr lang="en-001" dirty="0" err="1"/>
                        <a:t>Dynamique</a:t>
                      </a: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001" dirty="0" err="1"/>
                        <a:t>Robuste</a:t>
                      </a:r>
                      <a:r>
                        <a:rPr lang="en-001" dirty="0"/>
                        <a:t>, </a:t>
                      </a:r>
                      <a:r>
                        <a:rPr lang="en-001" dirty="0" err="1"/>
                        <a:t>Structuré</a:t>
                      </a: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001" dirty="0"/>
                        <a:t>Simple, Léger</a:t>
                      </a:r>
                      <a:endParaRPr lang="fr-B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8483262"/>
                  </a:ext>
                </a:extLst>
              </a:tr>
              <a:tr h="644397">
                <a:tc>
                  <a:txBody>
                    <a:bodyPr/>
                    <a:lstStyle/>
                    <a:p>
                      <a:pPr algn="ctr"/>
                      <a:r>
                        <a:rPr lang="fr-B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Courbe d'apprentissage</a:t>
                      </a: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Graduelle</a:t>
                      </a: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Prononcée</a:t>
                      </a: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Douce</a:t>
                      </a:r>
                      <a:endParaRPr lang="fr-B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1674160"/>
                  </a:ext>
                </a:extLst>
              </a:tr>
              <a:tr h="644397">
                <a:tc>
                  <a:txBody>
                    <a:bodyPr/>
                    <a:lstStyle/>
                    <a:p>
                      <a:pPr algn="ctr"/>
                      <a:r>
                        <a:rPr lang="en-001" dirty="0"/>
                        <a:t>Performances</a:t>
                      </a: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001" dirty="0"/>
                        <a:t>Rapides</a:t>
                      </a: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001" dirty="0" err="1"/>
                        <a:t>Acceptables</a:t>
                      </a: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001" dirty="0" err="1"/>
                        <a:t>Bonnes</a:t>
                      </a:r>
                      <a:endParaRPr lang="fr-B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6094685"/>
                  </a:ext>
                </a:extLst>
              </a:tr>
              <a:tr h="644397">
                <a:tc>
                  <a:txBody>
                    <a:bodyPr/>
                    <a:lstStyle/>
                    <a:p>
                      <a:pPr algn="ctr"/>
                      <a:r>
                        <a:rPr lang="en-001" dirty="0"/>
                        <a:t>Adoption</a:t>
                      </a: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001" dirty="0"/>
                        <a:t>Très </a:t>
                      </a:r>
                      <a:r>
                        <a:rPr lang="en-001" dirty="0" err="1"/>
                        <a:t>élevée</a:t>
                      </a: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001" dirty="0" err="1"/>
                        <a:t>Élevée</a:t>
                      </a: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001" dirty="0"/>
                        <a:t>En </a:t>
                      </a:r>
                      <a:r>
                        <a:rPr lang="en-001" dirty="0" err="1"/>
                        <a:t>croissance</a:t>
                      </a:r>
                      <a:endParaRPr lang="fr-B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2610237"/>
                  </a:ext>
                </a:extLst>
              </a:tr>
              <a:tr h="644397">
                <a:tc>
                  <a:txBody>
                    <a:bodyPr/>
                    <a:lstStyle/>
                    <a:p>
                      <a:pPr algn="ctr"/>
                      <a:r>
                        <a:rPr lang="en-001" dirty="0" err="1"/>
                        <a:t>Flexibilité</a:t>
                      </a: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001" dirty="0" err="1"/>
                        <a:t>Elevée</a:t>
                      </a: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001" dirty="0"/>
                        <a:t>Moyenne</a:t>
                      </a: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001" dirty="0" err="1"/>
                        <a:t>Élevée</a:t>
                      </a:r>
                      <a:endParaRPr lang="fr-B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990684"/>
                  </a:ext>
                </a:extLst>
              </a:tr>
              <a:tr h="644397">
                <a:tc>
                  <a:txBody>
                    <a:bodyPr/>
                    <a:lstStyle/>
                    <a:p>
                      <a:pPr algn="ctr"/>
                      <a:r>
                        <a:rPr lang="en-001" dirty="0" err="1"/>
                        <a:t>Communauté</a:t>
                      </a: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Large et solide</a:t>
                      </a:r>
                      <a:endParaRPr lang="fr-B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Grande et soutenue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En augmentation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0410063"/>
                  </a:ext>
                </a:extLst>
              </a:tr>
            </a:tbl>
          </a:graphicData>
        </a:graphic>
      </p:graphicFrame>
      <p:pic>
        <p:nvPicPr>
          <p:cNvPr id="6" name="Image 5" descr="Une image contenant Graphique, Caractère coloré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436D5A5F-53CC-8B3B-63A6-693A07FBD6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4251" y="1027906"/>
            <a:ext cx="641655" cy="641655"/>
          </a:xfrm>
          <a:prstGeom prst="rect">
            <a:avLst/>
          </a:prstGeom>
        </p:spPr>
      </p:pic>
      <p:pic>
        <p:nvPicPr>
          <p:cNvPr id="5" name="Image 4" descr="Une image contenant Police, Graphique, logo, symbole&#10;&#10;Le contenu généré par l’IA peut être incorrect.">
            <a:extLst>
              <a:ext uri="{FF2B5EF4-FFF2-40B4-BE49-F238E27FC236}">
                <a16:creationId xmlns:a16="http://schemas.microsoft.com/office/drawing/2014/main" id="{E236BB6C-0A6A-07A5-6471-80A3D7A208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336" b="-7645"/>
          <a:stretch>
            <a:fillRect/>
          </a:stretch>
        </p:blipFill>
        <p:spPr>
          <a:xfrm>
            <a:off x="4598296" y="1070451"/>
            <a:ext cx="641655" cy="599110"/>
          </a:xfrm>
          <a:prstGeom prst="rect">
            <a:avLst/>
          </a:prstGeom>
        </p:spPr>
      </p:pic>
      <p:pic>
        <p:nvPicPr>
          <p:cNvPr id="10" name="Image 9" descr="Une image contenant symbole, triangle&#10;&#10;Le contenu généré par l’IA peut être incorrect.">
            <a:extLst>
              <a:ext uri="{FF2B5EF4-FFF2-40B4-BE49-F238E27FC236}">
                <a16:creationId xmlns:a16="http://schemas.microsoft.com/office/drawing/2014/main" id="{5D52538E-4317-1E57-E57B-A2C2C5E8DC4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1273" y="1027905"/>
            <a:ext cx="641656" cy="641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892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73EA4-037A-FE58-8CDD-04A1F76E1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001" dirty="0" err="1"/>
              <a:t>Détail</a:t>
            </a:r>
            <a:r>
              <a:rPr lang="en-001" dirty="0"/>
              <a:t>: </a:t>
            </a:r>
            <a:r>
              <a:rPr lang="en-001" dirty="0" err="1"/>
              <a:t>Productivité</a:t>
            </a:r>
            <a:r>
              <a:rPr lang="en-001" dirty="0"/>
              <a:t> &amp; </a:t>
            </a:r>
            <a:r>
              <a:rPr lang="en-001" dirty="0" err="1"/>
              <a:t>maintenabilité</a:t>
            </a:r>
            <a:endParaRPr lang="fr-B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4310CC-18D9-A4A4-E3FD-A453A0D05C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76312" y="1738313"/>
            <a:ext cx="10239375" cy="4391025"/>
          </a:xfrm>
        </p:spPr>
      </p:pic>
    </p:spTree>
    <p:extLst>
      <p:ext uri="{BB962C8B-B14F-4D97-AF65-F5344CB8AC3E}">
        <p14:creationId xmlns:p14="http://schemas.microsoft.com/office/powerpoint/2010/main" val="1992204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30ABD-34AF-0F1A-4457-1BD88AE83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1D0E95F1-8985-D218-9AB0-FE179CE4D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Vue.js, la philosophie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CF3A2AF3-578E-F6F6-1E68-5EC018AB4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3" name="Espace réservé pour une image  2" descr="Une image contenant Graphique, Caractère coloré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2578252F-8CD8-5197-C86E-28C9D698279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" b="37"/>
          <a:stretch>
            <a:fillRect/>
          </a:stretch>
        </p:blipFill>
        <p:spPr/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D711868-13E8-2733-30AC-DFE5C1B029B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16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43510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D9CFC6C7-36E5-7F5A-CE0C-708C49C1C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Philosophie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073A01C0-9AE2-452E-DD18-16371935B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Framework progressif</a:t>
            </a:r>
          </a:p>
          <a:p>
            <a:pPr lvl="1"/>
            <a:r>
              <a:rPr lang="fr-BE"/>
              <a:t>intégration progressive dans un projet</a:t>
            </a:r>
          </a:p>
          <a:p>
            <a:r>
              <a:rPr lang="fr-BE"/>
              <a:t>Approche déclarative</a:t>
            </a:r>
          </a:p>
          <a:p>
            <a:pPr lvl="1"/>
            <a:r>
              <a:rPr lang="fr-BE"/>
              <a:t>on décrit "ce qu’on veut faire" (et non "comment le faire")</a:t>
            </a:r>
          </a:p>
          <a:p>
            <a:r>
              <a:rPr lang="fr-BE"/>
              <a:t>Caractéristiques des composants Vue.js :</a:t>
            </a:r>
          </a:p>
          <a:p>
            <a:pPr lvl="1"/>
            <a:r>
              <a:rPr lang="fr-BE"/>
              <a:t>Encapsulation : HTML, CSS, JS dans un même fichier </a:t>
            </a:r>
          </a:p>
          <a:p>
            <a:pPr lvl="1"/>
            <a:r>
              <a:rPr lang="fr-BE"/>
              <a:t>Communication entre composants</a:t>
            </a:r>
          </a:p>
          <a:p>
            <a:pPr lvl="2"/>
            <a:r>
              <a:rPr lang="fr-BE"/>
              <a:t>via des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props</a:t>
            </a:r>
            <a:r>
              <a:rPr lang="fr-BE"/>
              <a:t> et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événements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F1817DC-0862-E8D0-E3C4-921874CA5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17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294771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51AAEE-5D87-0FC9-D82D-A07566221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Structuration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15E10E9-16B0-F993-DC79-C58912EAFC7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63015" y="216408"/>
            <a:ext cx="6055112" cy="2385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353BA2-0C96-BDB1-1C4C-A1B29DF45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63015" y="2642839"/>
            <a:ext cx="6190785" cy="4081812"/>
          </a:xfrm>
        </p:spPr>
        <p:txBody>
          <a:bodyPr>
            <a:normAutofit/>
          </a:bodyPr>
          <a:lstStyle/>
          <a:p>
            <a:r>
              <a:rPr lang="fr-BE" sz="3200"/>
              <a:t>Imaginez un interface comme une maison en Lego®</a:t>
            </a:r>
          </a:p>
          <a:p>
            <a:pPr lvl="1"/>
            <a:r>
              <a:rPr lang="fr-BE" sz="2800"/>
              <a:t>Chaque pièce est un composant : </a:t>
            </a:r>
            <a:br>
              <a:rPr lang="fr-BE" sz="2800"/>
            </a:br>
            <a:r>
              <a:rPr lang="fr-BE" sz="2800"/>
              <a:t>(cuisine, salon, chambre) = </a:t>
            </a:r>
            <a:br>
              <a:rPr lang="fr-BE" sz="2800"/>
            </a:br>
            <a:r>
              <a:rPr lang="fr-BE" sz="2800"/>
              <a:t>(header, sidebar, carte).</a:t>
            </a:r>
          </a:p>
          <a:p>
            <a:pPr lvl="1"/>
            <a:r>
              <a:rPr lang="fr-BE" sz="2800"/>
              <a:t>On réorganise les pièces ou on ajoute de nouvelles pièces sans tout casser.</a:t>
            </a:r>
          </a:p>
          <a:p>
            <a:pPr lvl="1"/>
            <a:r>
              <a:rPr lang="fr-BE" sz="2800"/>
              <a:t>Si vous changez la couleur du salon, le reste de la maison reste intact !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55BD6BF-8D4D-1E9A-C5C1-BB7A9A966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18</a:t>
            </a:fld>
            <a:endParaRPr lang="fr-BE"/>
          </a:p>
        </p:txBody>
      </p:sp>
      <p:pic>
        <p:nvPicPr>
          <p:cNvPr id="2050" name="Picture 2" descr="LA MAISON FAMILIALE 3-EN-1 LEGO® DUPLO®">
            <a:extLst>
              <a:ext uri="{FF2B5EF4-FFF2-40B4-BE49-F238E27FC236}">
                <a16:creationId xmlns:a16="http://schemas.microsoft.com/office/drawing/2014/main" id="{FCCF74A0-0A19-C987-4570-44A4B2DD2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405" y="2000363"/>
            <a:ext cx="4300654" cy="3225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8656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8EBA38-4EA5-9391-9B6E-52282E545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Cas d’usage concrets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5DBBA1-8382-EE64-E67D-13BF80E66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Quand utiliser Vue.js ?</a:t>
            </a:r>
          </a:p>
          <a:p>
            <a:pPr lvl="1"/>
            <a:r>
              <a:rPr lang="fr-BE"/>
              <a:t>sites vitrines</a:t>
            </a:r>
          </a:p>
          <a:p>
            <a:pPr lvl="1"/>
            <a:r>
              <a:rPr lang="fr-BE"/>
              <a:t>applications légères</a:t>
            </a:r>
          </a:p>
          <a:p>
            <a:pPr lvl="1"/>
            <a:r>
              <a:rPr lang="fr-BE"/>
              <a:t>prototypes rapides</a:t>
            </a:r>
          </a:p>
          <a:p>
            <a:r>
              <a:rPr lang="fr-BE"/>
              <a:t>Exemples</a:t>
            </a:r>
          </a:p>
          <a:p>
            <a:pPr lvl="1"/>
            <a:r>
              <a:rPr lang="fr-BE"/>
              <a:t>Alibaba</a:t>
            </a:r>
          </a:p>
          <a:p>
            <a:pPr lvl="1"/>
            <a:r>
              <a:rPr lang="fr-BE"/>
              <a:t>GitLab</a:t>
            </a:r>
          </a:p>
          <a:p>
            <a:pPr lvl="1"/>
            <a:r>
              <a:rPr lang="fr-BE"/>
              <a:t>Nintendo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DD88D46-ED12-82F4-AB6B-B418BEDBB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19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02029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550B8C-5DF7-4390-3CE7-27B65CC87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Vue.js : interprêté ou compilé ? 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4A39EB64-98EF-E7E8-F641-F4C99BBD4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sz="3600"/>
              <a:t>interprêté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681DAF-8635-17FC-CD71-D4C2C56D141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MonModule.js</a:t>
            </a:r>
          </a:p>
          <a:p>
            <a:pPr lvl="1"/>
            <a:r>
              <a:rPr lang="fr-BE"/>
              <a:t>fichier JavaScript standard</a:t>
            </a:r>
          </a:p>
          <a:p>
            <a:pPr lvl="1"/>
            <a:r>
              <a:rPr lang="fr-BE"/>
              <a:t>CDN</a:t>
            </a:r>
          </a:p>
          <a:p>
            <a:r>
              <a:rPr lang="fr-BE">
                <a:solidFill>
                  <a:schemeClr val="accent2"/>
                </a:solidFill>
              </a:rPr>
              <a:t>simple et léger</a:t>
            </a:r>
          </a:p>
          <a:p>
            <a:pPr lvl="1"/>
            <a:r>
              <a:rPr lang="fr-BE">
                <a:solidFill>
                  <a:schemeClr val="accent2"/>
                </a:solidFill>
              </a:rPr>
              <a:t>navigateur suffisant </a:t>
            </a:r>
          </a:p>
          <a:p>
            <a:r>
              <a:rPr lang="fr-BE"/>
              <a:t>moins intégré</a:t>
            </a:r>
          </a:p>
          <a:p>
            <a:pPr lvl="1"/>
            <a:r>
              <a:rPr lang="fr-BE"/>
              <a:t>style non intégré</a:t>
            </a:r>
          </a:p>
          <a:p>
            <a:pPr lvl="1"/>
            <a:r>
              <a:rPr lang="fr-BE"/>
              <a:t>template complexe non intégré</a:t>
            </a:r>
          </a:p>
          <a:p>
            <a:r>
              <a:rPr lang="fr-BE"/>
              <a:t>moins lisible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6B8768DC-57B6-0685-AA10-C4AED3ED71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indent="0">
              <a:buNone/>
            </a:pPr>
            <a:r>
              <a:rPr lang="fr-BE" sz="3600"/>
              <a:t>compilé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806D8FF1-68E8-0B28-9BE5-2986B1FF4BE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MonModule.vue</a:t>
            </a:r>
          </a:p>
          <a:p>
            <a:pPr lvl="1"/>
            <a:r>
              <a:rPr lang="fr-BE"/>
              <a:t>Single File Component (SFC)</a:t>
            </a:r>
            <a:br>
              <a:rPr lang="fr-BE"/>
            </a:br>
            <a:endParaRPr lang="fr-BE"/>
          </a:p>
          <a:p>
            <a:r>
              <a:rPr lang="fr-BE"/>
              <a:t>complexe </a:t>
            </a:r>
          </a:p>
          <a:p>
            <a:pPr lvl="1"/>
            <a:r>
              <a:rPr lang="fr-BE"/>
              <a:t>bundler nécessaire</a:t>
            </a:r>
          </a:p>
          <a:p>
            <a:pPr lvl="1"/>
            <a:r>
              <a:rPr lang="fr-BE"/>
              <a:t>Vite, Webpack, Vue CLI</a:t>
            </a:r>
          </a:p>
          <a:p>
            <a:r>
              <a:rPr lang="fr-BE">
                <a:solidFill>
                  <a:schemeClr val="accent2"/>
                </a:solidFill>
              </a:rPr>
              <a:t>intégré</a:t>
            </a:r>
          </a:p>
          <a:p>
            <a:pPr lvl="1"/>
            <a:r>
              <a:rPr lang="fr-BE">
                <a:solidFill>
                  <a:schemeClr val="accent2"/>
                </a:solidFill>
              </a:rPr>
              <a:t>template + script + style</a:t>
            </a:r>
          </a:p>
          <a:p>
            <a:r>
              <a:rPr lang="fr-BE"/>
              <a:t>lisible</a:t>
            </a:r>
          </a:p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F13AA6D-E4D8-ADC3-634F-C76440CEF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20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74602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3CAA7-55AD-4816-6D97-6BFB80140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126DCF-8A58-A4D6-9F57-7F1E2882F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Vue.js : interprêté ou compilé ?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1BDD3D-310A-E605-86A0-9577584A4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Par la suite, la </a:t>
            </a:r>
            <a:r>
              <a:rPr lang="fr-BE">
                <a:solidFill>
                  <a:schemeClr val="accent2"/>
                </a:solidFill>
              </a:rPr>
              <a:t>version interprêtée </a:t>
            </a:r>
            <a:r>
              <a:rPr lang="fr-BE"/>
              <a:t>sera présentée. </a:t>
            </a:r>
          </a:p>
          <a:p>
            <a:r>
              <a:rPr lang="fr-BE"/>
              <a:t>La version compilée sera abordée par l'étudiant de son propre chef.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F019C98-1AA8-30DB-3297-EE65F2309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21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854744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4E3DF00C-3812-CBB9-2E20-BAA062583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Vue.js "statique", en pratique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DD490676-876E-F20A-B6D8-E8B415F38F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/>
              <a:t>approche progressive </a:t>
            </a:r>
          </a:p>
        </p:txBody>
      </p:sp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8C729836-FCBE-D2CD-5F4B-ADC7E96086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F454012-7428-4997-C325-CBE9B747CD4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22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20968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>
            <a:extLst>
              <a:ext uri="{FF2B5EF4-FFF2-40B4-BE49-F238E27FC236}">
                <a16:creationId xmlns:a16="http://schemas.microsoft.com/office/drawing/2014/main" id="{19B0072D-F4E8-8BD4-EAAB-BC65423BB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11 : version HTML pure 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CE5800F3-6C95-4E79-E1A8-D92FF785B5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fr-BE"/>
              <a:t>exo11_pure_html.html</a:t>
            </a:r>
          </a:p>
          <a:p>
            <a:pPr lvl="1"/>
            <a:r>
              <a:rPr lang="fr-BE"/>
              <a:t>examinez ce code </a:t>
            </a:r>
          </a:p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&lt;body&gt; </a:t>
            </a:r>
            <a:r>
              <a:rPr lang="fr-BE"/>
              <a:t>divisé en 3 blocs </a:t>
            </a:r>
          </a:p>
          <a:p>
            <a:pPr lvl="1"/>
            <a:r>
              <a:rPr lang="fr-BE"/>
              <a:t>header</a:t>
            </a:r>
          </a:p>
          <a:p>
            <a:pPr lvl="1"/>
            <a:r>
              <a:rPr lang="fr-BE"/>
              <a:t>main</a:t>
            </a:r>
            <a:endParaRPr lang="fr-BE">
              <a:solidFill>
                <a:srgbClr val="996633"/>
              </a:solidFill>
              <a:latin typeface="Consolas" panose="020B0609020204030204" pitchFamily="49" charset="0"/>
            </a:endParaRPr>
          </a:p>
          <a:p>
            <a:pPr lvl="1"/>
            <a:r>
              <a:rPr lang="fr-BE"/>
              <a:t>footer</a:t>
            </a:r>
          </a:p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&lt;main&gt; </a:t>
            </a:r>
            <a:r>
              <a:rPr lang="fr-BE"/>
              <a:t>divisé en 3 blocs </a:t>
            </a:r>
          </a:p>
          <a:p>
            <a:pPr lvl="1"/>
            <a:r>
              <a:rPr lang="fr-BE"/>
              <a:t>titre</a:t>
            </a:r>
          </a:p>
          <a:p>
            <a:pPr lvl="1"/>
            <a:r>
              <a:rPr lang="fr-BE"/>
              <a:t>deux articles de contenu</a:t>
            </a:r>
          </a:p>
        </p:txBody>
      </p:sp>
      <p:pic>
        <p:nvPicPr>
          <p:cNvPr id="12" name="Espace réservé du contenu 11">
            <a:extLst>
              <a:ext uri="{FF2B5EF4-FFF2-40B4-BE49-F238E27FC236}">
                <a16:creationId xmlns:a16="http://schemas.microsoft.com/office/drawing/2014/main" id="{B4A8C065-56E1-E0DF-ECFB-5AF2412AAD6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96952" y="1690688"/>
            <a:ext cx="4132095" cy="4486275"/>
          </a:xfrm>
          <a:prstGeom prst="rect">
            <a:avLst/>
          </a:prstGeom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0FDECBB-40BB-3DE1-9CB2-6B1900964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23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53120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7738F0-3C46-4DE4-E238-EE4F3EAC0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13 : version Vue.js statique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C7E884B-4F26-DF5E-DA09-40BCFFD78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802186"/>
          </a:xfrm>
        </p:spPr>
        <p:txBody>
          <a:bodyPr>
            <a:normAutofit/>
          </a:bodyPr>
          <a:lstStyle/>
          <a:p>
            <a:r>
              <a:rPr lang="fr-BE"/>
              <a:t>exo13.html</a:t>
            </a:r>
          </a:p>
          <a:p>
            <a:r>
              <a:rPr lang="fr-BE"/>
              <a:t>Le framework </a:t>
            </a:r>
            <a:r>
              <a:rPr lang="fr-BE">
                <a:solidFill>
                  <a:schemeClr val="accent2"/>
                </a:solidFill>
              </a:rPr>
              <a:t>Vue.js </a:t>
            </a:r>
            <a:r>
              <a:rPr lang="fr-BE"/>
              <a:t>est intégré par un lien CDN dans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&lt;head&gt;</a:t>
            </a:r>
          </a:p>
          <a:p>
            <a:pPr marL="457189" lvl="1" indent="0">
              <a:buNone/>
            </a:pPr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  <a:t>&lt;script src="https://unpkg.com/vue@3/dist/vue.global.js"</a:t>
            </a:r>
            <a:endParaRPr lang="fr-BE" sz="1800">
              <a:solidFill>
                <a:srgbClr val="996633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7A65B34-C9C5-3536-813E-9A76A3362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24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39585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70C2F-9A5D-E708-0D42-6FB8B9AC1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5DA6BA-47AF-C781-95FF-32388A483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13 : version Vue.js statique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D068246-E503-2AB3-5D3E-DFA794D488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802186"/>
          </a:xfrm>
        </p:spPr>
        <p:txBody>
          <a:bodyPr>
            <a:normAutofit fontScale="92500" lnSpcReduction="20000"/>
          </a:bodyPr>
          <a:lstStyle/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&lt;body&gt;</a:t>
            </a:r>
            <a:r>
              <a:rPr lang="fr-BE"/>
              <a:t> contient un attribut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id</a:t>
            </a:r>
            <a:r>
              <a:rPr lang="fr-BE"/>
              <a:t> et un code (non-html) qui place les </a:t>
            </a:r>
            <a:r>
              <a:rPr lang="fr-BE">
                <a:solidFill>
                  <a:schemeClr val="accent2"/>
                </a:solidFill>
              </a:rPr>
              <a:t>composants personnalisés</a:t>
            </a:r>
            <a:r>
              <a:rPr lang="fr-BE"/>
              <a:t> </a:t>
            </a:r>
            <a:r>
              <a:rPr lang="fr-BE">
                <a:solidFill>
                  <a:schemeClr val="accent2"/>
                </a:solidFill>
              </a:rPr>
              <a:t>vue.js</a:t>
            </a:r>
            <a:r>
              <a:rPr lang="fr-BE"/>
              <a:t> sur l'écran :</a:t>
            </a:r>
            <a:endParaRPr lang="fr-BE">
              <a:solidFill>
                <a:schemeClr val="accent2"/>
              </a:solidFill>
            </a:endParaRP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&lt;body id="</a:t>
            </a:r>
            <a:r>
              <a:rPr lang="fr-BE">
                <a:solidFill>
                  <a:schemeClr val="accent1"/>
                </a:solidFill>
                <a:latin typeface="Consolas" panose="020B0609020204030204" pitchFamily="49" charset="0"/>
              </a:rPr>
              <a:t>app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"&gt;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&lt;</a:t>
            </a:r>
            <a:r>
              <a:rPr lang="fr-BE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</a:rPr>
              <a:t>header-component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&gt;&lt;/header-component&gt;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&lt;</a:t>
            </a:r>
            <a:r>
              <a:rPr lang="fr-BE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</a:rPr>
              <a:t>main-component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&gt;&lt;/main-component&gt;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&lt;</a:t>
            </a:r>
            <a:r>
              <a:rPr lang="fr-BE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</a:rPr>
              <a:t>footer-component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&gt;&lt;/footer-component&gt;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fr-BE">
                <a:solidFill>
                  <a:schemeClr val="accent2"/>
                </a:solidFill>
              </a:rPr>
              <a:t>composants personnalisés </a:t>
            </a:r>
          </a:p>
          <a:p>
            <a:pPr lvl="1"/>
            <a:r>
              <a:rPr lang="fr-BE"/>
              <a:t>définis par le développeur</a:t>
            </a:r>
          </a:p>
          <a:p>
            <a:pPr lvl="1"/>
            <a:r>
              <a:rPr lang="fr-BE"/>
              <a:t>réutilisables</a:t>
            </a:r>
          </a:p>
          <a:p>
            <a:pPr lvl="1"/>
            <a:r>
              <a:rPr lang="fr-BE"/>
              <a:t>encapsulation de HTML, CSS et JavaScript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027BE50-BF84-C2E4-D13C-DE6E18458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25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00659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F7D34-45E8-003D-214F-5AF1DFEC7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F05FF2-3C75-0927-8864-728B7BDDC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13 : version Vue.js statique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98A2778-5774-DAAD-E6CE-958E46CB0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&lt;head&gt;</a:t>
            </a:r>
            <a:r>
              <a:rPr lang="fr-BE"/>
              <a:t> contient un script lancé après le chargement de la page :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document.addEventListener(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  'DOMContentLoaded', () =&gt; {</a:t>
            </a:r>
          </a:p>
          <a:p>
            <a:pPr marL="457189" lvl="1" indent="0">
              <a:buNone/>
            </a:pPr>
            <a:r>
              <a:rPr lang="fr-BE" i="1">
                <a:solidFill>
                  <a:srgbClr val="7F7F7F"/>
                </a:solidFill>
                <a:latin typeface="Consolas" panose="020B0609020204030204" pitchFamily="49" charset="0"/>
              </a:rPr>
              <a:t>		// définition et montage </a:t>
            </a:r>
          </a:p>
          <a:p>
            <a:pPr marL="457189" lvl="1" indent="0">
              <a:buNone/>
            </a:pPr>
            <a:r>
              <a:rPr lang="fr-BE" i="1">
                <a:solidFill>
                  <a:srgbClr val="7F7F7F"/>
                </a:solidFill>
                <a:latin typeface="Consolas" panose="020B0609020204030204" pitchFamily="49" charset="0"/>
              </a:rPr>
              <a:t>		// des composants vue.js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} )</a:t>
            </a:r>
          </a:p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EA01741-D856-CD82-DAA4-7765030B3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26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8213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B43B2-BC96-DA52-CDBD-EAB1C3584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05DA42-732D-E1CE-3C6E-7ADFAD826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13 : version Vue.js statique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F407608-B256-670B-5674-215B9B5B8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fr-BE"/>
              <a:t>Ce script définit d'abord les composants </a:t>
            </a:r>
            <a:r>
              <a:rPr lang="fr-BE">
                <a:solidFill>
                  <a:schemeClr val="accent2"/>
                </a:solidFill>
              </a:rPr>
              <a:t>Vue.js</a:t>
            </a:r>
            <a:r>
              <a:rPr lang="fr-BE"/>
              <a:t>, ici sous forme d'objets JavaScript :</a:t>
            </a:r>
            <a:endParaRPr lang="fr-BE">
              <a:solidFill>
                <a:schemeClr val="accent2"/>
              </a:solidFill>
            </a:endParaRP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const 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FooterComponent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= {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 </a:t>
            </a:r>
            <a:r>
              <a:rPr lang="fr-BE">
                <a:solidFill>
                  <a:srgbClr val="00B0F0"/>
                </a:solidFill>
                <a:latin typeface="Consolas" panose="020B0609020204030204" pitchFamily="49" charset="0"/>
              </a:rPr>
              <a:t>template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: </a:t>
            </a:r>
            <a:r>
              <a:rPr lang="fr-BE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`</a:t>
            </a:r>
          </a:p>
          <a:p>
            <a:pPr marL="457189" lvl="1" indent="0">
              <a:buNone/>
            </a:pPr>
            <a:r>
              <a:rPr lang="fr-BE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 &lt;footer class="footer"&gt;</a:t>
            </a:r>
          </a:p>
          <a:p>
            <a:pPr marL="457189" lvl="1" indent="0">
              <a:buNone/>
            </a:pPr>
            <a:r>
              <a:rPr lang="fr-BE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 &lt;p&gt;&amp;copy; 2025 - Tous droits réservés&lt;/p&gt;</a:t>
            </a:r>
          </a:p>
          <a:p>
            <a:pPr marL="457189" lvl="1" indent="0">
              <a:buNone/>
            </a:pPr>
            <a:r>
              <a:rPr lang="fr-BE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 &lt;/footer&gt;</a:t>
            </a:r>
          </a:p>
          <a:p>
            <a:pPr marL="457189" lvl="1" indent="0">
              <a:buNone/>
            </a:pPr>
            <a:r>
              <a:rPr lang="fr-BE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`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};</a:t>
            </a:r>
          </a:p>
          <a:p>
            <a:r>
              <a:rPr lang="fr-BE"/>
              <a:t>Il y a plusieurs manières de définir les composants.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E7A1612-B38D-324B-7AA1-16269EC5C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27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50163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3E07B-C351-ABA4-52CD-660A62539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481ECE-F8CD-1D2A-DD6A-C48C785CF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BE"/>
              <a:t>exo 13 : version Vue.js statique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F48DBA94-2DDE-C80E-2F2F-F1F8AD409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BE"/>
              <a:t>Ensuite, ce script crée et "monte" l'application </a:t>
            </a:r>
            <a:r>
              <a:rPr lang="fr-BE">
                <a:solidFill>
                  <a:schemeClr val="accent2"/>
                </a:solidFill>
              </a:rPr>
              <a:t>Vue.js</a:t>
            </a:r>
            <a:r>
              <a:rPr lang="fr-BE"/>
              <a:t> en associant les composants aux variables.</a:t>
            </a:r>
            <a:endParaRPr lang="fr-BE">
              <a:solidFill>
                <a:schemeClr val="accent2"/>
              </a:solidFill>
            </a:endParaRPr>
          </a:p>
          <a:p>
            <a:pPr marL="457189" lvl="1" indent="0">
              <a:buNone/>
            </a:pPr>
            <a:r>
              <a:rPr lang="fr-BE">
                <a:solidFill>
                  <a:schemeClr val="accent5"/>
                </a:solidFill>
                <a:latin typeface="Consolas" panose="020B0609020204030204" pitchFamily="49" charset="0"/>
              </a:rPr>
              <a:t>Vue.createApp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({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  </a:t>
            </a:r>
            <a:r>
              <a:rPr lang="fr-BE">
                <a:solidFill>
                  <a:schemeClr val="accent5"/>
                </a:solidFill>
                <a:latin typeface="Consolas" panose="020B0609020204030204" pitchFamily="49" charset="0"/>
              </a:rPr>
              <a:t>components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: {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      '</a:t>
            </a:r>
            <a:r>
              <a:rPr lang="fr-BE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</a:rPr>
              <a:t>header-component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': 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HeaderComponent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,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      '</a:t>
            </a:r>
            <a:r>
              <a:rPr lang="fr-BE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</a:rPr>
              <a:t>main-component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': 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MainComponent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,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      '</a:t>
            </a:r>
            <a:r>
              <a:rPr lang="fr-BE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</a:rPr>
              <a:t>footer-component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': 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FooterComponent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  }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}).mount('</a:t>
            </a:r>
            <a:r>
              <a:rPr lang="fr-BE">
                <a:solidFill>
                  <a:schemeClr val="accent1"/>
                </a:solidFill>
                <a:latin typeface="Consolas" panose="020B0609020204030204" pitchFamily="49" charset="0"/>
              </a:rPr>
              <a:t>#app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');</a:t>
            </a:r>
          </a:p>
          <a:p>
            <a:r>
              <a:rPr lang="fr-BE"/>
              <a:t>On dit à </a:t>
            </a:r>
            <a:r>
              <a:rPr lang="fr-BE">
                <a:solidFill>
                  <a:schemeClr val="accent2"/>
                </a:solidFill>
              </a:rPr>
              <a:t>Vue.js</a:t>
            </a:r>
            <a:r>
              <a:rPr lang="fr-BE"/>
              <a:t> : "Quand tu vois la balise </a:t>
            </a:r>
            <a:r>
              <a:rPr lang="fr-BE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</a:rPr>
              <a:t>&lt;footer-component&gt;</a:t>
            </a:r>
            <a:r>
              <a:rPr lang="fr-BE"/>
              <a:t> dans le template, utilise le composant défini par l'objet 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FooterComponent</a:t>
            </a:r>
            <a:r>
              <a:rPr lang="fr-BE"/>
              <a:t>."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AA14282-F591-BF0D-EDD3-E2FA3C1C8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9526"/>
            <a:ext cx="2743200" cy="365125"/>
          </a:xfrm>
        </p:spPr>
        <p:txBody>
          <a:bodyPr/>
          <a:lstStyle/>
          <a:p>
            <a:fld id="{02C092ED-0E97-497E-99D9-BB9DD7276F53}" type="slidenum">
              <a:rPr lang="fr-BE" smtClean="0"/>
              <a:pPr/>
              <a:t>28</a:t>
            </a:fld>
            <a:endParaRPr lang="fr-BE"/>
          </a:p>
        </p:txBody>
      </p:sp>
      <p:sp>
        <p:nvSpPr>
          <p:cNvPr id="11" name="Légende : encadrée 10">
            <a:extLst>
              <a:ext uri="{FF2B5EF4-FFF2-40B4-BE49-F238E27FC236}">
                <a16:creationId xmlns:a16="http://schemas.microsoft.com/office/drawing/2014/main" id="{ECE0B8A1-A968-4E96-C5F3-709CAA99EA21}"/>
              </a:ext>
            </a:extLst>
          </p:cNvPr>
          <p:cNvSpPr/>
          <p:nvPr/>
        </p:nvSpPr>
        <p:spPr>
          <a:xfrm>
            <a:off x="0" y="2986088"/>
            <a:ext cx="1917700" cy="1128712"/>
          </a:xfrm>
          <a:prstGeom prst="borderCallout1">
            <a:avLst>
              <a:gd name="adj1" fmla="val 43466"/>
              <a:gd name="adj2" fmla="val 102684"/>
              <a:gd name="adj3" fmla="val 92393"/>
              <a:gd name="adj4" fmla="val 15353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>
                <a:solidFill>
                  <a:schemeClr val="tx1"/>
                </a:solidFill>
              </a:rPr>
              <a:t>nom du composant (cf HTML)</a:t>
            </a:r>
          </a:p>
        </p:txBody>
      </p:sp>
      <p:sp>
        <p:nvSpPr>
          <p:cNvPr id="12" name="Légende : encadrée 11">
            <a:extLst>
              <a:ext uri="{FF2B5EF4-FFF2-40B4-BE49-F238E27FC236}">
                <a16:creationId xmlns:a16="http://schemas.microsoft.com/office/drawing/2014/main" id="{07CBD42C-D90A-C54D-1750-2512418B39D9}"/>
              </a:ext>
            </a:extLst>
          </p:cNvPr>
          <p:cNvSpPr/>
          <p:nvPr/>
        </p:nvSpPr>
        <p:spPr>
          <a:xfrm>
            <a:off x="9982200" y="2263775"/>
            <a:ext cx="1917700" cy="1128712"/>
          </a:xfrm>
          <a:prstGeom prst="borderCallout1">
            <a:avLst>
              <a:gd name="adj1" fmla="val 101975"/>
              <a:gd name="adj2" fmla="val 41757"/>
              <a:gd name="adj3" fmla="val 151385"/>
              <a:gd name="adj4" fmla="val -1950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>
                <a:solidFill>
                  <a:schemeClr val="tx1"/>
                </a:solidFill>
              </a:rPr>
              <a:t>nom de l'objet (cf JavaScript)</a:t>
            </a:r>
          </a:p>
        </p:txBody>
      </p:sp>
    </p:spTree>
    <p:extLst>
      <p:ext uri="{BB962C8B-B14F-4D97-AF65-F5344CB8AC3E}">
        <p14:creationId xmlns:p14="http://schemas.microsoft.com/office/powerpoint/2010/main" val="3163171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81D78-EAE5-8BF3-25D3-E0B855851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813556-8540-134D-AE3F-013B97BA5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13 : version Vue.js statique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DF5A198-4D8D-0BFC-286D-A21CD81C5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Attention à la syntaxe :</a:t>
            </a:r>
          </a:p>
          <a:p>
            <a:pPr lvl="1"/>
            <a:r>
              <a:rPr lang="fr-BE">
                <a:solidFill>
                  <a:schemeClr val="accent2"/>
                </a:solidFill>
              </a:rPr>
              <a:t>kebab-case</a:t>
            </a:r>
          </a:p>
          <a:p>
            <a:pPr lvl="2"/>
            <a:r>
              <a:rPr lang="fr-BE"/>
              <a:t>dans les templates HTML</a:t>
            </a:r>
          </a:p>
          <a:p>
            <a:pPr lvl="2"/>
            <a:r>
              <a:rPr lang="fr-BE"/>
              <a:t>ex: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header-component</a:t>
            </a:r>
          </a:p>
          <a:p>
            <a:pPr lvl="1"/>
            <a:r>
              <a:rPr lang="fr-BE">
                <a:solidFill>
                  <a:schemeClr val="accent2"/>
                </a:solidFill>
              </a:rPr>
              <a:t>PascalCase</a:t>
            </a:r>
          </a:p>
          <a:p>
            <a:pPr lvl="2"/>
            <a:r>
              <a:rPr lang="fr-BE"/>
              <a:t>dans le code en JavaScript</a:t>
            </a:r>
          </a:p>
          <a:p>
            <a:pPr lvl="2"/>
            <a:r>
              <a:rPr lang="fr-BE"/>
              <a:t>ex: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HeaderComponent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EAFC4EA-AF1D-2A0F-4DAD-E19948231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29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67887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5A442-7AB1-6A16-F2B2-FFCCC806C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D89ABF-4342-4C4E-940D-EF66B1F61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15 : Vue.js, statique, multi-composants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EB7A032-DFDD-8503-99B1-17A0D5E1839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fr-BE"/>
              <a:t>exo15.html </a:t>
            </a:r>
          </a:p>
          <a:p>
            <a:r>
              <a:rPr lang="fr-BE"/>
              <a:t>exo15-app.js</a:t>
            </a:r>
          </a:p>
          <a:p>
            <a:r>
              <a:rPr lang="fr-BE"/>
              <a:t>dir. exo15-components/</a:t>
            </a:r>
          </a:p>
          <a:p>
            <a:pPr lvl="1"/>
            <a:r>
              <a:rPr lang="fr-BE"/>
              <a:t>Header.js</a:t>
            </a:r>
          </a:p>
          <a:p>
            <a:pPr lvl="1"/>
            <a:r>
              <a:rPr lang="fr-BE"/>
              <a:t>Main.js</a:t>
            </a:r>
          </a:p>
          <a:p>
            <a:pPr lvl="1"/>
            <a:r>
              <a:rPr lang="fr-BE"/>
              <a:t>Footer.js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B6F34B07-DC32-B7E9-46CD-F6503F7D53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63770" y="1690689"/>
            <a:ext cx="6328229" cy="4486276"/>
          </a:xfrm>
        </p:spPr>
        <p:txBody>
          <a:bodyPr>
            <a:normAutofit/>
          </a:bodyPr>
          <a:lstStyle/>
          <a:p>
            <a:r>
              <a:rPr lang="fr-BE">
                <a:solidFill>
                  <a:schemeClr val="accent2"/>
                </a:solidFill>
              </a:rPr>
              <a:t>Vue.js </a:t>
            </a:r>
            <a:r>
              <a:rPr lang="fr-BE"/>
              <a:t>est intégré par une "import-map" (optionnel)</a:t>
            </a:r>
            <a:endParaRPr lang="fr-BE">
              <a:solidFill>
                <a:srgbClr val="996633"/>
              </a:solidFill>
              <a:latin typeface="Consolas" panose="020B0609020204030204" pitchFamily="49" charset="0"/>
            </a:endParaRPr>
          </a:p>
          <a:p>
            <a:pPr marL="457189" lvl="1" indent="0">
              <a:buNone/>
            </a:pPr>
            <a:r>
              <a:rPr lang="fr-BE" sz="2800">
                <a:solidFill>
                  <a:srgbClr val="996633"/>
                </a:solidFill>
                <a:latin typeface="Consolas" panose="020B0609020204030204" pitchFamily="49" charset="0"/>
              </a:rPr>
              <a:t>&lt;script type="importmap"&gt;</a:t>
            </a:r>
          </a:p>
          <a:p>
            <a:pPr marL="457189" lvl="1" indent="0">
              <a:buNone/>
            </a:pPr>
            <a:r>
              <a:rPr lang="fr-BE" sz="2800">
                <a:solidFill>
                  <a:srgbClr val="996633"/>
                </a:solidFill>
                <a:latin typeface="Consolas" panose="020B0609020204030204" pitchFamily="49" charset="0"/>
              </a:rPr>
              <a:t>{</a:t>
            </a:r>
          </a:p>
          <a:p>
            <a:pPr marL="457189" lvl="1" indent="0">
              <a:buNone/>
            </a:pPr>
            <a:r>
              <a:rPr lang="fr-BE" sz="2800">
                <a:solidFill>
                  <a:srgbClr val="996633"/>
                </a:solidFill>
                <a:latin typeface="Consolas" panose="020B0609020204030204" pitchFamily="49" charset="0"/>
              </a:rPr>
              <a:t>  "imports": {</a:t>
            </a:r>
          </a:p>
          <a:p>
            <a:pPr marL="457189" lvl="1" indent="0">
              <a:buNone/>
            </a:pPr>
            <a:r>
              <a:rPr lang="fr-BE" sz="2800">
                <a:solidFill>
                  <a:srgbClr val="996633"/>
                </a:solidFill>
                <a:latin typeface="Consolas" panose="020B0609020204030204" pitchFamily="49" charset="0"/>
              </a:rPr>
              <a:t>    "vue": "…vue.global.js"</a:t>
            </a:r>
          </a:p>
          <a:p>
            <a:pPr marL="457189" lvl="1" indent="0">
              <a:buNone/>
            </a:pPr>
            <a:r>
              <a:rPr lang="fr-BE" sz="2800">
                <a:solidFill>
                  <a:srgbClr val="996633"/>
                </a:solidFill>
                <a:latin typeface="Consolas" panose="020B0609020204030204" pitchFamily="49" charset="0"/>
              </a:rPr>
              <a:t>  }</a:t>
            </a:r>
          </a:p>
          <a:p>
            <a:pPr marL="457189" lvl="1" indent="0">
              <a:buNone/>
            </a:pPr>
            <a:r>
              <a:rPr lang="fr-BE" sz="2800">
                <a:solidFill>
                  <a:srgbClr val="996633"/>
                </a:solidFill>
                <a:latin typeface="Consolas" panose="020B0609020204030204" pitchFamily="49" charset="0"/>
              </a:rPr>
              <a:t>}</a:t>
            </a:r>
          </a:p>
          <a:p>
            <a:pPr marL="457189" lvl="1" indent="0">
              <a:buNone/>
            </a:pPr>
            <a:r>
              <a:rPr lang="fr-BE" sz="2800">
                <a:solidFill>
                  <a:srgbClr val="996633"/>
                </a:solidFill>
                <a:latin typeface="Consolas" panose="020B0609020204030204" pitchFamily="49" charset="0"/>
              </a:rPr>
              <a:t>&lt;/script&gt;</a:t>
            </a:r>
          </a:p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FCE71EF-E19F-F1E3-8AA5-E1FB116A5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30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028607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2DB3A-163F-07AE-66E3-6F5243F7A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24525A-5E7F-1527-0A18-62DAB4711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15 : Vue.js, statique, multi-composants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EC058B0-E373-B265-FFDB-2FAB262AD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802186"/>
          </a:xfrm>
        </p:spPr>
        <p:txBody>
          <a:bodyPr>
            <a:normAutofit/>
          </a:bodyPr>
          <a:lstStyle/>
          <a:p>
            <a:r>
              <a:rPr lang="fr-BE"/>
              <a:t>inchangé par rapport à exo 13</a:t>
            </a:r>
          </a:p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&lt;body&gt;</a:t>
            </a:r>
            <a:r>
              <a:rPr lang="fr-BE"/>
              <a:t> contient un attribut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id</a:t>
            </a:r>
            <a:r>
              <a:rPr lang="fr-BE"/>
              <a:t> et un code (non-html) qui place les </a:t>
            </a:r>
            <a:r>
              <a:rPr lang="fr-BE">
                <a:solidFill>
                  <a:schemeClr val="accent2"/>
                </a:solidFill>
              </a:rPr>
              <a:t>composants personnalisés</a:t>
            </a:r>
            <a:r>
              <a:rPr lang="fr-BE"/>
              <a:t> </a:t>
            </a:r>
            <a:r>
              <a:rPr lang="fr-BE">
                <a:solidFill>
                  <a:schemeClr val="accent2"/>
                </a:solidFill>
              </a:rPr>
              <a:t>Vue.js</a:t>
            </a:r>
            <a:r>
              <a:rPr lang="fr-BE"/>
              <a:t> sur l'écran :</a:t>
            </a:r>
            <a:endParaRPr lang="fr-BE">
              <a:solidFill>
                <a:schemeClr val="accent2"/>
              </a:solidFill>
            </a:endParaRP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&lt;body id="</a:t>
            </a:r>
            <a:r>
              <a:rPr lang="fr-BE">
                <a:solidFill>
                  <a:schemeClr val="accent1"/>
                </a:solidFill>
                <a:latin typeface="Consolas" panose="020B0609020204030204" pitchFamily="49" charset="0"/>
              </a:rPr>
              <a:t>app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"&gt;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&lt;</a:t>
            </a:r>
            <a:r>
              <a:rPr lang="fr-BE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</a:rPr>
              <a:t>header-component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&gt;&lt;/header-component&gt;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&lt;</a:t>
            </a:r>
            <a:r>
              <a:rPr lang="fr-BE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</a:rPr>
              <a:t>main-component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&gt;&lt;/main-component&gt;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&lt;</a:t>
            </a:r>
            <a:r>
              <a:rPr lang="fr-BE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</a:rPr>
              <a:t>footer-component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&gt;&lt;/footer-component&gt;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&lt;/body&gt;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7B10777-E212-1A76-27EE-88BB2DEE8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31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18932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26E8C-62AA-2A61-0FC6-1ACF65F73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283D71-84ED-4DE0-8268-513879728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15 : Vue.js, statique, multi-composants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8D24C0F-D8D1-7814-57D1-EA7974D6F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&lt;head&gt;</a:t>
            </a:r>
            <a:r>
              <a:rPr lang="fr-BE"/>
              <a:t> contient un script lancé après le chargement de la page, cette fois-ci dans un </a:t>
            </a:r>
            <a:r>
              <a:rPr lang="fr-BE">
                <a:solidFill>
                  <a:schemeClr val="accent2"/>
                </a:solidFill>
              </a:rPr>
              <a:t>fichier séparé </a:t>
            </a:r>
            <a:r>
              <a:rPr lang="fr-BE"/>
              <a:t>: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&lt;script 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	type="</a:t>
            </a:r>
            <a:r>
              <a:rPr lang="fr-BE">
                <a:solidFill>
                  <a:schemeClr val="accent5"/>
                </a:solidFill>
                <a:latin typeface="Consolas" panose="020B0609020204030204" pitchFamily="49" charset="0"/>
              </a:rPr>
              <a:t>module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" 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	src="./exo15-app.js" 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	</a:t>
            </a:r>
            <a:r>
              <a:rPr lang="fr-BE">
                <a:solidFill>
                  <a:schemeClr val="accent5"/>
                </a:solidFill>
                <a:latin typeface="Consolas" panose="020B0609020204030204" pitchFamily="49" charset="0"/>
              </a:rPr>
              <a:t>defer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&gt;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&lt;/script&gt;</a:t>
            </a:r>
          </a:p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1DD8E17-7978-0C33-4D31-0E8C4F321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32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33320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486D8-7B3A-65B1-67B3-915FDEBB8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454CBC-74E3-FB86-E70D-8BA5E5B3D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15 : Vue.js, statique, multi-composants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C71A934-E664-99B3-4D03-346F571C0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Ce script importe les composants </a:t>
            </a:r>
            <a:r>
              <a:rPr lang="fr-BE">
                <a:solidFill>
                  <a:schemeClr val="accent2"/>
                </a:solidFill>
              </a:rPr>
              <a:t>Vue.js.</a:t>
            </a:r>
          </a:p>
          <a:p>
            <a:r>
              <a:rPr lang="fr-BE"/>
              <a:t>Chaque composant est défini dans son propre fichier. </a:t>
            </a:r>
          </a:p>
          <a:p>
            <a:pPr marL="457189" lvl="1" indent="0">
              <a:buNone/>
            </a:pPr>
            <a:r>
              <a:rPr lang="fr-BE">
                <a:solidFill>
                  <a:schemeClr val="accent5"/>
                </a:solidFill>
                <a:latin typeface="Consolas" panose="020B0609020204030204" pitchFamily="49" charset="0"/>
              </a:rPr>
              <a:t>import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FooterComponent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</a:t>
            </a:r>
            <a:b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	</a:t>
            </a:r>
            <a:r>
              <a:rPr lang="fr-BE">
                <a:solidFill>
                  <a:schemeClr val="accent5"/>
                </a:solidFill>
                <a:latin typeface="Consolas" panose="020B0609020204030204" pitchFamily="49" charset="0"/>
              </a:rPr>
              <a:t>from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'./exo15-components/Footer.js'</a:t>
            </a:r>
          </a:p>
          <a:p>
            <a:pPr marL="457189" lvl="1" indent="0">
              <a:buNone/>
            </a:pPr>
            <a:b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</a:br>
            <a:endParaRPr lang="fr-BE">
              <a:solidFill>
                <a:srgbClr val="996633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D1C1219-77C6-DBEC-03B8-51013ED0E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33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49999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61546-139B-54DB-D89B-CA9509916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AFCB6A-9B88-B031-F210-44052227F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BE"/>
              <a:t>exo 15 : Vue.js, statique, multi-composants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E92C475B-7E14-4B52-4BEB-9313DA4C8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BE"/>
              <a:t>inchangé par rapport à exo 13 </a:t>
            </a:r>
          </a:p>
          <a:p>
            <a:r>
              <a:rPr lang="fr-BE"/>
              <a:t>Ensuite, ce script crée et "monte" l'application </a:t>
            </a:r>
            <a:r>
              <a:rPr lang="fr-BE">
                <a:solidFill>
                  <a:schemeClr val="accent2"/>
                </a:solidFill>
              </a:rPr>
              <a:t>Vue.js</a:t>
            </a:r>
            <a:r>
              <a:rPr lang="fr-BE"/>
              <a:t> en associant les composants aux variables.</a:t>
            </a:r>
            <a:endParaRPr lang="fr-BE">
              <a:solidFill>
                <a:schemeClr val="accent2"/>
              </a:solidFill>
            </a:endParaRPr>
          </a:p>
          <a:p>
            <a:pPr marL="457189" lvl="1" indent="0">
              <a:buNone/>
            </a:pPr>
            <a:r>
              <a:rPr lang="fr-BE">
                <a:solidFill>
                  <a:schemeClr val="accent5"/>
                </a:solidFill>
                <a:latin typeface="Consolas" panose="020B0609020204030204" pitchFamily="49" charset="0"/>
              </a:rPr>
              <a:t>Vue.createApp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({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  </a:t>
            </a:r>
            <a:r>
              <a:rPr lang="fr-BE">
                <a:solidFill>
                  <a:schemeClr val="accent5"/>
                </a:solidFill>
                <a:latin typeface="Consolas" panose="020B0609020204030204" pitchFamily="49" charset="0"/>
              </a:rPr>
              <a:t>components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: {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      '</a:t>
            </a:r>
            <a:r>
              <a:rPr lang="fr-BE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</a:rPr>
              <a:t>header-component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': 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HeaderComponent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,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      '</a:t>
            </a:r>
            <a:r>
              <a:rPr lang="fr-BE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</a:rPr>
              <a:t>main-component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': 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MainComponent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,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      '</a:t>
            </a:r>
            <a:r>
              <a:rPr lang="fr-BE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</a:rPr>
              <a:t>footer-component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': 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FooterComponent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  }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}).mount('</a:t>
            </a:r>
            <a:r>
              <a:rPr lang="fr-BE">
                <a:solidFill>
                  <a:schemeClr val="accent1"/>
                </a:solidFill>
                <a:latin typeface="Consolas" panose="020B0609020204030204" pitchFamily="49" charset="0"/>
              </a:rPr>
              <a:t>#app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');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3EECEEB-132F-8442-4DAC-6C2BCDFCE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9526"/>
            <a:ext cx="2743200" cy="365125"/>
          </a:xfrm>
        </p:spPr>
        <p:txBody>
          <a:bodyPr/>
          <a:lstStyle/>
          <a:p>
            <a:fld id="{02C092ED-0E97-497E-99D9-BB9DD7276F53}" type="slidenum">
              <a:rPr lang="fr-BE" smtClean="0"/>
              <a:pPr/>
              <a:t>34</a:t>
            </a:fld>
            <a:endParaRPr lang="fr-BE"/>
          </a:p>
        </p:txBody>
      </p:sp>
      <p:sp>
        <p:nvSpPr>
          <p:cNvPr id="11" name="Légende : encadrée 10">
            <a:extLst>
              <a:ext uri="{FF2B5EF4-FFF2-40B4-BE49-F238E27FC236}">
                <a16:creationId xmlns:a16="http://schemas.microsoft.com/office/drawing/2014/main" id="{AEDEEB0B-F729-CD2A-2007-52E0FD00E955}"/>
              </a:ext>
            </a:extLst>
          </p:cNvPr>
          <p:cNvSpPr/>
          <p:nvPr/>
        </p:nvSpPr>
        <p:spPr>
          <a:xfrm>
            <a:off x="58056" y="3958538"/>
            <a:ext cx="1917700" cy="1128712"/>
          </a:xfrm>
          <a:prstGeom prst="borderCallout1">
            <a:avLst>
              <a:gd name="adj1" fmla="val 43466"/>
              <a:gd name="adj2" fmla="val 102684"/>
              <a:gd name="adj3" fmla="val 92393"/>
              <a:gd name="adj4" fmla="val 15353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>
                <a:solidFill>
                  <a:schemeClr val="tx1"/>
                </a:solidFill>
              </a:rPr>
              <a:t>nom du composant (cf HTML)</a:t>
            </a:r>
          </a:p>
        </p:txBody>
      </p:sp>
      <p:sp>
        <p:nvSpPr>
          <p:cNvPr id="12" name="Légende : encadrée 11">
            <a:extLst>
              <a:ext uri="{FF2B5EF4-FFF2-40B4-BE49-F238E27FC236}">
                <a16:creationId xmlns:a16="http://schemas.microsoft.com/office/drawing/2014/main" id="{05EB1E7E-DDA7-4A6F-38E8-2C0935AC2CF8}"/>
              </a:ext>
            </a:extLst>
          </p:cNvPr>
          <p:cNvSpPr/>
          <p:nvPr/>
        </p:nvSpPr>
        <p:spPr>
          <a:xfrm>
            <a:off x="9982200" y="2786294"/>
            <a:ext cx="1917700" cy="1128712"/>
          </a:xfrm>
          <a:prstGeom prst="borderCallout1">
            <a:avLst>
              <a:gd name="adj1" fmla="val 101975"/>
              <a:gd name="adj2" fmla="val 41757"/>
              <a:gd name="adj3" fmla="val 197678"/>
              <a:gd name="adj4" fmla="val 1985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>
                <a:solidFill>
                  <a:schemeClr val="tx1"/>
                </a:solidFill>
              </a:rPr>
              <a:t>nom de l'objet (cf JavaScript)</a:t>
            </a:r>
          </a:p>
        </p:txBody>
      </p:sp>
    </p:spTree>
    <p:extLst>
      <p:ext uri="{BB962C8B-B14F-4D97-AF65-F5344CB8AC3E}">
        <p14:creationId xmlns:p14="http://schemas.microsoft.com/office/powerpoint/2010/main" val="1061881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4C20C-149B-59F5-C97A-4012D6DAB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5E27AB-772A-3BCD-CE32-332844756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15 : Vue.js, statique, multi-composants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1D81057-93DE-30BB-B7AF-8B56530C1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BE"/>
              <a:t>Chaque composant </a:t>
            </a:r>
            <a:r>
              <a:rPr lang="fr-BE">
                <a:solidFill>
                  <a:schemeClr val="accent2"/>
                </a:solidFill>
              </a:rPr>
              <a:t>Vue.js </a:t>
            </a:r>
            <a:r>
              <a:rPr lang="fr-BE"/>
              <a:t>est défini comme un objet JavaScript </a:t>
            </a:r>
            <a:r>
              <a:rPr lang="fr-BE">
                <a:solidFill>
                  <a:schemeClr val="accent2"/>
                </a:solidFill>
              </a:rPr>
              <a:t>dans un fichier propre</a:t>
            </a:r>
            <a:r>
              <a:rPr lang="fr-BE"/>
              <a:t>, avec la syntaxe suivante :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export default {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  </a:t>
            </a:r>
            <a:r>
              <a:rPr lang="fr-BE">
                <a:solidFill>
                  <a:schemeClr val="accent5"/>
                </a:solidFill>
                <a:latin typeface="Consolas" panose="020B0609020204030204" pitchFamily="49" charset="0"/>
              </a:rPr>
              <a:t>name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: 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'FooterComponent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', // Nom composant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  </a:t>
            </a:r>
            <a:r>
              <a:rPr lang="fr-BE">
                <a:solidFill>
                  <a:schemeClr val="accent5"/>
                </a:solidFill>
                <a:latin typeface="Consolas" panose="020B0609020204030204" pitchFamily="49" charset="0"/>
              </a:rPr>
              <a:t>template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: </a:t>
            </a:r>
            <a:r>
              <a:rPr lang="fr-BE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`   </a:t>
            </a:r>
          </a:p>
          <a:p>
            <a:pPr marL="457189" lvl="1" indent="0">
              <a:buNone/>
            </a:pPr>
            <a:r>
              <a:rPr lang="fr-BE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    &lt;footer class="footer"&gt;</a:t>
            </a:r>
          </a:p>
          <a:p>
            <a:pPr marL="457189" lvl="1" indent="0">
              <a:buNone/>
            </a:pPr>
            <a:r>
              <a:rPr lang="fr-BE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      &lt;p&gt;&amp;copy; 2025 - …&lt;/p&gt;</a:t>
            </a:r>
          </a:p>
          <a:p>
            <a:pPr marL="457189" lvl="1" indent="0">
              <a:buNone/>
            </a:pPr>
            <a:r>
              <a:rPr lang="fr-BE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    &lt;/footer&gt;</a:t>
            </a:r>
          </a:p>
          <a:p>
            <a:pPr marL="457189" lvl="1" indent="0">
              <a:buNone/>
            </a:pPr>
            <a:r>
              <a:rPr lang="fr-BE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`,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D4952A5-FAE4-DC31-6ED1-FC7E70163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35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44174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6FB32-8EAC-554A-4776-7DF88A7AF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1CCFCCD5-050E-46CB-54C3-8ECF0CE36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Vue.js "dynamique", en pratique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C9EAEB89-E4E9-5450-C1F4-F14221CBAF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/>
              <a:t>un tour des lieux</a:t>
            </a:r>
          </a:p>
        </p:txBody>
      </p:sp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2F6FD6AF-390D-192B-6627-B0DFBD6B499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0D6460A-A02A-5ADE-D881-D02692837A6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36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799049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A7007B-AC3C-E7B8-3EFB-8A4150884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25 : Vue.js, dynamique, multi-composants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6BDF0B98-F9CD-CDE6-2409-7D92D9FF5C7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92399" y="1690688"/>
            <a:ext cx="4673202" cy="4486275"/>
          </a:xfrm>
          <a:prstGeom prst="rect">
            <a:avLst/>
          </a:prstGeom>
        </p:spPr>
      </p:pic>
      <p:pic>
        <p:nvPicPr>
          <p:cNvPr id="9" name="Espace réservé du contenu 8">
            <a:extLst>
              <a:ext uri="{FF2B5EF4-FFF2-40B4-BE49-F238E27FC236}">
                <a16:creationId xmlns:a16="http://schemas.microsoft.com/office/drawing/2014/main" id="{E8A4F3F0-8502-DC32-3770-2C23E4BA651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26399" y="1690688"/>
            <a:ext cx="4673202" cy="4486275"/>
          </a:xfrm>
          <a:prstGeom prst="rect">
            <a:avLst/>
          </a:prstGeom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A3C0FEC-D7A4-F0D1-3D77-25FC78DDC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37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23511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6D8080-E847-A7EA-73DD-F928EADD6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concepts de base 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3A1B279-71D6-C8D1-6962-D93979328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name</a:t>
            </a:r>
          </a:p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template</a:t>
            </a:r>
          </a:p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data()</a:t>
            </a:r>
          </a:p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props</a:t>
            </a:r>
          </a:p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computed</a:t>
            </a:r>
          </a:p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methods</a:t>
            </a:r>
          </a:p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v-for, v-if</a:t>
            </a:r>
          </a:p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v-bind</a:t>
            </a:r>
          </a:p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v-show</a:t>
            </a:r>
          </a:p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@mouseover, @mouseon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684F85C-A8E9-3E35-DA92-05B896FBC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38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69255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EF339B-0012-969C-046E-B692AC363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HTML : exo25.html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B5B869-72A6-30A4-EF1C-285D38D3860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  <a:t>&lt;body id="app"&gt;</a:t>
            </a:r>
          </a:p>
          <a:p>
            <a:pPr marL="0" indent="0">
              <a:buNone/>
            </a:pPr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  <a:t>  &lt;header-component</a:t>
            </a:r>
          </a:p>
          <a:p>
            <a:pPr marL="0" indent="0">
              <a:buNone/>
            </a:pPr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  <a:t>    </a:t>
            </a:r>
            <a:r>
              <a:rPr lang="fr-BE" sz="2400">
                <a:solidFill>
                  <a:schemeClr val="accent2"/>
                </a:solidFill>
                <a:latin typeface="Consolas" panose="020B0609020204030204" pitchFamily="49" charset="0"/>
              </a:rPr>
              <a:t>title="Mon Site"</a:t>
            </a:r>
          </a:p>
          <a:p>
            <a:pPr marL="0" indent="0">
              <a:buNone/>
            </a:pPr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  <a:t>    </a:t>
            </a:r>
            <a:r>
              <a:rPr lang="fr-BE" sz="2400">
                <a:solidFill>
                  <a:schemeClr val="accent5"/>
                </a:solidFill>
                <a:latin typeface="Consolas" panose="020B0609020204030204" pitchFamily="49" charset="0"/>
              </a:rPr>
              <a:t>:verbose_b="verbose"</a:t>
            </a:r>
          </a:p>
          <a:p>
            <a:pPr marL="0" indent="0">
              <a:buNone/>
            </a:pPr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  <a:t>  &gt;</a:t>
            </a:r>
          </a:p>
          <a:p>
            <a:pPr marL="0" indent="0">
              <a:buNone/>
            </a:pPr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  <a:t>  &lt;/header-component&gt;</a:t>
            </a:r>
          </a:p>
          <a:p>
            <a:pPr marL="0" indent="0">
              <a:buNone/>
            </a:pPr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  <a:t>  &lt;main-component&gt;&lt;/…&gt;</a:t>
            </a:r>
          </a:p>
          <a:p>
            <a:pPr marL="0" indent="0">
              <a:buNone/>
            </a:pPr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  <a:t>  &lt;footer-component&gt;&lt;/…&gt;</a:t>
            </a:r>
          </a:p>
          <a:p>
            <a:pPr marL="0" indent="0">
              <a:buNone/>
            </a:pPr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  <a:t>&lt;/body&gt;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3DE8C1DD-B225-CE9B-7126-E6C0237586F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BE"/>
              <a:t>La page HTML envoie des paramètres aux composants.</a:t>
            </a:r>
          </a:p>
          <a:p>
            <a:r>
              <a:rPr lang="fr-BE"/>
              <a:t>Paramètre de valeur hard-codée</a:t>
            </a:r>
          </a:p>
          <a:p>
            <a:pPr lvl="1"/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title="Mon Site"</a:t>
            </a:r>
          </a:p>
          <a:p>
            <a:pPr lvl="1"/>
            <a:r>
              <a:rPr lang="fr-BE"/>
              <a:t>le composant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header</a:t>
            </a:r>
            <a:r>
              <a:rPr lang="fr-BE"/>
              <a:t> reçoit une propriété 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title</a:t>
            </a:r>
            <a:r>
              <a:rPr lang="fr-BE"/>
              <a:t> de valeur 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"Mon Site"</a:t>
            </a:r>
          </a:p>
          <a:p>
            <a:r>
              <a:rPr lang="fr-BE"/>
              <a:t>Paramètre de valeur calculée </a:t>
            </a:r>
          </a:p>
          <a:p>
            <a:pPr lvl="1"/>
            <a:r>
              <a:rPr lang="fr-BE">
                <a:solidFill>
                  <a:schemeClr val="accent5"/>
                </a:solidFill>
                <a:latin typeface="Consolas" panose="020B0609020204030204" pitchFamily="49" charset="0"/>
              </a:rPr>
              <a:t>:verbose_b="verbose"</a:t>
            </a:r>
          </a:p>
          <a:p>
            <a:pPr lvl="1"/>
            <a:r>
              <a:rPr lang="fr-BE"/>
              <a:t>le composant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header</a:t>
            </a:r>
            <a:r>
              <a:rPr lang="fr-BE"/>
              <a:t> reçoit une propriété </a:t>
            </a:r>
            <a:r>
              <a:rPr lang="fr-BE">
                <a:solidFill>
                  <a:schemeClr val="accent5"/>
                </a:solidFill>
                <a:latin typeface="Consolas" panose="020B0609020204030204" pitchFamily="49" charset="0"/>
              </a:rPr>
              <a:t>verbose_b</a:t>
            </a:r>
            <a:r>
              <a:rPr lang="fr-BE"/>
              <a:t> dont la valeur se trouve dans l'application sous le nom </a:t>
            </a:r>
            <a:r>
              <a:rPr lang="fr-BE">
                <a:solidFill>
                  <a:schemeClr val="accent5"/>
                </a:solidFill>
                <a:latin typeface="Consolas" panose="020B0609020204030204" pitchFamily="49" charset="0"/>
              </a:rPr>
              <a:t>verbose</a:t>
            </a:r>
          </a:p>
          <a:p>
            <a:pPr lvl="1"/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E44C2C7-0B39-D618-62B3-EF65915A0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39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299520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D0BB2C-2C7A-8EC7-2AF6-EDAE72CBD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App : exo25.js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8B42BA-BDB5-EC98-5580-24FF80FFAF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  <a:t>createApp({</a:t>
            </a:r>
          </a:p>
          <a:p>
            <a:pPr marL="0" indent="0">
              <a:buNone/>
            </a:pPr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  <a:t>  components: { … },</a:t>
            </a:r>
          </a:p>
          <a:p>
            <a:pPr marL="0" indent="0">
              <a:buNone/>
            </a:pPr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  <a:t>  </a:t>
            </a:r>
            <a:r>
              <a:rPr lang="fr-BE" sz="2400">
                <a:solidFill>
                  <a:schemeClr val="accent2"/>
                </a:solidFill>
                <a:latin typeface="Consolas" panose="020B0609020204030204" pitchFamily="49" charset="0"/>
              </a:rPr>
              <a:t>data() {</a:t>
            </a:r>
          </a:p>
          <a:p>
            <a:pPr marL="0" indent="0">
              <a:buNone/>
            </a:pPr>
            <a:r>
              <a:rPr lang="fr-BE" sz="2400">
                <a:solidFill>
                  <a:schemeClr val="accent2"/>
                </a:solidFill>
                <a:latin typeface="Consolas" panose="020B0609020204030204" pitchFamily="49" charset="0"/>
              </a:rPr>
              <a:t>    return {</a:t>
            </a:r>
          </a:p>
          <a:p>
            <a:pPr marL="0" indent="0">
              <a:buNone/>
            </a:pPr>
            <a:r>
              <a:rPr lang="fr-BE" sz="2400">
                <a:solidFill>
                  <a:schemeClr val="accent2"/>
                </a:solidFill>
                <a:latin typeface="Consolas" panose="020B0609020204030204" pitchFamily="49" charset="0"/>
              </a:rPr>
              <a:t>      verbose:true, </a:t>
            </a:r>
          </a:p>
          <a:p>
            <a:pPr marL="0" indent="0">
              <a:buNone/>
            </a:pPr>
            <a:r>
              <a:rPr lang="fr-BE" sz="2400">
                <a:solidFill>
                  <a:schemeClr val="accent2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fr-BE" sz="2400">
                <a:solidFill>
                  <a:schemeClr val="accent2"/>
                </a:solidFill>
                <a:latin typeface="Consolas" panose="020B0609020204030204" pitchFamily="49" charset="0"/>
              </a:rPr>
              <a:t>  }</a:t>
            </a:r>
          </a:p>
          <a:p>
            <a:pPr marL="0" indent="0">
              <a:buNone/>
            </a:pPr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  <a:t>}).mount('#app');</a:t>
            </a:r>
          </a:p>
          <a:p>
            <a:pPr marL="0" indent="0">
              <a:buNone/>
            </a:pPr>
            <a:endParaRPr lang="fr-BE" sz="2400">
              <a:solidFill>
                <a:srgbClr val="996633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fr-BE" sz="2400">
              <a:solidFill>
                <a:srgbClr val="996633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604157E-7003-5950-AF8A-4E2FA01CF0F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fr-BE"/>
              <a:t>L'app définit des composants (cf exos précédents).</a:t>
            </a:r>
          </a:p>
          <a:p>
            <a:r>
              <a:rPr lang="fr-BE">
                <a:solidFill>
                  <a:schemeClr val="accent2"/>
                </a:solidFill>
              </a:rPr>
              <a:t>L'app définit des variables que les composants peuvent utiliser</a:t>
            </a:r>
          </a:p>
          <a:p>
            <a:pPr lvl="1"/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verbose : true</a:t>
            </a:r>
          </a:p>
          <a:p>
            <a:r>
              <a:rPr lang="fr-BE"/>
              <a:t>L'app se "monte" sur un élément HTML (cf exos précédents).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FB52CD9-5C1F-2C50-47AD-90CC5A213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40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80195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F0E47D-0272-1C6A-2E41-4F195DE19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Composant : Header.js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4CD7CD-CDCF-8CD7-7C7C-C8432942228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export default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   name: …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   template : ` … `,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>
                <a:latin typeface="Consolas" panose="020B0609020204030204" pitchFamily="49" charset="0"/>
              </a:rPr>
              <a:t>    </a:t>
            </a: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props :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        title       :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            type        : String,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            required    : true 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        },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        verbose_b   :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            type        : Boolean,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            required    : false,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            default     : false,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        },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    },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17A4E66-0D44-C46F-6A36-9B8A641520C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fr-BE"/>
              <a:t>Fonctionnalités</a:t>
            </a:r>
          </a:p>
          <a:p>
            <a:pPr lvl="1"/>
            <a:r>
              <a:rPr lang="fr-BE"/>
              <a:t>définir un composant par son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name</a:t>
            </a:r>
            <a:r>
              <a:rPr lang="fr-BE"/>
              <a:t> et son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template</a:t>
            </a:r>
          </a:p>
          <a:p>
            <a:pPr lvl="2"/>
            <a:r>
              <a:rPr lang="fr-BE"/>
              <a:t>cf exos précédents</a:t>
            </a:r>
          </a:p>
          <a:p>
            <a:pPr lvl="1"/>
            <a:r>
              <a:rPr lang="fr-BE"/>
              <a:t>déclarer les variables fournies par le parent </a:t>
            </a:r>
          </a:p>
          <a:p>
            <a:pPr lvl="2"/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props</a:t>
            </a:r>
          </a:p>
          <a:p>
            <a:pPr lvl="3"/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fr-BE"/>
              <a:t> : Boolean, String, etc.</a:t>
            </a:r>
          </a:p>
          <a:p>
            <a:pPr lvl="3"/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required</a:t>
            </a:r>
            <a:r>
              <a:rPr lang="fr-BE"/>
              <a:t> : true, false </a:t>
            </a:r>
          </a:p>
          <a:p>
            <a:pPr lvl="3"/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default</a:t>
            </a:r>
            <a:r>
              <a:rPr lang="fr-BE"/>
              <a:t> : default value</a:t>
            </a:r>
          </a:p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E884950-C90E-A8DF-DE30-826700C9A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41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40989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B98797-C55A-9245-C033-29766681C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Composant : Header.js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A9C35B-5EBA-AEF6-27A5-54F84B8F85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template : `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 &lt;header class="header"&gt;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   &lt;h1 </a:t>
            </a: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v-bind:class="theme"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     </a:t>
            </a:r>
            <a:r>
              <a:rPr lang="fr-BE" sz="2000">
                <a:solidFill>
                  <a:schemeClr val="accent5"/>
                </a:solidFill>
                <a:latin typeface="Consolas" panose="020B0609020204030204" pitchFamily="49" charset="0"/>
              </a:rPr>
              <a:t>{{ title }}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   &lt;/h1&gt;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   &lt;h2 </a:t>
            </a:r>
            <a:r>
              <a:rPr lang="fr-BE" sz="2000">
                <a:solidFill>
                  <a:schemeClr val="accent1"/>
                </a:solidFill>
                <a:latin typeface="Consolas" panose="020B0609020204030204" pitchFamily="49" charset="0"/>
              </a:rPr>
              <a:t>v-if="this.verbose_b"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      </a:t>
            </a:r>
            <a:r>
              <a:rPr lang="fr-BE" sz="2000">
                <a:solidFill>
                  <a:schemeClr val="accent5"/>
                </a:solidFill>
                <a:latin typeface="Consolas" panose="020B0609020204030204" pitchFamily="49" charset="0"/>
              </a:rPr>
              <a:t>{{ title }}{{ title }}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   &lt;/h2&gt;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   &lt;h2 </a:t>
            </a:r>
            <a:r>
              <a:rPr lang="fr-BE" sz="2000">
                <a:solidFill>
                  <a:schemeClr val="accent1"/>
                </a:solidFill>
                <a:latin typeface="Consolas" panose="020B0609020204030204" pitchFamily="49" charset="0"/>
              </a:rPr>
              <a:t>v-else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&gt;</a:t>
            </a:r>
            <a:r>
              <a:rPr lang="fr-BE" sz="2000">
                <a:solidFill>
                  <a:schemeClr val="accent5"/>
                </a:solidFill>
                <a:latin typeface="Consolas" panose="020B0609020204030204" pitchFamily="49" charset="0"/>
              </a:rPr>
              <a:t>{{ title }}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&lt;/h2&gt;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   &lt;nav&gt;…&lt;/nav&gt;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 &lt;/header&gt;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`,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04BC815-946B-EB16-CBA0-7EDD2FEE2D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90689"/>
            <a:ext cx="5181600" cy="5033962"/>
          </a:xfrm>
        </p:spPr>
        <p:txBody>
          <a:bodyPr>
            <a:normAutofit fontScale="92500" lnSpcReduction="10000"/>
          </a:bodyPr>
          <a:lstStyle/>
          <a:p>
            <a:r>
              <a:rPr lang="fr-BE"/>
              <a:t>Fonctionnalités</a:t>
            </a:r>
          </a:p>
          <a:p>
            <a:pPr lvl="1"/>
            <a:r>
              <a:rPr lang="fr-BE"/>
              <a:t>utiliser une variable fournie par le parent</a:t>
            </a:r>
          </a:p>
          <a:p>
            <a:pPr lvl="2"/>
            <a:r>
              <a:rPr lang="fr-BE"/>
              <a:t>déclarée dans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props</a:t>
            </a:r>
          </a:p>
          <a:p>
            <a:pPr lvl="2"/>
            <a:r>
              <a:rPr lang="fr-BE">
                <a:solidFill>
                  <a:schemeClr val="accent5"/>
                </a:solidFill>
                <a:latin typeface="Consolas" panose="020B0609020204030204" pitchFamily="49" charset="0"/>
              </a:rPr>
              <a:t>{{ title }} </a:t>
            </a:r>
          </a:p>
          <a:p>
            <a:pPr lvl="3"/>
            <a:r>
              <a:rPr lang="fr-BE"/>
              <a:t>var </a:t>
            </a:r>
            <a:r>
              <a:rPr lang="fr-BE">
                <a:solidFill>
                  <a:schemeClr val="accent5"/>
                </a:solidFill>
                <a:latin typeface="Consolas" panose="020B0609020204030204" pitchFamily="49" charset="0"/>
              </a:rPr>
              <a:t>title</a:t>
            </a:r>
            <a:r>
              <a:rPr lang="fr-BE"/>
              <a:t> de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props</a:t>
            </a:r>
            <a:endParaRPr lang="fr-BE">
              <a:solidFill>
                <a:schemeClr val="accent5"/>
              </a:solidFill>
              <a:latin typeface="Consolas" panose="020B0609020204030204" pitchFamily="49" charset="0"/>
            </a:endParaRPr>
          </a:p>
          <a:p>
            <a:pPr lvl="2"/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v-bind:class="theme"</a:t>
            </a:r>
          </a:p>
          <a:p>
            <a:pPr lvl="3"/>
            <a:r>
              <a:rPr lang="fr-BE"/>
              <a:t>var 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theme</a:t>
            </a:r>
            <a:r>
              <a:rPr lang="fr-BE"/>
              <a:t> de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props</a:t>
            </a:r>
          </a:p>
          <a:p>
            <a:pPr lvl="1"/>
            <a:r>
              <a:rPr lang="fr-BE"/>
              <a:t>structure de contrôle</a:t>
            </a:r>
          </a:p>
          <a:p>
            <a:pPr lvl="2"/>
            <a:r>
              <a:rPr lang="fr-BE">
                <a:solidFill>
                  <a:schemeClr val="accent1"/>
                </a:solidFill>
                <a:latin typeface="Consolas" panose="020B0609020204030204" pitchFamily="49" charset="0"/>
              </a:rPr>
              <a:t>v-if="this.verbose_b"</a:t>
            </a:r>
          </a:p>
          <a:p>
            <a:pPr lvl="3"/>
            <a:r>
              <a:rPr lang="fr-BE"/>
              <a:t>var </a:t>
            </a:r>
            <a:r>
              <a:rPr lang="fr-BE">
                <a:solidFill>
                  <a:schemeClr val="accent1"/>
                </a:solidFill>
                <a:latin typeface="Consolas" panose="020B0609020204030204" pitchFamily="49" charset="0"/>
              </a:rPr>
              <a:t>verbose_b</a:t>
            </a:r>
            <a:r>
              <a:rPr lang="fr-BE"/>
              <a:t> de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props</a:t>
            </a:r>
          </a:p>
          <a:p>
            <a:pPr lvl="2"/>
            <a:r>
              <a:rPr lang="fr-BE">
                <a:solidFill>
                  <a:schemeClr val="accent1"/>
                </a:solidFill>
                <a:latin typeface="Consolas" panose="020B0609020204030204" pitchFamily="49" charset="0"/>
              </a:rPr>
              <a:t>v-else</a:t>
            </a:r>
            <a:endParaRPr lang="fr-BE"/>
          </a:p>
          <a:p>
            <a:pPr marL="457189" lvl="1" indent="0">
              <a:buNone/>
            </a:pPr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EC326B8-5132-1E82-3633-207BE760B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42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42083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14C9A9-B11A-8332-17D0-099F40B3C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Composant : Main.js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502BD8-7EED-2FE8-EFE7-465332E7D9F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data()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 return  </a:t>
            </a: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    title    : "Bienvenue !",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    contents : [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    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        id      : 1001,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        title   : "Article 1",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        body    : "Un article",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        more    : "bla bla",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      },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      { … },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    ],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},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C91AC23-98FE-4713-9A64-A589739115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90689"/>
            <a:ext cx="6019800" cy="4486276"/>
          </a:xfrm>
        </p:spPr>
        <p:txBody>
          <a:bodyPr>
            <a:noAutofit/>
          </a:bodyPr>
          <a:lstStyle/>
          <a:p>
            <a:r>
              <a:rPr lang="fr-BE"/>
              <a:t>Fonctionnalités</a:t>
            </a:r>
          </a:p>
          <a:p>
            <a:pPr lvl="1"/>
            <a:r>
              <a:rPr lang="fr-BE"/>
              <a:t>déclarer les variables définies en interne</a:t>
            </a:r>
          </a:p>
          <a:p>
            <a:pPr lvl="2"/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data() {</a:t>
            </a:r>
            <a:b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return  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&lt;JSON str.&gt;</a:t>
            </a:r>
            <a:b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},</a:t>
            </a:r>
          </a:p>
          <a:p>
            <a:pPr lvl="2"/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&lt;JSON structure&gt;</a:t>
            </a:r>
            <a:r>
              <a:rPr lang="fr-BE"/>
              <a:t> peut contenir tous les types de variable : simple, complexe, liste, dictionnaire, integer, string, boolean, etc.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2EB3641-9CEC-650D-C69D-BD782070F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43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5947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D0EEA6-0083-E7A2-A38E-038500F19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Composant : Main.js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F284C5-B231-5829-F069-8318DEBDBED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template : `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 &lt;main class="main"&gt;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 &lt;h2&gt;{{ title }}&lt;/h2&gt;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 &lt;section </a:t>
            </a: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v-for="c in contents"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   &lt;h3&gt;{{ </a:t>
            </a: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c.title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}}&lt;/h3&gt;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   &lt;p </a:t>
            </a:r>
            <a:r>
              <a:rPr lang="fr-BE" sz="2000">
                <a:solidFill>
                  <a:schemeClr val="accent1"/>
                </a:solidFill>
                <a:latin typeface="Consolas" panose="020B0609020204030204" pitchFamily="49" charset="0"/>
              </a:rPr>
              <a:t>v-show="this.verbose_b"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     {{ </a:t>
            </a: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c.more 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}}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   &lt;/p&gt;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 &lt;/section&gt;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 &lt;/main&gt;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`,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EBA7367-159D-6EA2-B7D7-AF33755A76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90689"/>
            <a:ext cx="6019800" cy="4486276"/>
          </a:xfrm>
        </p:spPr>
        <p:txBody>
          <a:bodyPr>
            <a:normAutofit/>
          </a:bodyPr>
          <a:lstStyle/>
          <a:p>
            <a:r>
              <a:rPr lang="fr-BE"/>
              <a:t>Fonctionnalités :</a:t>
            </a:r>
          </a:p>
          <a:p>
            <a:pPr lvl="1"/>
            <a:r>
              <a:rPr lang="fr-BE"/>
              <a:t>structure de contrôle</a:t>
            </a:r>
          </a:p>
          <a:p>
            <a:pPr lvl="2"/>
            <a:r>
              <a:rPr lang="fr-BE" sz="2400">
                <a:solidFill>
                  <a:schemeClr val="accent2"/>
                </a:solidFill>
                <a:latin typeface="Consolas" panose="020B0609020204030204" pitchFamily="49" charset="0"/>
              </a:rPr>
              <a:t>v-for="c in contents"</a:t>
            </a:r>
            <a:endParaRPr lang="fr-BE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lvl="3"/>
            <a:r>
              <a:rPr lang="fr-BE"/>
              <a:t>var 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contents</a:t>
            </a:r>
            <a:r>
              <a:rPr lang="fr-BE"/>
              <a:t> de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data()</a:t>
            </a:r>
          </a:p>
          <a:p>
            <a:pPr lvl="3"/>
            <a:r>
              <a:rPr lang="fr-BE"/>
              <a:t>var 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c</a:t>
            </a:r>
            <a:r>
              <a:rPr lang="fr-BE"/>
              <a:t> pour l'itération</a:t>
            </a:r>
            <a:endParaRPr lang="fr-BE">
              <a:solidFill>
                <a:srgbClr val="996633"/>
              </a:solidFill>
              <a:latin typeface="Consolas" panose="020B0609020204030204" pitchFamily="49" charset="0"/>
            </a:endParaRPr>
          </a:p>
          <a:p>
            <a:pPr lvl="1"/>
            <a:r>
              <a:rPr lang="fr-BE"/>
              <a:t>montrer / cacher</a:t>
            </a:r>
          </a:p>
          <a:p>
            <a:pPr lvl="2"/>
            <a:r>
              <a:rPr lang="fr-BE" sz="2400">
                <a:solidFill>
                  <a:schemeClr val="accent1"/>
                </a:solidFill>
                <a:latin typeface="Consolas" panose="020B0609020204030204" pitchFamily="49" charset="0"/>
              </a:rPr>
              <a:t>v-show="this.verbose_b"</a:t>
            </a:r>
          </a:p>
          <a:p>
            <a:pPr lvl="3"/>
            <a:r>
              <a:rPr lang="fr-BE"/>
              <a:t>var </a:t>
            </a:r>
            <a:r>
              <a:rPr lang="fr-BE">
                <a:solidFill>
                  <a:schemeClr val="accent1"/>
                </a:solidFill>
                <a:latin typeface="Consolas" panose="020B0609020204030204" pitchFamily="49" charset="0"/>
              </a:rPr>
              <a:t>verbose_b</a:t>
            </a:r>
            <a:r>
              <a:rPr lang="fr-BE"/>
              <a:t> de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props</a:t>
            </a:r>
          </a:p>
          <a:p>
            <a:pPr marL="914377" lvl="2" indent="0">
              <a:buNone/>
            </a:pPr>
            <a:endParaRPr lang="fr-BE"/>
          </a:p>
          <a:p>
            <a:pPr marL="0" indent="0">
              <a:buNone/>
            </a:pPr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4255A49-6DB3-1998-05D2-C72030A60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44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43384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F9588-F4DE-F00C-BAEC-8411E5F6D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D75E3B-A9CD-B108-7883-AFF83EDB1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Composant : Main.js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627905-92D9-4F25-AD95-0269C0FE41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9276" y="1690689"/>
            <a:ext cx="6267829" cy="448627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template : `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 &lt;div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   </a:t>
            </a: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@mouseover = "HoveredId = content.id;"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    @mouseout  = "HoveredId = -1"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    :class = " HoveredId == content.id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               ? 'card_mouseover'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               : 'card_mouseout' "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 &lt;/div&gt;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`,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fr-BE" sz="2000">
              <a:solidFill>
                <a:srgbClr val="996633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data() {</a:t>
            </a:r>
            <a:b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 return  {</a:t>
            </a:r>
            <a:b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   </a:t>
            </a: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HoveredId: -1, </a:t>
            </a:r>
            <a:b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 }</a:t>
            </a:r>
            <a:b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},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E5CFF37-B956-8988-35AB-96CF841719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37106" y="1690689"/>
            <a:ext cx="4716694" cy="4486276"/>
          </a:xfrm>
        </p:spPr>
        <p:txBody>
          <a:bodyPr>
            <a:normAutofit/>
          </a:bodyPr>
          <a:lstStyle/>
          <a:p>
            <a:r>
              <a:rPr lang="fr-BE"/>
              <a:t>Fonctionnalités :</a:t>
            </a:r>
          </a:p>
          <a:p>
            <a:pPr lvl="1"/>
            <a:r>
              <a:rPr lang="fr-BE"/>
              <a:t>gestion des évènements </a:t>
            </a:r>
          </a:p>
          <a:p>
            <a:pPr lvl="2"/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@mouseover</a:t>
            </a:r>
          </a:p>
          <a:p>
            <a:pPr lvl="2"/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@mouseout</a:t>
            </a:r>
          </a:p>
          <a:p>
            <a:pPr lvl="2"/>
            <a:r>
              <a:rPr lang="fr-BE"/>
              <a:t>implantation d'une logique</a:t>
            </a:r>
          </a:p>
          <a:p>
            <a:pPr lvl="3"/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HoveredId</a:t>
            </a:r>
            <a:endParaRPr lang="fr-BE"/>
          </a:p>
          <a:p>
            <a:pPr lvl="2"/>
            <a:r>
              <a:rPr lang="fr-BE"/>
              <a:t>impact éventuel sur d'autres éléments </a:t>
            </a:r>
          </a:p>
          <a:p>
            <a:pPr lvl="3"/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class</a:t>
            </a:r>
          </a:p>
          <a:p>
            <a:pPr marL="914377" lvl="2" indent="0">
              <a:buNone/>
            </a:pPr>
            <a:endParaRPr lang="fr-BE"/>
          </a:p>
          <a:p>
            <a:pPr marL="0" indent="0">
              <a:buNone/>
            </a:pPr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BBB9552-2D20-CBA9-EBC6-58CB55E94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45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188950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1E15E1-E531-5FAA-486E-D084D0898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Composant : Main.js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F03BA0D-FB46-8E21-C932-A2021EEA88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7877" y="1690689"/>
            <a:ext cx="6039229" cy="4486276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template : `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 &lt;h3&gt;</a:t>
            </a: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{{ contents.length }}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art.&lt;/h3&gt;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 &lt;p&gt; </a:t>
            </a:r>
            <a:r>
              <a:rPr lang="fr-BE" sz="2000">
                <a:solidFill>
                  <a:schemeClr val="accent5"/>
                </a:solidFill>
                <a:latin typeface="Consolas" panose="020B0609020204030204" pitchFamily="49" charset="0"/>
              </a:rPr>
              <a:t>{{ nombreArticles }} 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art.&lt;/p&gt;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 &lt;button </a:t>
            </a:r>
            <a:r>
              <a:rPr lang="fr-BE" sz="2000">
                <a:solidFill>
                  <a:schemeClr val="accent1"/>
                </a:solidFill>
                <a:latin typeface="Consolas" panose="020B0609020204030204" pitchFamily="49" charset="0"/>
              </a:rPr>
              <a:t>@click="popup"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&gt;click&lt;/button&gt;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`,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chemeClr val="accent5"/>
                </a:solidFill>
                <a:latin typeface="Consolas" panose="020B0609020204030204" pitchFamily="49" charset="0"/>
              </a:rPr>
              <a:t>computed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: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 </a:t>
            </a:r>
            <a:r>
              <a:rPr lang="fr-BE" sz="2000">
                <a:solidFill>
                  <a:schemeClr val="accent5"/>
                </a:solidFill>
                <a:latin typeface="Consolas" panose="020B0609020204030204" pitchFamily="49" charset="0"/>
              </a:rPr>
              <a:t>nombreArticles()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chemeClr val="accent5"/>
                </a:solidFill>
                <a:latin typeface="Consolas" panose="020B0609020204030204" pitchFamily="49" charset="0"/>
              </a:rPr>
              <a:t>    return this.contents.length;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chemeClr val="accent5"/>
                </a:solidFill>
                <a:latin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},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chemeClr val="accent1"/>
                </a:solidFill>
                <a:latin typeface="Consolas" panose="020B0609020204030204" pitchFamily="49" charset="0"/>
              </a:rPr>
              <a:t>methods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: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 </a:t>
            </a:r>
            <a:r>
              <a:rPr lang="fr-BE" sz="2000">
                <a:solidFill>
                  <a:schemeClr val="accent1"/>
                </a:solidFill>
                <a:latin typeface="Consolas" panose="020B0609020204030204" pitchFamily="49" charset="0"/>
              </a:rPr>
              <a:t>popup()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chemeClr val="accent1"/>
                </a:solidFill>
                <a:latin typeface="Consolas" panose="020B0609020204030204" pitchFamily="49" charset="0"/>
              </a:rPr>
              <a:t>    alert("You are a clown !")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2000">
                <a:solidFill>
                  <a:schemeClr val="accent1"/>
                </a:solidFill>
                <a:latin typeface="Consolas" panose="020B0609020204030204" pitchFamily="49" charset="0"/>
              </a:rPr>
              <a:t>  } 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},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2C5649C-E132-E872-A465-472FCCF8FB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54912" y="1690688"/>
            <a:ext cx="5490550" cy="5167311"/>
          </a:xfrm>
        </p:spPr>
        <p:txBody>
          <a:bodyPr>
            <a:normAutofit fontScale="92500" lnSpcReduction="10000"/>
          </a:bodyPr>
          <a:lstStyle/>
          <a:p>
            <a:r>
              <a:rPr lang="fr-BE" sz="3200"/>
              <a:t>Fonctionnalités</a:t>
            </a:r>
          </a:p>
          <a:p>
            <a:pPr lvl="1"/>
            <a:r>
              <a:rPr lang="fr-BE" sz="2800"/>
              <a:t>utiliser les attributs des variables dans le template</a:t>
            </a:r>
          </a:p>
          <a:p>
            <a:pPr lvl="2"/>
            <a:r>
              <a:rPr lang="fr-BE" sz="2600">
                <a:solidFill>
                  <a:schemeClr val="accent2"/>
                </a:solidFill>
                <a:latin typeface="Consolas" panose="020B0609020204030204" pitchFamily="49" charset="0"/>
              </a:rPr>
              <a:t>contents.length</a:t>
            </a:r>
            <a:endParaRPr lang="fr-BE" sz="2600"/>
          </a:p>
          <a:p>
            <a:pPr lvl="1"/>
            <a:r>
              <a:rPr lang="fr-BE" sz="2800"/>
              <a:t>propriété calculée</a:t>
            </a:r>
          </a:p>
          <a:p>
            <a:pPr lvl="2"/>
            <a:r>
              <a:rPr lang="fr-BE" sz="2600"/>
              <a:t>valeur actualisée en temps réel</a:t>
            </a:r>
          </a:p>
          <a:p>
            <a:pPr lvl="2"/>
            <a:r>
              <a:rPr lang="fr-BE" sz="2600">
                <a:solidFill>
                  <a:schemeClr val="accent5"/>
                </a:solidFill>
                <a:latin typeface="Consolas" panose="020B0609020204030204" pitchFamily="49" charset="0"/>
              </a:rPr>
              <a:t>computed</a:t>
            </a:r>
          </a:p>
          <a:p>
            <a:pPr lvl="3"/>
            <a:r>
              <a:rPr lang="fr-BE" sz="2600">
                <a:solidFill>
                  <a:schemeClr val="accent5"/>
                </a:solidFill>
                <a:latin typeface="Consolas" panose="020B0609020204030204" pitchFamily="49" charset="0"/>
              </a:rPr>
              <a:t>nombreArticles</a:t>
            </a:r>
          </a:p>
          <a:p>
            <a:pPr lvl="3"/>
            <a:r>
              <a:rPr lang="fr-BE" sz="2600">
                <a:solidFill>
                  <a:schemeClr val="accent5"/>
                </a:solidFill>
                <a:latin typeface="Consolas" panose="020B0609020204030204" pitchFamily="49" charset="0"/>
              </a:rPr>
              <a:t>return</a:t>
            </a:r>
          </a:p>
          <a:p>
            <a:pPr lvl="1"/>
            <a:r>
              <a:rPr lang="fr-BE" sz="2800"/>
              <a:t>méthode </a:t>
            </a:r>
          </a:p>
          <a:p>
            <a:pPr lvl="2"/>
            <a:r>
              <a:rPr lang="fr-BE" sz="2600"/>
              <a:t>notamment, le code appelé lors d'un évènement (click, …).</a:t>
            </a:r>
          </a:p>
          <a:p>
            <a:pPr lvl="2"/>
            <a:r>
              <a:rPr lang="fr-BE" sz="2600">
                <a:solidFill>
                  <a:schemeClr val="accent1"/>
                </a:solidFill>
                <a:latin typeface="Consolas" panose="020B0609020204030204" pitchFamily="49" charset="0"/>
              </a:rPr>
              <a:t>methods</a:t>
            </a:r>
          </a:p>
          <a:p>
            <a:pPr lvl="3"/>
            <a:r>
              <a:rPr lang="fr-BE" sz="2600">
                <a:solidFill>
                  <a:schemeClr val="accent1"/>
                </a:solidFill>
                <a:latin typeface="Consolas" panose="020B0609020204030204" pitchFamily="49" charset="0"/>
              </a:rPr>
              <a:t>popup()</a:t>
            </a:r>
            <a:endParaRPr lang="fr-BE" sz="2600"/>
          </a:p>
        </p:txBody>
      </p:sp>
    </p:spTree>
    <p:extLst>
      <p:ext uri="{BB962C8B-B14F-4D97-AF65-F5344CB8AC3E}">
        <p14:creationId xmlns:p14="http://schemas.microsoft.com/office/powerpoint/2010/main" val="1432958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F300668A-BDE1-16B9-E838-35278505E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26 : drill 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07D18D1F-D7CF-2A23-5704-2C1029A2F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750062" cy="4486276"/>
          </a:xfrm>
        </p:spPr>
        <p:txBody>
          <a:bodyPr>
            <a:normAutofit/>
          </a:bodyPr>
          <a:lstStyle/>
          <a:p>
            <a:r>
              <a:rPr lang="fr-BE"/>
              <a:t>Reprendre l'exo 25. </a:t>
            </a:r>
          </a:p>
          <a:p>
            <a:r>
              <a:rPr lang="fr-BE"/>
              <a:t>Implantez les fonctionnalités suivantes dans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Footer.js</a:t>
            </a:r>
            <a:endParaRPr lang="fr-BE"/>
          </a:p>
          <a:p>
            <a:pPr lvl="1"/>
            <a:r>
              <a:rPr lang="fr-BE"/>
              <a:t>Quand on clique sur le bouton "cliquez-moi" d'un article, ses méta-données apparaissent. </a:t>
            </a:r>
          </a:p>
          <a:p>
            <a:pPr lvl="1"/>
            <a:r>
              <a:rPr lang="fr-BE"/>
              <a:t>Choix de la couleur du texte : bleu ou noir</a:t>
            </a:r>
          </a:p>
          <a:p>
            <a:pPr lvl="2"/>
            <a:r>
              <a:rPr lang="fr-BE"/>
              <a:t>en passant l'objet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event</a:t>
            </a:r>
            <a:r>
              <a:rPr lang="fr-BE"/>
              <a:t> à la fonction JS</a:t>
            </a:r>
          </a:p>
          <a:p>
            <a:pPr lvl="2"/>
            <a:r>
              <a:rPr lang="fr-BE"/>
              <a:t>alternative : en utilisant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v-model</a:t>
            </a:r>
          </a:p>
          <a:p>
            <a:r>
              <a:rPr lang="fr-BE"/>
              <a:t>Seul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Footer.js</a:t>
            </a:r>
            <a:r>
              <a:rPr lang="fr-BE"/>
              <a:t> est modifié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8ABD126-DF11-5A4A-B518-0358C66E5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47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61167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70AD2F-8717-DF3E-3A9A-C0F07B08C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concepts avancés (non vus au cours)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7206C69-C1F3-352C-AF63-F4E4D5F56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provide()</a:t>
            </a:r>
          </a:p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watch</a:t>
            </a:r>
          </a:p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emits</a:t>
            </a:r>
          </a:p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setup()</a:t>
            </a:r>
          </a:p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inject</a:t>
            </a:r>
          </a:p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v-model</a:t>
            </a:r>
          </a:p>
          <a:p>
            <a:endParaRPr lang="fr-BE">
              <a:solidFill>
                <a:srgbClr val="996633"/>
              </a:solidFill>
              <a:latin typeface="Consolas" panose="020B0609020204030204" pitchFamily="49" charset="0"/>
            </a:endParaRPr>
          </a:p>
          <a:p>
            <a:endParaRPr lang="fr-BE">
              <a:solidFill>
                <a:srgbClr val="996633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85285C5-2FFE-CBF9-8F14-08663845C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48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9182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urotix">
  <a:themeElements>
    <a:clrScheme name="Custom 4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0DD3D1"/>
      </a:accent1>
      <a:accent2>
        <a:srgbClr val="1963A1"/>
      </a:accent2>
      <a:accent3>
        <a:srgbClr val="E5CBAD"/>
      </a:accent3>
      <a:accent4>
        <a:srgbClr val="5DF5F3"/>
      </a:accent4>
      <a:accent5>
        <a:srgbClr val="56A4E4"/>
      </a:accent5>
      <a:accent6>
        <a:srgbClr val="EFDFCD"/>
      </a:accent6>
      <a:hlink>
        <a:srgbClr val="000000"/>
      </a:hlink>
      <a:folHlink>
        <a:srgbClr val="3F3F3F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yllabus.potm" id="{CDB9B9BA-23B2-4C87-B30D-868C9BE9CFAE}" vid="{E29728F1-6A23-4AA8-986D-16DADA01B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10742</TotalTime>
  <Words>2930</Words>
  <Application>Microsoft Office PowerPoint</Application>
  <PresentationFormat>Grand écran</PresentationFormat>
  <Paragraphs>572</Paragraphs>
  <Slides>48</Slides>
  <Notes>7</Notes>
  <HiddenSlides>0</HiddenSlides>
  <MMClips>0</MMClips>
  <ScaleCrop>false</ScaleCrop>
  <HeadingPairs>
    <vt:vector size="8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48</vt:i4>
      </vt:variant>
      <vt:variant>
        <vt:lpstr>Diaporamas personnalisés</vt:lpstr>
      </vt:variant>
      <vt:variant>
        <vt:i4>1</vt:i4>
      </vt:variant>
    </vt:vector>
  </HeadingPairs>
  <TitlesOfParts>
    <vt:vector size="59" baseType="lpstr">
      <vt:lpstr>Arial</vt:lpstr>
      <vt:lpstr>Calibri</vt:lpstr>
      <vt:lpstr>Consolas</vt:lpstr>
      <vt:lpstr>Garamond</vt:lpstr>
      <vt:lpstr>Pathway Extreme</vt:lpstr>
      <vt:lpstr>Poppins</vt:lpstr>
      <vt:lpstr>Segoe UI</vt:lpstr>
      <vt:lpstr>Söhne</vt:lpstr>
      <vt:lpstr>Wingdings</vt:lpstr>
      <vt:lpstr>burotix</vt:lpstr>
      <vt:lpstr>Bachelier en Informatique de Gestion  Web : principes de base Projet de Développement Web</vt:lpstr>
      <vt:lpstr>Table des matières</vt:lpstr>
      <vt:lpstr>19. Component-Based Design</vt:lpstr>
      <vt:lpstr>Etat de l'Art</vt:lpstr>
      <vt:lpstr>Qu’est-ce qu’un composant ?</vt:lpstr>
      <vt:lpstr>Exemples </vt:lpstr>
      <vt:lpstr>Exemples</vt:lpstr>
      <vt:lpstr>Les composants, l'avenir du "front-end" ?</vt:lpstr>
      <vt:lpstr>Les composants, l'avenir du "front-end" ?</vt:lpstr>
      <vt:lpstr>Les composants, l'avenir du "front-end" ?</vt:lpstr>
      <vt:lpstr>React</vt:lpstr>
      <vt:lpstr>Angular: Introduction</vt:lpstr>
      <vt:lpstr>Vue: Introduction</vt:lpstr>
      <vt:lpstr>Comparaison</vt:lpstr>
      <vt:lpstr>Détail: Productivité &amp; maintenabilité</vt:lpstr>
      <vt:lpstr>Vue.js, la philosophie</vt:lpstr>
      <vt:lpstr>Philosophie</vt:lpstr>
      <vt:lpstr>Structuration</vt:lpstr>
      <vt:lpstr>Cas d’usage concrets</vt:lpstr>
      <vt:lpstr>Vue.js : interprêté ou compilé ? </vt:lpstr>
      <vt:lpstr>Vue.js : interprêté ou compilé ? </vt:lpstr>
      <vt:lpstr>Vue.js "statique", en pratique</vt:lpstr>
      <vt:lpstr>exo 11 : version HTML pure </vt:lpstr>
      <vt:lpstr>exo 13 : version Vue.js statique</vt:lpstr>
      <vt:lpstr>exo 13 : version Vue.js statique</vt:lpstr>
      <vt:lpstr>exo 13 : version Vue.js statique</vt:lpstr>
      <vt:lpstr>exo 13 : version Vue.js statique</vt:lpstr>
      <vt:lpstr>exo 13 : version Vue.js statique</vt:lpstr>
      <vt:lpstr>exo 13 : version Vue.js statique</vt:lpstr>
      <vt:lpstr>exo 15 : Vue.js, statique, multi-composants</vt:lpstr>
      <vt:lpstr>exo 15 : Vue.js, statique, multi-composants</vt:lpstr>
      <vt:lpstr>exo 15 : Vue.js, statique, multi-composants</vt:lpstr>
      <vt:lpstr>exo 15 : Vue.js, statique, multi-composants</vt:lpstr>
      <vt:lpstr>exo 15 : Vue.js, statique, multi-composants</vt:lpstr>
      <vt:lpstr>exo 15 : Vue.js, statique, multi-composants</vt:lpstr>
      <vt:lpstr>Vue.js "dynamique", en pratique</vt:lpstr>
      <vt:lpstr>exo 25 : Vue.js, dynamique, multi-composants</vt:lpstr>
      <vt:lpstr>concepts de base </vt:lpstr>
      <vt:lpstr>HTML : exo25.html</vt:lpstr>
      <vt:lpstr>App : exo25.js</vt:lpstr>
      <vt:lpstr>Composant : Header.js</vt:lpstr>
      <vt:lpstr>Composant : Header.js</vt:lpstr>
      <vt:lpstr>Composant : Main.js</vt:lpstr>
      <vt:lpstr>Composant : Main.js</vt:lpstr>
      <vt:lpstr>Composant : Main.js</vt:lpstr>
      <vt:lpstr>Composant : Main.js</vt:lpstr>
      <vt:lpstr>Exo 26 : drill </vt:lpstr>
      <vt:lpstr>concepts avancés (non vus au cours)</vt:lpstr>
      <vt:lpstr>cefora powerpoint base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19. Component-Based Design</dc:title>
  <dc:creator>Alain Wafflard</dc:creator>
  <cp:lastModifiedBy>Alain Wafflard</cp:lastModifiedBy>
  <cp:revision>45</cp:revision>
  <dcterms:created xsi:type="dcterms:W3CDTF">2025-08-26T14:19:34Z</dcterms:created>
  <dcterms:modified xsi:type="dcterms:W3CDTF">2026-09-07T12:01:32Z</dcterms:modified>
</cp:coreProperties>
</file>